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session covers the unusual login pattern the cleanroom server requires: you can't reach it directly. You first SSH into a CADE lab machine, then SSH from there into the server. Once you're on the server, the website and the data downloader each live inside a tmux session that you must never accidentally exit. We'll go through the user procedure, the admin's onboarding job, and what to do if a session gets killed. No prior SSH experience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why. The server is intentionally not on the public internet. CADE — the College of Engineering's lab computer pool — sits on a network that can talk to it, so we use a CADE machine as a middle hop. Industry calls this a jump host. Once you understand that framing, the rest of the procedure follows naturally.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Reassure the audience that they don't have to memorize a particular machine. CADE is a pool of 75 interchangeable Linux boxes. They share your home directory over NFS, which means once you put your SSH config on any one of them, it's there on all of them. If lab1-10 is slow, hop into lab1-11. The number doesn't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one-time prerequisites. CADE accounts are self-service via the usertools portal. Your CADE key is a small file that proves you're you; you generate it on your laptop and upload the public half to CADE. The nfhistory key — the second key, for the second hop — is generated and delivered to you by the cleanroom admin. The most important point: your CADE username is yours, but the username you use on the server is always 'phelan'. That's a shared cleanroom account, not your name. People trip over this constantly.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command piece by piece. ssh is the secure-shell tool. -i tells it which key file to use. Your CADE username goes before the @, the CADE machine after. After this completes you're remotely logged into the CADE box — every command you type now runs there, not on your laptop. Cosmetically nothing dramatic changes; just a different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Hop 2 is shockingly short — three words — because the heavy lifting is in the config file. That file lives at ~/.ssh/config on the CADE machine; you write it once and forget it. Walk through each line: Host is the nickname, Hostname is the actual IP, User is the fixed shared account name 'phelan', IdentityFile is where the second key lives. Emphasize that User MUST be phelan — that's not your name, that's the cleanroom server's shared account.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 the shape of the procedure. Four steps. Two ssh commands. After this completes you're at a Linux prompt on the cleanroom server, where the two long-running services live. The audience should be able to recite this in their sleep after a few logins.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tmux at a high level: it's a 'saved terminal' — a window with a program running in it that keeps going even when nobody's logged in. The cleanroom server uses exactly two of them. The website is the one users see; the downloader is the data pipeline that keeps the website's machine pages fresh. Both must stay alive 24/7.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the routine inspection commands. tmux ls confirms both sessions are alive — if either is missing the program isn't running. tmux attach drops you into the live console of one of them, so you can read recent log output. Attaching is read-mostly: it doesn't disturb the process inside.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Hammer this. The single most common mistake is to attach to a session, read what they wanted, then close the terminal or type exit. Either kills the program. The correct way out is to detach: Ctrl-b is tmux's 'prefix' (a signal that the next key is meant for tmux), and d is the detach command. Type them as two separate keystrokes. After detaching you're back at the plain server shell; the program is still running. From there, exit twice walks you back out of the server and then out of CADE — that's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Synthesize the previous slides into a memorable four-step ritual. Attach. Look. Detach with Ctrl-b d. Then walk away — exiting the outer shells is fine; only typing exit INSIDE the session is the problem. If a user can do these four steps every time, they will never bring the website down by accident.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session is gone — accidental exit, server reboot — recovery is mechanical. Open a new tmux session named after the program, change into its folder, activate the Python virtual environment, run the script. Then DETACH (don't forget). Confirm the website responds. If the deployment was migrated to gunicorn for production, substitute that command — the runbook in the developer docs has the exact form. The SHAPE — new tmux session, cd, activate, run, detach — never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Identical pattern for the downloader. New tmux session named downloader, cd into the shared UNanofabTools install, activate venv, run the script, detach. Confirmation is that fresh CSV files start landing in ~/server/UNanofabTools/HSCDATA on the next scheduled cycle. Bring the downloader up before the website if both are down — fresh data should exist before the site serves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the Nanofab-side responsibilities. The user handles their own CADE side — account, key, config file. The Nanofab admin handles the cleanroom side — generating per-user nfhistory keys, installing them under the shared phelan account, and being the on-call for recovering killed sessions. Offboarding is just deleting the user's line from authorized_keys, because everyone shares the same UNIX account. CRUCIAL: the Nanofab admin has sudo as phelan but NOT root. Anything requiring root — see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Boundary slide. University IT owns the VM, root, the backup pipeline, and base patching. The Nanofab team has sudo as phelan but cannot create UNIX users and cannot modify /root/. So the access docs say everyone shares the phelan account not because that's a design choice — it's the structural reality of the IT/Nanofab boundary. Anything that requires root is an IT ticket. iceolate is IT's admin host; the root SSH key in /root/.ssh/authorized_keys belongs to IT and shouldn't be touched.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Anticipate the recurring questions. The username confusion comes up every time. The lab1 number doesn't matter. Closed-laptop = didn't-detach is the canonical 'oops, I broke the site' scenario. ssh nfhistory only works after hop 1 — it's defined in the CADE config, not your laptop's. Permission denied almost always means the key file isn't at the path the config points at, or the User line isn't phelan.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Two hops to reach the server. Phelan is the shared account name. Two tmux sessions hold the only two services. The single rule that prevents almost all outages: detach with Ctrl-b d; never type exit or Ctrl-c inside the session. Recovery is mechanical when it happens. Questions welcome.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411480" cy="6858000"/>
          </a:xfrm>
          <a:prstGeom prst="rect">
            <a:avLst/>
          </a:prstGeom>
          <a:solidFill>
            <a:srgbClr val="CC0000"/>
          </a:solidFill>
          <a:ln/>
        </p:spPr>
      </p:sp>
      <p:sp>
        <p:nvSpPr>
          <p:cNvPr id="3" name="Text 1"/>
          <p:cNvSpPr/>
          <p:nvPr/>
        </p:nvSpPr>
        <p:spPr>
          <a:xfrm>
            <a:off x="914400" y="1371600"/>
            <a:ext cx="10360152" cy="457200"/>
          </a:xfrm>
          <a:prstGeom prst="rect">
            <a:avLst/>
          </a:prstGeom>
          <a:noFill/>
          <a:ln/>
        </p:spPr>
        <p:txBody>
          <a:bodyPr wrap="square" lIns="0" tIns="0" rIns="0" bIns="0" rtlCol="0" anchor="ctr"/>
          <a:lstStyle/>
          <a:p>
            <a:pPr algn="l" indent="0" marL="0">
              <a:buNone/>
            </a:pPr>
            <a:r>
              <a:rPr lang="en-US" sz="1400" b="1" spc="200" kern="0" dirty="0">
                <a:solidFill>
                  <a:srgbClr val="CC0000"/>
                </a:solidFill>
                <a:latin typeface="Calibri" pitchFamily="34" charset="0"/>
                <a:ea typeface="Calibri" pitchFamily="34" charset="-122"/>
                <a:cs typeface="Calibri" pitchFamily="34" charset="-120"/>
              </a:rPr>
              <a:t>UNANOFABTOOLS · TOOL</a:t>
            </a:r>
            <a:endParaRPr lang="en-US" sz="1400" dirty="0"/>
          </a:p>
        </p:txBody>
      </p:sp>
      <p:sp>
        <p:nvSpPr>
          <p:cNvPr id="4" name="Text 2"/>
          <p:cNvSpPr/>
          <p:nvPr/>
        </p:nvSpPr>
        <p:spPr>
          <a:xfrm>
            <a:off x="914400" y="1828800"/>
            <a:ext cx="10360152" cy="1554480"/>
          </a:xfrm>
          <a:prstGeom prst="rect">
            <a:avLst/>
          </a:prstGeom>
          <a:noFill/>
          <a:ln/>
        </p:spPr>
        <p:txBody>
          <a:bodyPr wrap="square" lIns="0" tIns="0" rIns="0" bIns="0" rtlCol="0" anchor="t"/>
          <a:lstStyle/>
          <a:p>
            <a:pPr algn="l" indent="0" marL="0">
              <a:buNone/>
            </a:pPr>
            <a:r>
              <a:rPr lang="en-US" sz="4000" b="1" dirty="0">
                <a:solidFill>
                  <a:srgbClr val="1A1A1A"/>
                </a:solidFill>
                <a:latin typeface="Georgia" pitchFamily="34" charset="0"/>
                <a:ea typeface="Georgia" pitchFamily="34" charset="-122"/>
                <a:cs typeface="Georgia" pitchFamily="34" charset="-120"/>
              </a:rPr>
              <a:t>Accessing the Server</a:t>
            </a:r>
            <a:endParaRPr lang="en-US" sz="4000" dirty="0"/>
          </a:p>
        </p:txBody>
      </p:sp>
      <p:sp>
        <p:nvSpPr>
          <p:cNvPr id="5" name="Text 3"/>
          <p:cNvSpPr/>
          <p:nvPr/>
        </p:nvSpPr>
        <p:spPr>
          <a:xfrm>
            <a:off x="914400" y="3429000"/>
            <a:ext cx="10177272" cy="731520"/>
          </a:xfrm>
          <a:prstGeom prst="rect">
            <a:avLst/>
          </a:prstGeom>
          <a:noFill/>
          <a:ln/>
        </p:spPr>
        <p:txBody>
          <a:bodyPr wrap="square" lIns="0" tIns="0" rIns="0" bIns="0" rtlCol="0" anchor="t"/>
          <a:lstStyle/>
          <a:p>
            <a:pPr algn="l" indent="0" marL="0">
              <a:buNone/>
            </a:pPr>
            <a:r>
              <a:rPr lang="en-US" sz="1700" dirty="0">
                <a:solidFill>
                  <a:srgbClr val="595959"/>
                </a:solidFill>
                <a:latin typeface="Calibri" pitchFamily="34" charset="0"/>
                <a:ea typeface="Calibri" pitchFamily="34" charset="-122"/>
                <a:cs typeface="Calibri" pitchFamily="34" charset="-120"/>
              </a:rPr>
              <a:t>How to log in to nfhistory — the two-hop route through CADE,</a:t>
            </a:r>
            <a:endParaRPr lang="en-US" sz="1700" dirty="0"/>
          </a:p>
          <a:p>
            <a:pPr algn="l" indent="0" marL="0">
              <a:buNone/>
            </a:pPr>
            <a:r>
              <a:rPr lang="en-US" sz="1700" dirty="0">
                <a:solidFill>
                  <a:srgbClr val="595959"/>
                </a:solidFill>
                <a:latin typeface="Calibri" pitchFamily="34" charset="0"/>
                <a:ea typeface="Calibri" pitchFamily="34" charset="-122"/>
                <a:cs typeface="Calibri" pitchFamily="34" charset="-120"/>
              </a:rPr>
              <a:t>and how to operate the long-running tmux sessions safely.</a:t>
            </a:r>
            <a:endParaRPr lang="en-US" sz="1700" dirty="0"/>
          </a:p>
        </p:txBody>
      </p:sp>
      <p:sp>
        <p:nvSpPr>
          <p:cNvPr id="6" name="Text 4"/>
          <p:cNvSpPr/>
          <p:nvPr/>
        </p:nvSpPr>
        <p:spPr>
          <a:xfrm>
            <a:off x="914400" y="5029200"/>
            <a:ext cx="10360152" cy="1280160"/>
          </a:xfrm>
          <a:prstGeom prst="rect">
            <a:avLst/>
          </a:prstGeom>
          <a:noFill/>
          <a:ln/>
        </p:spPr>
        <p:txBody>
          <a:bodyPr wrap="square" lIns="0" tIns="0" rIns="0" bIns="0" rtlCol="0" anchor="t"/>
          <a:lstStyle/>
          <a:p>
            <a:pPr algn="l" indent="0" marL="0">
              <a:lnSpc>
                <a:spcPct val="115000"/>
              </a:lnSpc>
              <a:buNone/>
            </a:pPr>
            <a:r>
              <a:rPr lang="en-US" sz="1400" b="1" dirty="0">
                <a:solidFill>
                  <a:srgbClr val="1A1A1A"/>
                </a:solidFill>
                <a:latin typeface="Calibri" pitchFamily="34" charset="0"/>
                <a:ea typeface="Calibri" pitchFamily="34" charset="-122"/>
                <a:cs typeface="Calibri" pitchFamily="34" charset="-120"/>
              </a:rPr>
              <a:t>Faith</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Server Developer &amp; Maintainer</a:t>
            </a:r>
            <a:endParaRPr lang="en-US" sz="1400" dirty="0"/>
          </a:p>
          <a:p>
            <a:pPr algn="l" indent="0" marL="0">
              <a:lnSpc>
                <a:spcPct val="115000"/>
              </a:lnSpc>
              <a:buNone/>
            </a:pPr>
            <a:r>
              <a:rPr lang="en-US" sz="1200" dirty="0">
                <a:solidFill>
                  <a:srgbClr val="595959"/>
                </a:solidFill>
                <a:latin typeface="Calibri" pitchFamily="34" charset="0"/>
                <a:ea typeface="Calibri" pitchFamily="34" charset="-122"/>
                <a:cs typeface="Calibri" pitchFamily="34" charset="-120"/>
              </a:rPr>
              <a:t>Utah Nanofab · University of Utah</a:t>
            </a:r>
            <a:endParaRPr lang="en-US" sz="1400" dirty="0"/>
          </a:p>
          <a:p>
            <a:pPr algn="l" indent="0" marL="0">
              <a:lnSpc>
                <a:spcPct val="115000"/>
              </a:lnSpc>
              <a:buNone/>
            </a:pPr>
            <a:r>
              <a:rPr lang="en-US" sz="1100" dirty="0">
                <a:solidFill>
                  <a:srgbClr val="8A8A8A"/>
                </a:solidFill>
                <a:latin typeface="Calibri" pitchFamily="34" charset="0"/>
                <a:ea typeface="Calibri" pitchFamily="34" charset="-122"/>
                <a:cs typeface="Calibri" pitchFamily="34" charset="-120"/>
              </a:rPr>
              <a:t>May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Why two hops?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Accessing the Server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2</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The server lives on a private College of Engineering network.</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It is not reachable from outside that network — including your laptop.</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CADE lab machines ARE on that network, so they serve as a stepping stone.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This pattern is called a 'jump host' or 'bastion'.</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CADE pool</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Accessing the Server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3</a:t>
            </a:r>
            <a:endParaRPr lang="en-US" sz="900" dirty="0"/>
          </a:p>
        </p:txBody>
      </p:sp>
      <p:sp>
        <p:nvSpPr>
          <p:cNvPr id="7" name="Text 5"/>
          <p:cNvSpPr/>
          <p:nvPr/>
        </p:nvSpPr>
        <p:spPr>
          <a:xfrm>
            <a:off x="932688" y="1371600"/>
            <a:ext cx="10616184" cy="457200"/>
          </a:xfrm>
          <a:prstGeom prst="rect">
            <a:avLst/>
          </a:prstGeom>
          <a:noFill/>
          <a:ln/>
        </p:spPr>
        <p:txBody>
          <a:bodyPr wrap="square" lIns="0" tIns="0" rIns="0" bIns="0" rtlCol="0" anchor="t"/>
          <a:lstStyle/>
          <a:p>
            <a:pPr indent="0" marL="0">
              <a:buNone/>
            </a:pPr>
            <a:r>
              <a:rPr lang="en-US" sz="1500" i="1" dirty="0">
                <a:solidFill>
                  <a:srgbClr val="595959"/>
                </a:solidFill>
                <a:latin typeface="Calibri" pitchFamily="34" charset="0"/>
                <a:ea typeface="Calibri" pitchFamily="34" charset="-122"/>
                <a:cs typeface="Calibri" pitchFamily="34" charset="-120"/>
              </a:rPr>
              <a:t>Any one of these is fine — they're identical and share your home directory.</a:t>
            </a:r>
            <a:endParaRPr lang="en-US" sz="1500" dirty="0"/>
          </a:p>
        </p:txBody>
      </p:sp>
      <p:sp>
        <p:nvSpPr>
          <p:cNvPr id="8" name="Shape 6"/>
          <p:cNvSpPr/>
          <p:nvPr/>
        </p:nvSpPr>
        <p:spPr>
          <a:xfrm>
            <a:off x="640080" y="2011680"/>
            <a:ext cx="3392424" cy="2194560"/>
          </a:xfrm>
          <a:prstGeom prst="roundRect">
            <a:avLst>
              <a:gd name="adj" fmla="val 3333"/>
            </a:avLst>
          </a:prstGeom>
          <a:solidFill>
            <a:srgbClr val="F2F2F2"/>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9" name="Text 7"/>
          <p:cNvSpPr/>
          <p:nvPr/>
        </p:nvSpPr>
        <p:spPr>
          <a:xfrm>
            <a:off x="640080" y="2286000"/>
            <a:ext cx="3392424" cy="1005840"/>
          </a:xfrm>
          <a:prstGeom prst="rect">
            <a:avLst/>
          </a:prstGeom>
          <a:noFill/>
          <a:ln/>
        </p:spPr>
        <p:txBody>
          <a:bodyPr wrap="square" lIns="0" tIns="0" rIns="0" bIns="0" rtlCol="0" anchor="ctr"/>
          <a:lstStyle/>
          <a:p>
            <a:pPr algn="ctr" indent="0" marL="0">
              <a:buNone/>
            </a:pPr>
            <a:r>
              <a:rPr lang="en-US" sz="4000" b="1" dirty="0">
                <a:solidFill>
                  <a:srgbClr val="CC0000"/>
                </a:solidFill>
                <a:latin typeface="Georgia" pitchFamily="34" charset="0"/>
                <a:ea typeface="Georgia" pitchFamily="34" charset="-122"/>
                <a:cs typeface="Georgia" pitchFamily="34" charset="-120"/>
              </a:rPr>
              <a:t>40</a:t>
            </a:r>
            <a:endParaRPr lang="en-US" sz="4000" dirty="0"/>
          </a:p>
        </p:txBody>
      </p:sp>
      <p:sp>
        <p:nvSpPr>
          <p:cNvPr id="10" name="Text 8"/>
          <p:cNvSpPr/>
          <p:nvPr/>
        </p:nvSpPr>
        <p:spPr>
          <a:xfrm>
            <a:off x="777240" y="3337560"/>
            <a:ext cx="3118104" cy="777240"/>
          </a:xfrm>
          <a:prstGeom prst="rect">
            <a:avLst/>
          </a:prstGeom>
          <a:noFill/>
          <a:ln/>
        </p:spPr>
        <p:txBody>
          <a:bodyPr wrap="square" lIns="0" tIns="0" rIns="0" bIns="0" rtlCol="0" anchor="t"/>
          <a:lstStyle/>
          <a:p>
            <a:pPr algn="ctr" indent="0" marL="0">
              <a:buNone/>
            </a:pPr>
            <a:r>
              <a:rPr lang="en-US" sz="1300" dirty="0">
                <a:solidFill>
                  <a:srgbClr val="1A1A1A"/>
                </a:solidFill>
                <a:latin typeface="Calibri" pitchFamily="34" charset="0"/>
                <a:ea typeface="Calibri" pitchFamily="34" charset="-122"/>
                <a:cs typeface="Calibri" pitchFamily="34" charset="-120"/>
              </a:rPr>
              <a:t>lab1-1 through lab1-40</a:t>
            </a:r>
            <a:endParaRPr lang="en-US" sz="1300" dirty="0"/>
          </a:p>
          <a:p>
            <a:pPr algn="ctr" indent="0" marL="0">
              <a:buNone/>
            </a:pPr>
            <a:r>
              <a:rPr lang="en-US" sz="1300" dirty="0">
                <a:solidFill>
                  <a:srgbClr val="1A1A1A"/>
                </a:solidFill>
                <a:latin typeface="Calibri" pitchFamily="34" charset="0"/>
                <a:ea typeface="Calibri" pitchFamily="34" charset="-122"/>
                <a:cs typeface="Calibri" pitchFamily="34" charset="-120"/>
              </a:rPr>
              <a:t>(.eng.utah.edu)</a:t>
            </a:r>
            <a:endParaRPr lang="en-US" sz="1300" dirty="0"/>
          </a:p>
        </p:txBody>
      </p:sp>
      <p:sp>
        <p:nvSpPr>
          <p:cNvPr id="11" name="Shape 9"/>
          <p:cNvSpPr/>
          <p:nvPr/>
        </p:nvSpPr>
        <p:spPr>
          <a:xfrm>
            <a:off x="4398264" y="2011680"/>
            <a:ext cx="3392424" cy="2194560"/>
          </a:xfrm>
          <a:prstGeom prst="roundRect">
            <a:avLst>
              <a:gd name="adj" fmla="val 3333"/>
            </a:avLst>
          </a:prstGeom>
          <a:solidFill>
            <a:srgbClr val="F2F2F2"/>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12" name="Text 10"/>
          <p:cNvSpPr/>
          <p:nvPr/>
        </p:nvSpPr>
        <p:spPr>
          <a:xfrm>
            <a:off x="4398264" y="2286000"/>
            <a:ext cx="3392424" cy="1005840"/>
          </a:xfrm>
          <a:prstGeom prst="rect">
            <a:avLst/>
          </a:prstGeom>
          <a:noFill/>
          <a:ln/>
        </p:spPr>
        <p:txBody>
          <a:bodyPr wrap="square" lIns="0" tIns="0" rIns="0" bIns="0" rtlCol="0" anchor="ctr"/>
          <a:lstStyle/>
          <a:p>
            <a:pPr algn="ctr" indent="0" marL="0">
              <a:buNone/>
            </a:pPr>
            <a:r>
              <a:rPr lang="en-US" sz="4000" b="1" dirty="0">
                <a:solidFill>
                  <a:srgbClr val="CC0000"/>
                </a:solidFill>
                <a:latin typeface="Georgia" pitchFamily="34" charset="0"/>
                <a:ea typeface="Georgia" pitchFamily="34" charset="-122"/>
                <a:cs typeface="Georgia" pitchFamily="34" charset="-120"/>
              </a:rPr>
              <a:t>35</a:t>
            </a:r>
            <a:endParaRPr lang="en-US" sz="4000" dirty="0"/>
          </a:p>
        </p:txBody>
      </p:sp>
      <p:sp>
        <p:nvSpPr>
          <p:cNvPr id="13" name="Text 11"/>
          <p:cNvSpPr/>
          <p:nvPr/>
        </p:nvSpPr>
        <p:spPr>
          <a:xfrm>
            <a:off x="4535424" y="3337560"/>
            <a:ext cx="3118104" cy="777240"/>
          </a:xfrm>
          <a:prstGeom prst="rect">
            <a:avLst/>
          </a:prstGeom>
          <a:noFill/>
          <a:ln/>
        </p:spPr>
        <p:txBody>
          <a:bodyPr wrap="square" lIns="0" tIns="0" rIns="0" bIns="0" rtlCol="0" anchor="t"/>
          <a:lstStyle/>
          <a:p>
            <a:pPr algn="ctr" indent="0" marL="0">
              <a:buNone/>
            </a:pPr>
            <a:r>
              <a:rPr lang="en-US" sz="1300" dirty="0">
                <a:solidFill>
                  <a:srgbClr val="1A1A1A"/>
                </a:solidFill>
                <a:latin typeface="Calibri" pitchFamily="34" charset="0"/>
                <a:ea typeface="Calibri" pitchFamily="34" charset="-122"/>
                <a:cs typeface="Calibri" pitchFamily="34" charset="-120"/>
              </a:rPr>
              <a:t>lab2-1 through lab2-35</a:t>
            </a:r>
            <a:endParaRPr lang="en-US" sz="1300" dirty="0"/>
          </a:p>
          <a:p>
            <a:pPr algn="ctr" indent="0" marL="0">
              <a:buNone/>
            </a:pPr>
            <a:r>
              <a:rPr lang="en-US" sz="1300" dirty="0">
                <a:solidFill>
                  <a:srgbClr val="1A1A1A"/>
                </a:solidFill>
                <a:latin typeface="Calibri" pitchFamily="34" charset="0"/>
                <a:ea typeface="Calibri" pitchFamily="34" charset="-122"/>
                <a:cs typeface="Calibri" pitchFamily="34" charset="-120"/>
              </a:rPr>
              <a:t>(.eng.utah.edu)</a:t>
            </a:r>
            <a:endParaRPr lang="en-US" sz="1300" dirty="0"/>
          </a:p>
        </p:txBody>
      </p:sp>
      <p:sp>
        <p:nvSpPr>
          <p:cNvPr id="14" name="Shape 12"/>
          <p:cNvSpPr/>
          <p:nvPr/>
        </p:nvSpPr>
        <p:spPr>
          <a:xfrm>
            <a:off x="8156448" y="2011680"/>
            <a:ext cx="3392424" cy="2194560"/>
          </a:xfrm>
          <a:prstGeom prst="roundRect">
            <a:avLst>
              <a:gd name="adj" fmla="val 3333"/>
            </a:avLst>
          </a:prstGeom>
          <a:solidFill>
            <a:srgbClr val="F2F2F2"/>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15" name="Text 13"/>
          <p:cNvSpPr/>
          <p:nvPr/>
        </p:nvSpPr>
        <p:spPr>
          <a:xfrm>
            <a:off x="8156448" y="2286000"/>
            <a:ext cx="3392424" cy="1005840"/>
          </a:xfrm>
          <a:prstGeom prst="rect">
            <a:avLst/>
          </a:prstGeom>
          <a:noFill/>
          <a:ln/>
        </p:spPr>
        <p:txBody>
          <a:bodyPr wrap="square" lIns="0" tIns="0" rIns="0" bIns="0" rtlCol="0" anchor="ctr"/>
          <a:lstStyle/>
          <a:p>
            <a:pPr algn="ctr" indent="0" marL="0">
              <a:buNone/>
            </a:pPr>
            <a:r>
              <a:rPr lang="en-US" sz="4000" b="1" dirty="0">
                <a:solidFill>
                  <a:srgbClr val="CC0000"/>
                </a:solidFill>
                <a:latin typeface="Georgia" pitchFamily="34" charset="0"/>
                <a:ea typeface="Georgia" pitchFamily="34" charset="-122"/>
                <a:cs typeface="Georgia" pitchFamily="34" charset="-120"/>
              </a:rPr>
              <a:t>75</a:t>
            </a:r>
            <a:endParaRPr lang="en-US" sz="4000" dirty="0"/>
          </a:p>
        </p:txBody>
      </p:sp>
      <p:sp>
        <p:nvSpPr>
          <p:cNvPr id="16" name="Text 14"/>
          <p:cNvSpPr/>
          <p:nvPr/>
        </p:nvSpPr>
        <p:spPr>
          <a:xfrm>
            <a:off x="8293608" y="3337560"/>
            <a:ext cx="3118104" cy="777240"/>
          </a:xfrm>
          <a:prstGeom prst="rect">
            <a:avLst/>
          </a:prstGeom>
          <a:noFill/>
          <a:ln/>
        </p:spPr>
        <p:txBody>
          <a:bodyPr wrap="square" lIns="0" tIns="0" rIns="0" bIns="0" rtlCol="0" anchor="t"/>
          <a:lstStyle/>
          <a:p>
            <a:pPr algn="ctr" indent="0" marL="0">
              <a:buNone/>
            </a:pPr>
            <a:r>
              <a:rPr lang="en-US" sz="1300" dirty="0">
                <a:solidFill>
                  <a:srgbClr val="1A1A1A"/>
                </a:solidFill>
                <a:latin typeface="Calibri" pitchFamily="34" charset="0"/>
                <a:ea typeface="Calibri" pitchFamily="34" charset="-122"/>
                <a:cs typeface="Calibri" pitchFamily="34" charset="-120"/>
              </a:rPr>
              <a:t>machines total</a:t>
            </a:r>
            <a:endParaRPr lang="en-US" sz="1300" dirty="0"/>
          </a:p>
          <a:p>
            <a:pPr algn="ctr" indent="0" marL="0">
              <a:buNone/>
            </a:pPr>
            <a:r>
              <a:rPr lang="en-US" sz="1300" dirty="0">
                <a:solidFill>
                  <a:srgbClr val="1A1A1A"/>
                </a:solidFill>
                <a:latin typeface="Calibri" pitchFamily="34" charset="0"/>
                <a:ea typeface="Calibri" pitchFamily="34" charset="-122"/>
                <a:cs typeface="Calibri" pitchFamily="34" charset="-120"/>
              </a:rPr>
              <a:t>pick any one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you need before your first login</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Accessing the Server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4</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CADE account — sign up at usertools.eng.utah.edu.</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 CADE SSH key (~/.ssh/CADE on your laptop).</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An nfhistory SSH key — issued by the cleanroom admin.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Your CADE username (for hop 1). Note: the server username is always 'phelan'.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Hop 1 — laptop to CADE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Accessing the Server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5</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From a terminal on your laptop:</a:t>
            </a:r>
            <a:endParaRPr lang="en-US" sz="1500" dirty="0"/>
          </a:p>
        </p:txBody>
      </p:sp>
      <p:sp>
        <p:nvSpPr>
          <p:cNvPr id="8" name="Shape 6"/>
          <p:cNvSpPr/>
          <p:nvPr/>
        </p:nvSpPr>
        <p:spPr>
          <a:xfrm>
            <a:off x="932688" y="1874520"/>
            <a:ext cx="10616184" cy="4069080"/>
          </a:xfrm>
          <a:prstGeom prst="roundRect">
            <a:avLst>
              <a:gd name="adj" fmla="val 1348"/>
            </a:avLst>
          </a:prstGeom>
          <a:solidFill>
            <a:srgbClr val="F2F2F2"/>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9" name="Text 7"/>
          <p:cNvSpPr/>
          <p:nvPr/>
        </p:nvSpPr>
        <p:spPr>
          <a:xfrm>
            <a:off x="1097280" y="1984248"/>
            <a:ext cx="10268712" cy="3849624"/>
          </a:xfrm>
          <a:prstGeom prst="rect">
            <a:avLst/>
          </a:prstGeom>
          <a:noFill/>
          <a:ln/>
        </p:spPr>
        <p:txBody>
          <a:bodyPr wrap="square" lIns="0" tIns="0" rIns="0" bIns="0" rtlCol="0" anchor="t"/>
          <a:lstStyle/>
          <a:p>
            <a:pPr algn="l" indent="0" marL="0">
              <a:buNone/>
            </a:pPr>
            <a:r>
              <a:rPr lang="en-US" sz="1250" dirty="0">
                <a:solidFill>
                  <a:srgbClr val="222222"/>
                </a:solidFill>
                <a:latin typeface="Consolas" pitchFamily="34" charset="0"/>
                <a:ea typeface="Consolas" pitchFamily="34" charset="-122"/>
                <a:cs typeface="Consolas" pitchFamily="34" charset="-120"/>
              </a:rPr>
              <a:t>ssh -i ~/.ssh/CADE  &lt;your-CADE-username&gt;@lab1-10.eng.utah.edu
        │           │
        │           └── replace with your CADE username
        └── use the CADE key at this path
# lab1-10 may be replaced by any of:
#   lab1-1 … lab1-40
#   lab2-1 … lab2-35
</a:t>
            </a:r>
            <a:endParaRPr lang="en-US" sz="1250" dirty="0"/>
          </a:p>
        </p:txBody>
      </p:sp>
      <p:sp>
        <p:nvSpPr>
          <p:cNvPr id="10" name="Text 8"/>
          <p:cNvSpPr/>
          <p:nvPr/>
        </p:nvSpPr>
        <p:spPr>
          <a:xfrm>
            <a:off x="932688" y="6035040"/>
            <a:ext cx="10616184" cy="457200"/>
          </a:xfrm>
          <a:prstGeom prst="rect">
            <a:avLst/>
          </a:prstGeom>
          <a:noFill/>
          <a:ln/>
        </p:spPr>
        <p:txBody>
          <a:bodyPr wrap="square" lIns="0" tIns="0" rIns="0" bIns="0" rtlCol="0" anchor="t"/>
          <a:lstStyle/>
          <a:p>
            <a:pPr indent="0" marL="0">
              <a:buNone/>
            </a:pPr>
            <a:r>
              <a:rPr lang="en-US" sz="1200" i="1" dirty="0">
                <a:solidFill>
                  <a:srgbClr val="595959"/>
                </a:solidFill>
                <a:latin typeface="Calibri" pitchFamily="34" charset="0"/>
                <a:ea typeface="Calibri" pitchFamily="34" charset="-122"/>
                <a:cs typeface="Calibri" pitchFamily="34" charset="-120"/>
              </a:rPr>
              <a:t>On success you're at a Linux prompt on the CADE machine.</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Hop 2 — CADE to nfhistory</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Accessing the Server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6</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Once you're on CADE, just three words:</a:t>
            </a:r>
            <a:endParaRPr lang="en-US" sz="1500" dirty="0"/>
          </a:p>
        </p:txBody>
      </p:sp>
      <p:sp>
        <p:nvSpPr>
          <p:cNvPr id="8" name="Shape 6"/>
          <p:cNvSpPr/>
          <p:nvPr/>
        </p:nvSpPr>
        <p:spPr>
          <a:xfrm>
            <a:off x="932688" y="1874520"/>
            <a:ext cx="10616184" cy="4069080"/>
          </a:xfrm>
          <a:prstGeom prst="roundRect">
            <a:avLst>
              <a:gd name="adj" fmla="val 1348"/>
            </a:avLst>
          </a:prstGeom>
          <a:solidFill>
            <a:srgbClr val="F2F2F2"/>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9" name="Text 7"/>
          <p:cNvSpPr/>
          <p:nvPr/>
        </p:nvSpPr>
        <p:spPr>
          <a:xfrm>
            <a:off x="1097280" y="1984248"/>
            <a:ext cx="10268712" cy="3849624"/>
          </a:xfrm>
          <a:prstGeom prst="rect">
            <a:avLst/>
          </a:prstGeom>
          <a:noFill/>
          <a:ln/>
        </p:spPr>
        <p:txBody>
          <a:bodyPr wrap="square" lIns="0" tIns="0" rIns="0" bIns="0" rtlCol="0" anchor="t"/>
          <a:lstStyle/>
          <a:p>
            <a:pPr algn="l" indent="0" marL="0">
              <a:buNone/>
            </a:pPr>
            <a:r>
              <a:rPr lang="en-US" sz="1250" dirty="0">
                <a:solidFill>
                  <a:srgbClr val="222222"/>
                </a:solidFill>
                <a:latin typeface="Consolas" pitchFamily="34" charset="0"/>
                <a:ea typeface="Consolas" pitchFamily="34" charset="-122"/>
                <a:cs typeface="Consolas" pitchFamily="34" charset="-120"/>
              </a:rPr>
              <a:t>ssh nfhistory
# This works because of this file on CADE: ~/.ssh/config
Host nfhistory
  Hostname    155.98.11.8
  User        phelan
  IdentityFile ~/.ssh/nfhistory
</a:t>
            </a:r>
            <a:endParaRPr lang="en-US" sz="1250" dirty="0"/>
          </a:p>
        </p:txBody>
      </p:sp>
      <p:sp>
        <p:nvSpPr>
          <p:cNvPr id="10" name="Text 8"/>
          <p:cNvSpPr/>
          <p:nvPr/>
        </p:nvSpPr>
        <p:spPr>
          <a:xfrm>
            <a:off x="932688" y="6035040"/>
            <a:ext cx="10616184" cy="457200"/>
          </a:xfrm>
          <a:prstGeom prst="rect">
            <a:avLst/>
          </a:prstGeom>
          <a:noFill/>
          <a:ln/>
        </p:spPr>
        <p:txBody>
          <a:bodyPr wrap="square" lIns="0" tIns="0" rIns="0" bIns="0" rtlCol="0" anchor="t"/>
          <a:lstStyle/>
          <a:p>
            <a:pPr indent="0" marL="0">
              <a:buNone/>
            </a:pPr>
            <a:r>
              <a:rPr lang="en-US" sz="1200" i="1" dirty="0">
                <a:solidFill>
                  <a:srgbClr val="595959"/>
                </a:solidFill>
                <a:latin typeface="Calibri" pitchFamily="34" charset="0"/>
                <a:ea typeface="Calibri" pitchFamily="34" charset="-122"/>
                <a:cs typeface="Calibri" pitchFamily="34" charset="-120"/>
              </a:rPr>
              <a:t>The 'phelan' user is fixed — every user authenticates as the same shared account.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Recap of the login flow</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Accessing the Server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7</a:t>
            </a:r>
            <a:endParaRPr lang="en-US" sz="900" dirty="0"/>
          </a:p>
        </p:txBody>
      </p:sp>
      <p:sp>
        <p:nvSpPr>
          <p:cNvPr id="7" name="Shape 5"/>
          <p:cNvSpPr/>
          <p:nvPr/>
        </p:nvSpPr>
        <p:spPr>
          <a:xfrm>
            <a:off x="932688" y="1280160"/>
            <a:ext cx="411480" cy="411480"/>
          </a:xfrm>
          <a:prstGeom prst="ellipse">
            <a:avLst/>
          </a:prstGeom>
          <a:solidFill>
            <a:srgbClr val="CC0000"/>
          </a:solidFill>
          <a:ln/>
        </p:spPr>
      </p:sp>
      <p:sp>
        <p:nvSpPr>
          <p:cNvPr id="8" name="Text 6"/>
          <p:cNvSpPr/>
          <p:nvPr/>
        </p:nvSpPr>
        <p:spPr>
          <a:xfrm>
            <a:off x="932688" y="12801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508760" y="117043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Open terminal  </a:t>
            </a:r>
            <a:pPr indent="0" marL="0">
              <a:buNone/>
            </a:pPr>
            <a:r>
              <a:rPr lang="en-US" sz="1300" dirty="0">
                <a:solidFill>
                  <a:srgbClr val="595959"/>
                </a:solidFill>
                <a:latin typeface="Calibri" pitchFamily="34" charset="0"/>
                <a:ea typeface="Calibri" pitchFamily="34" charset="-122"/>
                <a:cs typeface="Calibri" pitchFamily="34" charset="-120"/>
              </a:rPr>
              <a:t>on your laptop.</a:t>
            </a:r>
            <a:endParaRPr lang="en-US" sz="1400" dirty="0"/>
          </a:p>
        </p:txBody>
      </p:sp>
      <p:sp>
        <p:nvSpPr>
          <p:cNvPr id="10" name="Shape 8"/>
          <p:cNvSpPr/>
          <p:nvPr/>
        </p:nvSpPr>
        <p:spPr>
          <a:xfrm>
            <a:off x="932688" y="2148840"/>
            <a:ext cx="411480" cy="411480"/>
          </a:xfrm>
          <a:prstGeom prst="ellipse">
            <a:avLst/>
          </a:prstGeom>
          <a:solidFill>
            <a:srgbClr val="CC0000"/>
          </a:solidFill>
          <a:ln/>
        </p:spPr>
      </p:sp>
      <p:sp>
        <p:nvSpPr>
          <p:cNvPr id="11" name="Text 9"/>
          <p:cNvSpPr/>
          <p:nvPr/>
        </p:nvSpPr>
        <p:spPr>
          <a:xfrm>
            <a:off x="932688" y="214884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508760" y="203911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Hop 1  </a:t>
            </a:r>
            <a:pPr indent="0" marL="0">
              <a:buNone/>
            </a:pPr>
            <a:r>
              <a:rPr lang="en-US" sz="1300" dirty="0">
                <a:solidFill>
                  <a:srgbClr val="595959"/>
                </a:solidFill>
                <a:latin typeface="Calibri" pitchFamily="34" charset="0"/>
                <a:ea typeface="Calibri" pitchFamily="34" charset="-122"/>
                <a:cs typeface="Calibri" pitchFamily="34" charset="-120"/>
              </a:rPr>
              <a:t>ssh -i ~/.ssh/CADE &lt;you&gt;@lab1-X.eng.utah.edu</a:t>
            </a:r>
            <a:endParaRPr lang="en-US" sz="1400" dirty="0"/>
          </a:p>
        </p:txBody>
      </p:sp>
      <p:sp>
        <p:nvSpPr>
          <p:cNvPr id="13" name="Shape 11"/>
          <p:cNvSpPr/>
          <p:nvPr/>
        </p:nvSpPr>
        <p:spPr>
          <a:xfrm>
            <a:off x="932688" y="3017520"/>
            <a:ext cx="411480" cy="411480"/>
          </a:xfrm>
          <a:prstGeom prst="ellipse">
            <a:avLst/>
          </a:prstGeom>
          <a:solidFill>
            <a:srgbClr val="CC0000"/>
          </a:solidFill>
          <a:ln/>
        </p:spPr>
      </p:sp>
      <p:sp>
        <p:nvSpPr>
          <p:cNvPr id="14" name="Text 12"/>
          <p:cNvSpPr/>
          <p:nvPr/>
        </p:nvSpPr>
        <p:spPr>
          <a:xfrm>
            <a:off x="932688" y="301752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508760" y="290779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Hop 2  </a:t>
            </a:r>
            <a:pPr indent="0" marL="0">
              <a:buNone/>
            </a:pPr>
            <a:r>
              <a:rPr lang="en-US" sz="1300" dirty="0">
                <a:solidFill>
                  <a:srgbClr val="595959"/>
                </a:solidFill>
                <a:latin typeface="Calibri" pitchFamily="34" charset="0"/>
                <a:ea typeface="Calibri" pitchFamily="34" charset="-122"/>
                <a:cs typeface="Calibri" pitchFamily="34" charset="-120"/>
              </a:rPr>
              <a:t>ssh nfhistory  (uses the config file on CADE)</a:t>
            </a:r>
            <a:endParaRPr lang="en-US" sz="1400" dirty="0"/>
          </a:p>
        </p:txBody>
      </p:sp>
      <p:sp>
        <p:nvSpPr>
          <p:cNvPr id="16" name="Shape 14"/>
          <p:cNvSpPr/>
          <p:nvPr/>
        </p:nvSpPr>
        <p:spPr>
          <a:xfrm>
            <a:off x="932688" y="3886200"/>
            <a:ext cx="411480" cy="411480"/>
          </a:xfrm>
          <a:prstGeom prst="ellipse">
            <a:avLst/>
          </a:prstGeom>
          <a:solidFill>
            <a:srgbClr val="CC0000"/>
          </a:solidFill>
          <a:ln/>
        </p:spPr>
      </p:sp>
      <p:sp>
        <p:nvSpPr>
          <p:cNvPr id="17" name="Text 15"/>
          <p:cNvSpPr/>
          <p:nvPr/>
        </p:nvSpPr>
        <p:spPr>
          <a:xfrm>
            <a:off x="932688" y="388620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1508760" y="377647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You're on the server  </a:t>
            </a:r>
            <a:pPr indent="0" marL="0">
              <a:buNone/>
            </a:pPr>
            <a:r>
              <a:rPr lang="en-US" sz="1300" dirty="0">
                <a:solidFill>
                  <a:srgbClr val="595959"/>
                </a:solidFill>
                <a:latin typeface="Calibri" pitchFamily="34" charset="0"/>
                <a:ea typeface="Calibri" pitchFamily="34" charset="-122"/>
                <a:cs typeface="Calibri" pitchFamily="34" charset="-120"/>
              </a:rPr>
              <a:t>as the shared 'phelan' account.</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On the server: two tmux sessions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Accessing the Server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8</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932688" y="1280160"/>
          <a:ext cx="10616184" cy="914400"/>
        </p:xfrm>
        <a:graphic>
          <a:graphicData uri="http://schemas.openxmlformats.org/drawingml/2006/table">
            <a:tbl>
              <a:tblPr/>
              <a:tblGrid>
                <a:gridCol w="2926080"/>
                <a:gridCol w="7955280"/>
              </a:tblGrid>
              <a:tr h="274320">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Session name</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c>
                  <a:txBody>
                    <a:bodyPr/>
                    <a:lstStyle/>
                    <a:p>
                      <a:pPr algn="l" indent="0" marL="0">
                        <a:buNone/>
                      </a:pPr>
                      <a:r>
                        <a:rPr lang="en-US" sz="1250" b="1" dirty="0">
                          <a:solidFill>
                            <a:srgbClr val="FFFFFF"/>
                          </a:solidFill>
                          <a:latin typeface="Calibri" pitchFamily="34" charset="0"/>
                          <a:ea typeface="Calibri" pitchFamily="34" charset="-122"/>
                          <a:cs typeface="Calibri" pitchFamily="34" charset="-120"/>
                        </a:rPr>
                        <a:t>What runs in it</a:t>
                      </a:r>
                      <a:endParaRPr lang="en-US" sz="12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CC0000"/>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flaskserver</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The website — the Flask app behind nfhistory.nanofab.utah.edu</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FFFFF"/>
                    </a:solidFill>
                  </a:tcPr>
                </a:tc>
              </a:tr>
              <a:tr h="274320">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downloader</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c>
                  <a:txBody>
                    <a:bodyPr/>
                    <a:lstStyle/>
                    <a:p>
                      <a:pPr algn="l" indent="0" marL="0">
                        <a:buNone/>
                      </a:pPr>
                      <a:r>
                        <a:rPr lang="en-US" sz="1150" dirty="0">
                          <a:solidFill>
                            <a:srgbClr val="1A1A1A"/>
                          </a:solidFill>
                          <a:latin typeface="Calibri" pitchFamily="34" charset="0"/>
                          <a:ea typeface="Calibri" pitchFamily="34" charset="-122"/>
                          <a:cs typeface="Calibri" pitchFamily="34" charset="-120"/>
                        </a:rPr>
                        <a:t>HSCDownloader — pulls per-machine data from CORES, writes HSCDATA CSVs</a:t>
                      </a:r>
                      <a:endParaRPr lang="en-US" sz="1150" dirty="0">
                        <a:latin typeface="Calibri" charset="0"/>
                        <a:ea typeface="Calibri" charset="0"/>
                        <a:cs typeface="Calibri" charset="0"/>
                      </a:endParaRPr>
                    </a:p>
                  </a:txBody>
                  <a:tcPr marL="91440" marR="91440" marT="45720" marB="45720"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F2F2F2"/>
                    </a:solidFill>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Looking at a session (attaching)</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Accessing the Server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9</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From the server prompt:</a:t>
            </a:r>
            <a:endParaRPr lang="en-US" sz="1500" dirty="0"/>
          </a:p>
        </p:txBody>
      </p:sp>
      <p:sp>
        <p:nvSpPr>
          <p:cNvPr id="8" name="Shape 6"/>
          <p:cNvSpPr/>
          <p:nvPr/>
        </p:nvSpPr>
        <p:spPr>
          <a:xfrm>
            <a:off x="932688" y="1874520"/>
            <a:ext cx="10616184" cy="4069080"/>
          </a:xfrm>
          <a:prstGeom prst="roundRect">
            <a:avLst>
              <a:gd name="adj" fmla="val 1348"/>
            </a:avLst>
          </a:prstGeom>
          <a:solidFill>
            <a:srgbClr val="F2F2F2"/>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9" name="Text 7"/>
          <p:cNvSpPr/>
          <p:nvPr/>
        </p:nvSpPr>
        <p:spPr>
          <a:xfrm>
            <a:off x="1097280" y="1984248"/>
            <a:ext cx="10268712" cy="3849624"/>
          </a:xfrm>
          <a:prstGeom prst="rect">
            <a:avLst/>
          </a:prstGeom>
          <a:noFill/>
          <a:ln/>
        </p:spPr>
        <p:txBody>
          <a:bodyPr wrap="square" lIns="0" tIns="0" rIns="0" bIns="0" rtlCol="0" anchor="t"/>
          <a:lstStyle/>
          <a:p>
            <a:pPr algn="l" indent="0" marL="0">
              <a:buNone/>
            </a:pPr>
            <a:r>
              <a:rPr lang="en-US" sz="1250" dirty="0">
                <a:solidFill>
                  <a:srgbClr val="222222"/>
                </a:solidFill>
                <a:latin typeface="Consolas" pitchFamily="34" charset="0"/>
                <a:ea typeface="Consolas" pitchFamily="34" charset="-122"/>
                <a:cs typeface="Consolas" pitchFamily="34" charset="-120"/>
              </a:rPr>
              <a:t>tmux ls                       # list all sessions
tmux attach -t flaskserver    # look at the website's console
tmux attach -t downloader     # look at the downloader's console
</a:t>
            </a:r>
            <a:endParaRPr lang="en-US" sz="1250" dirty="0"/>
          </a:p>
        </p:txBody>
      </p:sp>
      <p:sp>
        <p:nvSpPr>
          <p:cNvPr id="10" name="Text 8"/>
          <p:cNvSpPr/>
          <p:nvPr/>
        </p:nvSpPr>
        <p:spPr>
          <a:xfrm>
            <a:off x="932688" y="6035040"/>
            <a:ext cx="10616184" cy="457200"/>
          </a:xfrm>
          <a:prstGeom prst="rect">
            <a:avLst/>
          </a:prstGeom>
          <a:noFill/>
          <a:ln/>
        </p:spPr>
        <p:txBody>
          <a:bodyPr wrap="square" lIns="0" tIns="0" rIns="0" bIns="0" rtlCol="0" anchor="t"/>
          <a:lstStyle/>
          <a:p>
            <a:pPr indent="0" marL="0">
              <a:buNone/>
            </a:pPr>
            <a:r>
              <a:rPr lang="en-US" sz="1200" i="1" dirty="0">
                <a:solidFill>
                  <a:srgbClr val="595959"/>
                </a:solidFill>
                <a:latin typeface="Calibri" pitchFamily="34" charset="0"/>
                <a:ea typeface="Calibri" pitchFamily="34" charset="-122"/>
                <a:cs typeface="Calibri" pitchFamily="34" charset="-120"/>
              </a:rPr>
              <a:t>Attaching shows you the live output. It does NOT restart anything.</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 Leaving WITHOUT killing the program ★</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Accessing the Server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10</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i="1" dirty="0">
                <a:solidFill>
                  <a:srgbClr val="595959"/>
                </a:solidFill>
                <a:latin typeface="Calibri" pitchFamily="34" charset="0"/>
                <a:ea typeface="Calibri" pitchFamily="34" charset="-122"/>
                <a:cs typeface="Calibri" pitchFamily="34" charset="-120"/>
              </a:rPr>
              <a:t>This is the single most important slide. Read it twice.</a:t>
            </a:r>
            <a:endParaRPr lang="en-US" sz="1500" dirty="0"/>
          </a:p>
        </p:txBody>
      </p:sp>
      <p:sp>
        <p:nvSpPr>
          <p:cNvPr id="8" name="Text 6"/>
          <p:cNvSpPr/>
          <p:nvPr/>
        </p:nvSpPr>
        <p:spPr>
          <a:xfrm>
            <a:off x="932688" y="1920240"/>
            <a:ext cx="10616184" cy="438912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Press Ctrl-b, release, then press d.</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That's the tmux 'detach' shortcut: it leaves the session running.</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DO NOT type 'exit' — that ends the program inside the session.</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DO NOT press Ctrl-c — that also ends the program.</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The safe inspection ritual</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Accessing the Server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11</a:t>
            </a:r>
            <a:endParaRPr lang="en-US" sz="900" dirty="0"/>
          </a:p>
        </p:txBody>
      </p:sp>
      <p:sp>
        <p:nvSpPr>
          <p:cNvPr id="7" name="Shape 5"/>
          <p:cNvSpPr/>
          <p:nvPr/>
        </p:nvSpPr>
        <p:spPr>
          <a:xfrm>
            <a:off x="932688" y="1280160"/>
            <a:ext cx="411480" cy="411480"/>
          </a:xfrm>
          <a:prstGeom prst="ellipse">
            <a:avLst/>
          </a:prstGeom>
          <a:solidFill>
            <a:srgbClr val="CC0000"/>
          </a:solidFill>
          <a:ln/>
        </p:spPr>
      </p:sp>
      <p:sp>
        <p:nvSpPr>
          <p:cNvPr id="8" name="Text 6"/>
          <p:cNvSpPr/>
          <p:nvPr/>
        </p:nvSpPr>
        <p:spPr>
          <a:xfrm>
            <a:off x="932688" y="128016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9" name="Text 7"/>
          <p:cNvSpPr/>
          <p:nvPr/>
        </p:nvSpPr>
        <p:spPr>
          <a:xfrm>
            <a:off x="1508760" y="117043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Attach  </a:t>
            </a:r>
            <a:pPr indent="0" marL="0">
              <a:buNone/>
            </a:pPr>
            <a:r>
              <a:rPr lang="en-US" sz="1300" dirty="0">
                <a:solidFill>
                  <a:srgbClr val="595959"/>
                </a:solidFill>
                <a:latin typeface="Calibri" pitchFamily="34" charset="0"/>
                <a:ea typeface="Calibri" pitchFamily="34" charset="-122"/>
                <a:cs typeface="Calibri" pitchFamily="34" charset="-120"/>
              </a:rPr>
              <a:t>tmux attach -t flaskserver</a:t>
            </a:r>
            <a:endParaRPr lang="en-US" sz="1400" dirty="0"/>
          </a:p>
        </p:txBody>
      </p:sp>
      <p:sp>
        <p:nvSpPr>
          <p:cNvPr id="10" name="Shape 8"/>
          <p:cNvSpPr/>
          <p:nvPr/>
        </p:nvSpPr>
        <p:spPr>
          <a:xfrm>
            <a:off x="932688" y="2148840"/>
            <a:ext cx="411480" cy="411480"/>
          </a:xfrm>
          <a:prstGeom prst="ellipse">
            <a:avLst/>
          </a:prstGeom>
          <a:solidFill>
            <a:srgbClr val="CC0000"/>
          </a:solidFill>
          <a:ln/>
        </p:spPr>
      </p:sp>
      <p:sp>
        <p:nvSpPr>
          <p:cNvPr id="11" name="Text 9"/>
          <p:cNvSpPr/>
          <p:nvPr/>
        </p:nvSpPr>
        <p:spPr>
          <a:xfrm>
            <a:off x="932688" y="214884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p:nvPr/>
        </p:nvSpPr>
        <p:spPr>
          <a:xfrm>
            <a:off x="1508760" y="203911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Look  </a:t>
            </a:r>
            <a:pPr indent="0" marL="0">
              <a:buNone/>
            </a:pPr>
            <a:r>
              <a:rPr lang="en-US" sz="1300" dirty="0">
                <a:solidFill>
                  <a:srgbClr val="595959"/>
                </a:solidFill>
                <a:latin typeface="Calibri" pitchFamily="34" charset="0"/>
                <a:ea typeface="Calibri" pitchFamily="34" charset="-122"/>
                <a:cs typeface="Calibri" pitchFamily="34" charset="-120"/>
              </a:rPr>
              <a:t>Scroll, read the recent output.</a:t>
            </a:r>
            <a:endParaRPr lang="en-US" sz="1400" dirty="0"/>
          </a:p>
        </p:txBody>
      </p:sp>
      <p:sp>
        <p:nvSpPr>
          <p:cNvPr id="13" name="Shape 11"/>
          <p:cNvSpPr/>
          <p:nvPr/>
        </p:nvSpPr>
        <p:spPr>
          <a:xfrm>
            <a:off x="932688" y="3017520"/>
            <a:ext cx="411480" cy="411480"/>
          </a:xfrm>
          <a:prstGeom prst="ellipse">
            <a:avLst/>
          </a:prstGeom>
          <a:solidFill>
            <a:srgbClr val="CC0000"/>
          </a:solidFill>
          <a:ln/>
        </p:spPr>
      </p:sp>
      <p:sp>
        <p:nvSpPr>
          <p:cNvPr id="14" name="Text 12"/>
          <p:cNvSpPr/>
          <p:nvPr/>
        </p:nvSpPr>
        <p:spPr>
          <a:xfrm>
            <a:off x="932688" y="301752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508760" y="290779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Detach  </a:t>
            </a:r>
            <a:pPr indent="0" marL="0">
              <a:buNone/>
            </a:pPr>
            <a:r>
              <a:rPr lang="en-US" sz="1300" dirty="0">
                <a:solidFill>
                  <a:srgbClr val="595959"/>
                </a:solidFill>
                <a:latin typeface="Calibri" pitchFamily="34" charset="0"/>
                <a:ea typeface="Calibri" pitchFamily="34" charset="-122"/>
                <a:cs typeface="Calibri" pitchFamily="34" charset="-120"/>
              </a:rPr>
              <a:t>Ctrl-b then d  — you're back at the server prompt.</a:t>
            </a:r>
            <a:endParaRPr lang="en-US" sz="1400" dirty="0"/>
          </a:p>
        </p:txBody>
      </p:sp>
      <p:sp>
        <p:nvSpPr>
          <p:cNvPr id="16" name="Shape 14"/>
          <p:cNvSpPr/>
          <p:nvPr/>
        </p:nvSpPr>
        <p:spPr>
          <a:xfrm>
            <a:off x="932688" y="3886200"/>
            <a:ext cx="411480" cy="411480"/>
          </a:xfrm>
          <a:prstGeom prst="ellipse">
            <a:avLst/>
          </a:prstGeom>
          <a:solidFill>
            <a:srgbClr val="CC0000"/>
          </a:solidFill>
          <a:ln/>
        </p:spPr>
      </p:sp>
      <p:sp>
        <p:nvSpPr>
          <p:cNvPr id="17" name="Text 15"/>
          <p:cNvSpPr/>
          <p:nvPr/>
        </p:nvSpPr>
        <p:spPr>
          <a:xfrm>
            <a:off x="932688" y="3886200"/>
            <a:ext cx="41148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1508760" y="3776472"/>
            <a:ext cx="10040112" cy="630936"/>
          </a:xfrm>
          <a:prstGeom prst="rect">
            <a:avLst/>
          </a:prstGeom>
          <a:noFill/>
          <a:ln/>
        </p:spPr>
        <p:txBody>
          <a:bodyPr wrap="square" lIns="0" tIns="0" rIns="0" bIns="0" rtlCol="0" anchor="ctr"/>
          <a:lstStyle/>
          <a:p>
            <a:pPr indent="0" marL="0">
              <a:buNone/>
            </a:pPr>
            <a:r>
              <a:rPr lang="en-US" sz="1400" b="1" dirty="0">
                <a:solidFill>
                  <a:srgbClr val="1A1A1A"/>
                </a:solidFill>
                <a:latin typeface="Calibri" pitchFamily="34" charset="0"/>
                <a:ea typeface="Calibri" pitchFamily="34" charset="-122"/>
                <a:cs typeface="Calibri" pitchFamily="34" charset="-120"/>
              </a:rPr>
              <a:t>Walk away  </a:t>
            </a:r>
            <a:pPr indent="0" marL="0">
              <a:buNone/>
            </a:pPr>
            <a:r>
              <a:rPr lang="en-US" sz="1300" dirty="0">
                <a:solidFill>
                  <a:srgbClr val="595959"/>
                </a:solidFill>
                <a:latin typeface="Calibri" pitchFamily="34" charset="0"/>
                <a:ea typeface="Calibri" pitchFamily="34" charset="-122"/>
                <a:cs typeface="Calibri" pitchFamily="34" charset="-120"/>
              </a:rPr>
              <a:t>exit, exit — closes the SSH chain. Sessions stay alive.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Recovery: re-create flaskserver</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Accessing the Server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12</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If 'tmux attach -t flaskserver' says no session, the website is down. Bring it back:</a:t>
            </a:r>
            <a:endParaRPr lang="en-US" sz="1500" dirty="0"/>
          </a:p>
        </p:txBody>
      </p:sp>
      <p:sp>
        <p:nvSpPr>
          <p:cNvPr id="8" name="Shape 6"/>
          <p:cNvSpPr/>
          <p:nvPr/>
        </p:nvSpPr>
        <p:spPr>
          <a:xfrm>
            <a:off x="932688" y="1874520"/>
            <a:ext cx="10616184" cy="4069080"/>
          </a:xfrm>
          <a:prstGeom prst="roundRect">
            <a:avLst>
              <a:gd name="adj" fmla="val 1348"/>
            </a:avLst>
          </a:prstGeom>
          <a:solidFill>
            <a:srgbClr val="F2F2F2"/>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9" name="Text 7"/>
          <p:cNvSpPr/>
          <p:nvPr/>
        </p:nvSpPr>
        <p:spPr>
          <a:xfrm>
            <a:off x="1097280" y="1984248"/>
            <a:ext cx="10268712" cy="3849624"/>
          </a:xfrm>
          <a:prstGeom prst="rect">
            <a:avLst/>
          </a:prstGeom>
          <a:noFill/>
          <a:ln/>
        </p:spPr>
        <p:txBody>
          <a:bodyPr wrap="square" lIns="0" tIns="0" rIns="0" bIns="0" rtlCol="0" anchor="t"/>
          <a:lstStyle/>
          <a:p>
            <a:pPr algn="l" indent="0" marL="0">
              <a:buNone/>
            </a:pPr>
            <a:r>
              <a:rPr lang="en-US" sz="1250" dirty="0">
                <a:solidFill>
                  <a:srgbClr val="222222"/>
                </a:solidFill>
                <a:latin typeface="Consolas" pitchFamily="34" charset="0"/>
                <a:ea typeface="Consolas" pitchFamily="34" charset="-122"/>
                <a:cs typeface="Consolas" pitchFamily="34" charset="-120"/>
              </a:rPr>
              <a:t>tmux new -s flaskserver
cd ~/server/UNanofabTools
source venv/bin/activate
python run.py
# then detach with Ctrl-b d
</a:t>
            </a:r>
            <a:endParaRPr lang="en-US" sz="1250" dirty="0"/>
          </a:p>
        </p:txBody>
      </p:sp>
      <p:sp>
        <p:nvSpPr>
          <p:cNvPr id="10" name="Text 8"/>
          <p:cNvSpPr/>
          <p:nvPr/>
        </p:nvSpPr>
        <p:spPr>
          <a:xfrm>
            <a:off x="932688" y="6035040"/>
            <a:ext cx="10616184" cy="457200"/>
          </a:xfrm>
          <a:prstGeom prst="rect">
            <a:avLst/>
          </a:prstGeom>
          <a:noFill/>
          <a:ln/>
        </p:spPr>
        <p:txBody>
          <a:bodyPr wrap="square" lIns="0" tIns="0" rIns="0" bIns="0" rtlCol="0" anchor="t"/>
          <a:lstStyle/>
          <a:p>
            <a:pPr indent="0" marL="0">
              <a:buNone/>
            </a:pPr>
            <a:r>
              <a:rPr lang="en-US" sz="1200" i="1" dirty="0">
                <a:solidFill>
                  <a:srgbClr val="595959"/>
                </a:solidFill>
                <a:latin typeface="Calibri" pitchFamily="34" charset="0"/>
                <a:ea typeface="Calibri" pitchFamily="34" charset="-122"/>
                <a:cs typeface="Calibri" pitchFamily="34" charset="-120"/>
              </a:rPr>
              <a:t>Verify by loading nfhistory.nanofab.utah.edu in a browser.</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Recovery: re-create downloader</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Accessing the Server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13</a:t>
            </a:r>
            <a:endParaRPr lang="en-US" sz="900" dirty="0"/>
          </a:p>
        </p:txBody>
      </p:sp>
      <p:sp>
        <p:nvSpPr>
          <p:cNvPr id="7" name="Text 5"/>
          <p:cNvSpPr/>
          <p:nvPr/>
        </p:nvSpPr>
        <p:spPr>
          <a:xfrm>
            <a:off x="932688" y="1280160"/>
            <a:ext cx="10616184" cy="548640"/>
          </a:xfrm>
          <a:prstGeom prst="rect">
            <a:avLst/>
          </a:prstGeom>
          <a:noFill/>
          <a:ln/>
        </p:spPr>
        <p:txBody>
          <a:bodyPr wrap="square" lIns="0" tIns="0" rIns="0" bIns="0" rtlCol="0" anchor="t"/>
          <a:lstStyle/>
          <a:p>
            <a:pPr indent="0" marL="0">
              <a:buNone/>
            </a:pPr>
            <a:r>
              <a:rPr lang="en-US" sz="1500" dirty="0">
                <a:solidFill>
                  <a:srgbClr val="1A1A1A"/>
                </a:solidFill>
                <a:latin typeface="Calibri" pitchFamily="34" charset="0"/>
                <a:ea typeface="Calibri" pitchFamily="34" charset="-122"/>
                <a:cs typeface="Calibri" pitchFamily="34" charset="-120"/>
              </a:rPr>
              <a:t>Same idea for the data downloader:</a:t>
            </a:r>
            <a:endParaRPr lang="en-US" sz="1500" dirty="0"/>
          </a:p>
        </p:txBody>
      </p:sp>
      <p:sp>
        <p:nvSpPr>
          <p:cNvPr id="8" name="Shape 6"/>
          <p:cNvSpPr/>
          <p:nvPr/>
        </p:nvSpPr>
        <p:spPr>
          <a:xfrm>
            <a:off x="932688" y="1874520"/>
            <a:ext cx="10616184" cy="4069080"/>
          </a:xfrm>
          <a:prstGeom prst="roundRect">
            <a:avLst>
              <a:gd name="adj" fmla="val 1348"/>
            </a:avLst>
          </a:prstGeom>
          <a:solidFill>
            <a:srgbClr val="F2F2F2"/>
          </a:solidFill>
          <a:ln w="12700">
            <a:solidFill>
              <a:srgbClr val="DDDDDD"/>
            </a:solidFill>
            <a:prstDash val="solid"/>
          </a:ln>
          <a:effectLst>
            <a:outerShdw sx="100000" sy="100000" kx="0" ky="0" algn="bl" rotWithShape="0" blurRad="63500" dist="25400" dir="8100000">
              <a:srgbClr val="000000">
                <a:alpha val="12000"/>
              </a:srgbClr>
            </a:outerShdw>
          </a:effectLst>
        </p:spPr>
      </p:sp>
      <p:sp>
        <p:nvSpPr>
          <p:cNvPr id="9" name="Text 7"/>
          <p:cNvSpPr/>
          <p:nvPr/>
        </p:nvSpPr>
        <p:spPr>
          <a:xfrm>
            <a:off x="1097280" y="1984248"/>
            <a:ext cx="10268712" cy="3849624"/>
          </a:xfrm>
          <a:prstGeom prst="rect">
            <a:avLst/>
          </a:prstGeom>
          <a:noFill/>
          <a:ln/>
        </p:spPr>
        <p:txBody>
          <a:bodyPr wrap="square" lIns="0" tIns="0" rIns="0" bIns="0" rtlCol="0" anchor="t"/>
          <a:lstStyle/>
          <a:p>
            <a:pPr algn="l" indent="0" marL="0">
              <a:buNone/>
            </a:pPr>
            <a:r>
              <a:rPr lang="en-US" sz="1250" dirty="0">
                <a:solidFill>
                  <a:srgbClr val="222222"/>
                </a:solidFill>
                <a:latin typeface="Consolas" pitchFamily="34" charset="0"/>
                <a:ea typeface="Consolas" pitchFamily="34" charset="-122"/>
                <a:cs typeface="Consolas" pitchFamily="34" charset="-120"/>
              </a:rPr>
              <a:t>tmux new -s downloader
cd ~/server/UNanofabTools
source venv/bin/activate
python3 HSCDownloader.py
# then detach with Ctrl-b d
</a:t>
            </a:r>
            <a:endParaRPr lang="en-US" sz="1250" dirty="0"/>
          </a:p>
        </p:txBody>
      </p:sp>
      <p:sp>
        <p:nvSpPr>
          <p:cNvPr id="10" name="Text 8"/>
          <p:cNvSpPr/>
          <p:nvPr/>
        </p:nvSpPr>
        <p:spPr>
          <a:xfrm>
            <a:off x="932688" y="6035040"/>
            <a:ext cx="10616184" cy="457200"/>
          </a:xfrm>
          <a:prstGeom prst="rect">
            <a:avLst/>
          </a:prstGeom>
          <a:noFill/>
          <a:ln/>
        </p:spPr>
        <p:txBody>
          <a:bodyPr wrap="square" lIns="0" tIns="0" rIns="0" bIns="0" rtlCol="0" anchor="t"/>
          <a:lstStyle/>
          <a:p>
            <a:pPr indent="0" marL="0">
              <a:buNone/>
            </a:pPr>
            <a:r>
              <a:rPr lang="en-US" sz="1200" i="1" dirty="0">
                <a:solidFill>
                  <a:srgbClr val="595959"/>
                </a:solidFill>
                <a:latin typeface="Calibri" pitchFamily="34" charset="0"/>
                <a:ea typeface="Calibri" pitchFamily="34" charset="-122"/>
                <a:cs typeface="Calibri" pitchFamily="34" charset="-120"/>
              </a:rPr>
              <a:t>Verify by watching fresh CSVs appear in ~/server/UNanofabTools/HSCDATA.</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Who does what (Nanofab side)</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Accessing the Server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14</a:t>
            </a:r>
            <a:endParaRPr lang="en-US" sz="900" dirty="0"/>
          </a:p>
        </p:txBody>
      </p:sp>
      <p:sp>
        <p:nvSpPr>
          <p:cNvPr id="7" name="Text 5"/>
          <p:cNvSpPr/>
          <p:nvPr/>
        </p:nvSpPr>
        <p:spPr>
          <a:xfrm>
            <a:off x="640080" y="1325880"/>
            <a:ext cx="5225796" cy="411480"/>
          </a:xfrm>
          <a:prstGeom prst="rect">
            <a:avLst/>
          </a:prstGeom>
          <a:noFill/>
          <a:ln/>
        </p:spPr>
        <p:txBody>
          <a:bodyPr wrap="square" lIns="0" tIns="0" rIns="0" bIns="0" rtlCol="0" anchor="ctr"/>
          <a:lstStyle/>
          <a:p>
            <a:pPr indent="0" marL="0">
              <a:buNone/>
            </a:pPr>
            <a:r>
              <a:rPr lang="en-US" sz="1600" b="1" dirty="0">
                <a:solidFill>
                  <a:srgbClr val="CC0000"/>
                </a:solidFill>
                <a:latin typeface="Georgia" pitchFamily="34" charset="0"/>
                <a:ea typeface="Georgia" pitchFamily="34" charset="-122"/>
                <a:cs typeface="Georgia" pitchFamily="34" charset="-120"/>
              </a:rPr>
              <a:t>User</a:t>
            </a:r>
            <a:endParaRPr lang="en-US" sz="1600" dirty="0"/>
          </a:p>
        </p:txBody>
      </p:sp>
      <p:sp>
        <p:nvSpPr>
          <p:cNvPr id="8" name="Text 6"/>
          <p:cNvSpPr/>
          <p:nvPr/>
        </p:nvSpPr>
        <p:spPr>
          <a:xfrm>
            <a:off x="640080" y="1783080"/>
            <a:ext cx="5225796" cy="45262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Sign up for CADE (usertools.eng.utah.edu).</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Generate your own CADE key.</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Receive nfhistory key from admin.</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Place ~/.ssh/config on CADE.</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Attach, look, detach with Ctrl-b d.</a:t>
            </a:r>
            <a:endParaRPr lang="en-US" sz="1350" dirty="0"/>
          </a:p>
        </p:txBody>
      </p:sp>
      <p:sp>
        <p:nvSpPr>
          <p:cNvPr id="9" name="Text 7"/>
          <p:cNvSpPr/>
          <p:nvPr/>
        </p:nvSpPr>
        <p:spPr>
          <a:xfrm>
            <a:off x="6323076" y="1325880"/>
            <a:ext cx="5225796" cy="411480"/>
          </a:xfrm>
          <a:prstGeom prst="rect">
            <a:avLst/>
          </a:prstGeom>
          <a:noFill/>
          <a:ln/>
        </p:spPr>
        <p:txBody>
          <a:bodyPr wrap="square" lIns="0" tIns="0" rIns="0" bIns="0" rtlCol="0" anchor="ctr"/>
          <a:lstStyle/>
          <a:p>
            <a:pPr indent="0" marL="0">
              <a:buNone/>
            </a:pPr>
            <a:r>
              <a:rPr lang="en-US" sz="1600" b="1" dirty="0">
                <a:solidFill>
                  <a:srgbClr val="CC0000"/>
                </a:solidFill>
                <a:latin typeface="Georgia" pitchFamily="34" charset="0"/>
                <a:ea typeface="Georgia" pitchFamily="34" charset="-122"/>
                <a:cs typeface="Georgia" pitchFamily="34" charset="-120"/>
              </a:rPr>
              <a:t>Nanofab admin (sudo, not root)</a:t>
            </a:r>
            <a:endParaRPr lang="en-US" sz="1600" dirty="0"/>
          </a:p>
        </p:txBody>
      </p:sp>
      <p:sp>
        <p:nvSpPr>
          <p:cNvPr id="10" name="Text 8"/>
          <p:cNvSpPr/>
          <p:nvPr/>
        </p:nvSpPr>
        <p:spPr>
          <a:xfrm>
            <a:off x="6323076" y="1783080"/>
            <a:ext cx="5225796" cy="45262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Generate nfhistory key pair per user.</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Install public half in /home/phelan/.ssh/authorized_keys.</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Deliver private half + config block securely.</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Recreate killed sessions per the runbook.</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Remove keys when a user separates.</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What goes through IT instead</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Accessing the Server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15</a:t>
            </a:r>
            <a:endParaRPr lang="en-US" sz="900" dirty="0"/>
          </a:p>
        </p:txBody>
      </p:sp>
      <p:sp>
        <p:nvSpPr>
          <p:cNvPr id="7" name="Text 5"/>
          <p:cNvSpPr/>
          <p:nvPr/>
        </p:nvSpPr>
        <p:spPr>
          <a:xfrm>
            <a:off x="640080" y="1325880"/>
            <a:ext cx="5225796" cy="411480"/>
          </a:xfrm>
          <a:prstGeom prst="rect">
            <a:avLst/>
          </a:prstGeom>
          <a:noFill/>
          <a:ln/>
        </p:spPr>
        <p:txBody>
          <a:bodyPr wrap="square" lIns="0" tIns="0" rIns="0" bIns="0" rtlCol="0" anchor="ctr"/>
          <a:lstStyle/>
          <a:p>
            <a:pPr indent="0" marL="0">
              <a:buNone/>
            </a:pPr>
            <a:r>
              <a:rPr lang="en-US" sz="1600" b="1" dirty="0">
                <a:solidFill>
                  <a:srgbClr val="CC0000"/>
                </a:solidFill>
                <a:latin typeface="Georgia" pitchFamily="34" charset="0"/>
                <a:ea typeface="Georgia" pitchFamily="34" charset="-122"/>
                <a:cs typeface="Georgia" pitchFamily="34" charset="-120"/>
              </a:rPr>
              <a:t>Nanofab admin CAN'T do</a:t>
            </a:r>
            <a:endParaRPr lang="en-US" sz="1600" dirty="0"/>
          </a:p>
        </p:txBody>
      </p:sp>
      <p:sp>
        <p:nvSpPr>
          <p:cNvPr id="8" name="Text 6"/>
          <p:cNvSpPr/>
          <p:nvPr/>
        </p:nvSpPr>
        <p:spPr>
          <a:xfrm>
            <a:off x="640080" y="1783080"/>
            <a:ext cx="5225796" cy="45262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Create new UNIX accounts on nfhistory.</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Modify anything under /root/.</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Operate the VM-level backup.</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Apply unattended OS-level patches.</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Rebuild the VM from scratch.</a:t>
            </a:r>
            <a:endParaRPr lang="en-US" sz="1350" dirty="0"/>
          </a:p>
        </p:txBody>
      </p:sp>
      <p:sp>
        <p:nvSpPr>
          <p:cNvPr id="9" name="Text 7"/>
          <p:cNvSpPr/>
          <p:nvPr/>
        </p:nvSpPr>
        <p:spPr>
          <a:xfrm>
            <a:off x="6323076" y="1325880"/>
            <a:ext cx="5225796" cy="411480"/>
          </a:xfrm>
          <a:prstGeom prst="rect">
            <a:avLst/>
          </a:prstGeom>
          <a:noFill/>
          <a:ln/>
        </p:spPr>
        <p:txBody>
          <a:bodyPr wrap="square" lIns="0" tIns="0" rIns="0" bIns="0" rtlCol="0" anchor="ctr"/>
          <a:lstStyle/>
          <a:p>
            <a:pPr indent="0" marL="0">
              <a:buNone/>
            </a:pPr>
            <a:r>
              <a:rPr lang="en-US" sz="1600" b="1" dirty="0">
                <a:solidFill>
                  <a:srgbClr val="CC0000"/>
                </a:solidFill>
                <a:latin typeface="Georgia" pitchFamily="34" charset="0"/>
                <a:ea typeface="Georgia" pitchFamily="34" charset="-122"/>
                <a:cs typeface="Georgia" pitchFamily="34" charset="-120"/>
              </a:rPr>
              <a:t>Ask University IT instead</a:t>
            </a:r>
            <a:endParaRPr lang="en-US" sz="1600" dirty="0"/>
          </a:p>
        </p:txBody>
      </p:sp>
      <p:sp>
        <p:nvSpPr>
          <p:cNvPr id="10" name="Text 8"/>
          <p:cNvSpPr/>
          <p:nvPr/>
        </p:nvSpPr>
        <p:spPr>
          <a:xfrm>
            <a:off x="6323076" y="1783080"/>
            <a:ext cx="5225796" cy="4526280"/>
          </a:xfrm>
          <a:prstGeom prst="rect">
            <a:avLst/>
          </a:prstGeom>
          <a:noFill/>
          <a:ln/>
        </p:spPr>
        <p:txBody>
          <a:bodyPr wrap="square" lIns="0" tIns="0" rIns="0" bIns="0" rtlCol="0" anchor="t"/>
          <a:lstStyle/>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Per-person UNIX accounts → IT ticket.</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Tighten /root/.ssh/authorized_keys mode → IT ticket.</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Confirm backup scope + restore → IT ticket.</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Configure auto-patching on the VM → IT ticket.</a:t>
            </a:r>
            <a:endParaRPr lang="en-US" sz="1350" dirty="0"/>
          </a:p>
          <a:p>
            <a:pPr marL="203200" indent="-203200">
              <a:spcAft>
                <a:spcPts val="800"/>
              </a:spcAft>
              <a:buSzPct val="100000"/>
              <a:buChar char="•"/>
            </a:pPr>
            <a:r>
              <a:rPr lang="en-US" sz="1350" dirty="0">
                <a:solidFill>
                  <a:srgbClr val="1A1A1A"/>
                </a:solidFill>
                <a:latin typeface="Calibri" pitchFamily="34" charset="0"/>
                <a:ea typeface="Calibri" pitchFamily="34" charset="-122"/>
                <a:cs typeface="Calibri" pitchFamily="34" charset="-120"/>
              </a:rPr>
              <a:t>Restore from backup after a loss → IT ticket.</a:t>
            </a:r>
            <a:endParaRPr lang="en-US" sz="13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Common confusions (and quick fixes)</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Accessing the Server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16</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'My CADE name vs server name' — server user is ALWAYS 'phelan'. Not yours.</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'Which lab1-X?' — any of them. They're identical.</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'Closed my laptop, the site went down' — you didn't detach. Use Ctrl-b d.</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'ssh nfhistory' said host not found — you have to be on CADE first.</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'Permission denied' on hop 2 — key not at the IdentityFile path, or User isn't phelan.</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640080" y="502920"/>
            <a:ext cx="164592" cy="329184"/>
          </a:xfrm>
          <a:prstGeom prst="rect">
            <a:avLst/>
          </a:prstGeom>
          <a:solidFill>
            <a:srgbClr val="CC0000"/>
          </a:solidFill>
          <a:ln/>
        </p:spPr>
      </p:sp>
      <p:sp>
        <p:nvSpPr>
          <p:cNvPr id="3" name="Text 1"/>
          <p:cNvSpPr/>
          <p:nvPr/>
        </p:nvSpPr>
        <p:spPr>
          <a:xfrm>
            <a:off x="932688" y="384048"/>
            <a:ext cx="10616184" cy="640080"/>
          </a:xfrm>
          <a:prstGeom prst="rect">
            <a:avLst/>
          </a:prstGeom>
          <a:noFill/>
          <a:ln/>
        </p:spPr>
        <p:txBody>
          <a:bodyPr wrap="square" lIns="0" tIns="0" rIns="0" bIns="0" rtlCol="0" anchor="ctr"/>
          <a:lstStyle/>
          <a:p>
            <a:pPr algn="l" indent="0" marL="0">
              <a:buNone/>
            </a:pPr>
            <a:r>
              <a:rPr lang="en-US" sz="2600" b="1" dirty="0">
                <a:solidFill>
                  <a:srgbClr val="1A1A1A"/>
                </a:solidFill>
                <a:latin typeface="Georgia" pitchFamily="34" charset="0"/>
                <a:ea typeface="Georgia" pitchFamily="34" charset="-122"/>
                <a:cs typeface="Georgia" pitchFamily="34" charset="-120"/>
              </a:rPr>
              <a:t>Recap</a:t>
            </a:r>
            <a:endParaRPr lang="en-US" sz="2600" dirty="0"/>
          </a:p>
        </p:txBody>
      </p:sp>
      <p:sp>
        <p:nvSpPr>
          <p:cNvPr id="4" name="Shape 2"/>
          <p:cNvSpPr/>
          <p:nvPr/>
        </p:nvSpPr>
        <p:spPr>
          <a:xfrm>
            <a:off x="0" y="6565392"/>
            <a:ext cx="12188952" cy="292608"/>
          </a:xfrm>
          <a:prstGeom prst="rect">
            <a:avLst/>
          </a:prstGeom>
          <a:solidFill>
            <a:srgbClr val="CC0000"/>
          </a:solidFill>
          <a:ln/>
        </p:spPr>
      </p:sp>
      <p:sp>
        <p:nvSpPr>
          <p:cNvPr id="5" name="Text 3"/>
          <p:cNvSpPr/>
          <p:nvPr/>
        </p:nvSpPr>
        <p:spPr>
          <a:xfrm>
            <a:off x="640080" y="6565392"/>
            <a:ext cx="7315200" cy="292608"/>
          </a:xfrm>
          <a:prstGeom prst="rect">
            <a:avLst/>
          </a:prstGeom>
          <a:noFill/>
          <a:ln/>
        </p:spPr>
        <p:txBody>
          <a:bodyPr wrap="square" lIns="0" tIns="0" rIns="0" bIns="0" rtlCol="0" anchor="ctr"/>
          <a:lstStyle/>
          <a:p>
            <a:pPr algn="l" indent="0" marL="0">
              <a:buNone/>
            </a:pPr>
            <a:r>
              <a:rPr lang="en-US" sz="900" dirty="0">
                <a:solidFill>
                  <a:srgbClr val="FFFFFF"/>
                </a:solidFill>
                <a:latin typeface="Calibri" pitchFamily="34" charset="0"/>
                <a:ea typeface="Calibri" pitchFamily="34" charset="-122"/>
                <a:cs typeface="Calibri" pitchFamily="34" charset="-120"/>
              </a:rPr>
              <a:t>UNanofabTools — Accessing the Server</a:t>
            </a:r>
            <a:endParaRPr lang="en-US" sz="900" dirty="0"/>
          </a:p>
        </p:txBody>
      </p:sp>
      <p:sp>
        <p:nvSpPr>
          <p:cNvPr id="6" name="Text 4"/>
          <p:cNvSpPr/>
          <p:nvPr/>
        </p:nvSpPr>
        <p:spPr>
          <a:xfrm>
            <a:off x="11091672" y="6565392"/>
            <a:ext cx="457200" cy="292608"/>
          </a:xfrm>
          <a:prstGeom prst="rect">
            <a:avLst/>
          </a:prstGeom>
          <a:noFill/>
          <a:ln/>
        </p:spPr>
        <p:txBody>
          <a:bodyPr wrap="square" lIns="0" tIns="0" rIns="0" bIns="0" rtlCol="0" anchor="ctr"/>
          <a:lstStyle/>
          <a:p>
            <a:pPr algn="r" indent="0" marL="0">
              <a:buNone/>
            </a:pPr>
            <a:r>
              <a:rPr lang="en-US" sz="900" dirty="0">
                <a:solidFill>
                  <a:srgbClr val="FFFFFF"/>
                </a:solidFill>
                <a:latin typeface="Calibri" pitchFamily="34" charset="0"/>
                <a:ea typeface="Calibri" pitchFamily="34" charset="-122"/>
                <a:cs typeface="Calibri" pitchFamily="34" charset="-120"/>
              </a:rPr>
              <a:t>17</a:t>
            </a:r>
            <a:endParaRPr lang="en-US" sz="900" dirty="0"/>
          </a:p>
        </p:txBody>
      </p:sp>
      <p:sp>
        <p:nvSpPr>
          <p:cNvPr id="7" name="Text 5"/>
          <p:cNvSpPr/>
          <p:nvPr/>
        </p:nvSpPr>
        <p:spPr>
          <a:xfrm>
            <a:off x="932688" y="1280160"/>
            <a:ext cx="10616184" cy="5029200"/>
          </a:xfrm>
          <a:prstGeom prst="rect">
            <a:avLst/>
          </a:prstGeom>
          <a:noFill/>
          <a:ln/>
        </p:spPr>
        <p:txBody>
          <a:bodyPr wrap="square" lIns="0" tIns="0" rIns="0" bIns="0" rtlCol="0" anchor="t"/>
          <a:lstStyle/>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Two hops: laptop → CADE → nfhistory.</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Server account is shared as 'phelan' — not your name.</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Two tmux sessions: flaskserver (website), downloader (data ETL).</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Detach with Ctrl-b d. Never exit. Never Ctrl-c.</a:t>
            </a:r>
            <a:endParaRPr lang="en-US" sz="1500" dirty="0"/>
          </a:p>
          <a:p>
            <a:pPr marL="228600" indent="-228600">
              <a:spcAft>
                <a:spcPts val="1000"/>
              </a:spcAft>
              <a:buSzPct val="100000"/>
              <a:buChar char="•"/>
            </a:pPr>
            <a:r>
              <a:rPr lang="en-US" sz="1500" dirty="0">
                <a:solidFill>
                  <a:srgbClr val="1A1A1A"/>
                </a:solidFill>
                <a:latin typeface="Calibri" pitchFamily="34" charset="0"/>
                <a:ea typeface="Calibri" pitchFamily="34" charset="-122"/>
                <a:cs typeface="Calibri" pitchFamily="34" charset="-120"/>
              </a:rPr>
              <a:t>If a session is gone, recreate it with tmux new + cd + venv + run + detach.</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Accessing the Server</dc:title>
  <dc:subject>PptxGenJS Presentation</dc:subject>
  <dc:creator>Faith</dc:creator>
  <cp:lastModifiedBy>Faith</cp:lastModifiedBy>
  <cp:revision>1</cp:revision>
  <dcterms:created xsi:type="dcterms:W3CDTF">2026-06-01T18:36:22Z</dcterms:created>
  <dcterms:modified xsi:type="dcterms:W3CDTF">2026-06-01T18:36:22Z</dcterms:modified>
</cp:coreProperties>
</file>