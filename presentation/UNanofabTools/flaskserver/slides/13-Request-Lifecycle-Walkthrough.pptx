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ties the series together by following individual requests from start to finish. We'll trace three: a person opening a page, a sensor uploading a reading, and a chemical-inventory page load. The point is to show that everything we've discussed is just variations on one pipeline. It's the 'aha, it all connects'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session. Every request, whatever its source, flows the same way: it arrives encrypted, nginx decrypts and forwards it, Flask matches the address to a handler, any permission checks run, the handler does its work — usually touching a database or files — and builds a response, which travels back out through nginx, re-encrypted. The only thing that differs between requests is what the handler does in the middle. Hold this diagram in mind for the three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example, the human path. You request the tasks page. The login check runs first; if you're not authenticated you're sent to the login page, otherwise it proceeds. The handler pulls the three task lists from the tasks database, hands them to a template that produces the HTML page, and that page goes back to your browser. This is the typical shape of every logged-in web page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example, the machine path — same pipeline, no login. A Pi posts a reading; because it's a device endpoint there's no authentication step. The handler validates the required fields, writes the reading to the sensor's CSV history and updates the latest-reading row in the database, then replies success. Notice it's the identical pipeline as the web page — arrive, route, (skip permission), do work, respond — just with different work in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example shows the only real variation: the data source. The inventory page talks to PostgreSQL instead of the small SQLite files, using a reusable pooled connection so it's fast. It runs the search query, optionally narrowed by what you typed in the search box, and renders the matching containers as a sortable table. Same pipeline again; the difference is just which datastore the handler reaches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the lesson home: across a human page load, a sensor upload, and a PostgreSQL-backed page, the plumbing is identical and only the middle step changes. That's not an accident — it's why adding a feature is usually just 'add an address and a handler.' The plumbing is already there and you don't touch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three traces in one grid so the pattern is unmistakable. Every column starts encrypted and ends with a response; the only rows that differ are whether there's a login check and which datastore the handler touches. Reading across, you can see the pipeline is identical and only the middle changes. This single table is arguably the whole point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permission step in the pipeline a bit more. Certain routes are wrapped with guards — small checkpoints that run before the main handler. The usual ones ask 'are you logged in?' and 'are you an admin?'. If a check fails, the request is redirected or refused before any real work happens. The device endpoints and (currently) the inventory routes have no such guard, which is exactly the gap the security session flags. Seeing where the check sits in the pipeline makes that gap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little operational depth for completeness. Between the network and our code sit two pieces: nginx, which handles encryption and forwarding, and a 'WSGI server' like gunicorn that runs several copies (workers) of our app so multiple requests can be served at once. Each request is handled completely by one worker. Users never see this layer; it's the machinery that makes the server responsive and resilient. A maintainer should know it's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response carries one of these codes — the server's terse verdict. 200 is success. 302 sends the browser elsewhere, which is how 'please log in first' works. 400 means the request was malformed (a sensor missing a field). 403 is a refusal, like the download path-guard saying no. 404 means not found. 500 means our code hit an error. Knowing these six makes reading logs and diagnosing problems far easier, so it's worth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most common performance question. The fixed parts of the pipeline — moving bytes, decrypting, matching the address, running guards — are fast and predictable. The part that varies is the handler's work: a database query or a file read. So when a page feels slow, the culprit is almost always there, not the framework or the network. That single insight saves a lot of troubleshooting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two useful conclusions. First, for troubleshooting: network and routing are fast and uniform, so when a page feels slow, suspect the handler's database query or file access, not the framework. Second, for development: new features slot into the existing pipeline as a new address plus a handler. Next session consolidates everything we've implied about security into one clear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PART 13</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The Life of a Request</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What happens, step by step, when something asks the server for something.</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universal pipeline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Every request — no matter the source — follows this path:</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client</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nginx (decrypts)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Flask (matches the address)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[permission checks, if any]</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the handler does the work</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talks to a database or files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builds a response</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nginx (re-encrypts) ◄── response</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Page, sensor upload, or inventory load — same pipeline, different handler.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Example 1 — a person opens the tasks page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Request arrives  </a:t>
            </a:r>
            <a:pPr indent="0" marL="0">
              <a:buNone/>
            </a:pPr>
            <a:r>
              <a:rPr lang="en-US" sz="1300" dirty="0">
                <a:solidFill>
                  <a:srgbClr val="595959"/>
                </a:solidFill>
                <a:latin typeface="Calibri" pitchFamily="34" charset="0"/>
                <a:ea typeface="Calibri" pitchFamily="34" charset="-122"/>
                <a:cs typeface="Calibri" pitchFamily="34" charset="-120"/>
              </a:rPr>
              <a:t>browser asks for /tasks over the encrypted connection.</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Logged-in check  </a:t>
            </a:r>
            <a:pPr indent="0" marL="0">
              <a:buNone/>
            </a:pPr>
            <a:r>
              <a:rPr lang="en-US" sz="1300" dirty="0">
                <a:solidFill>
                  <a:srgbClr val="595959"/>
                </a:solidFill>
                <a:latin typeface="Calibri" pitchFamily="34" charset="0"/>
                <a:ea typeface="Calibri" pitchFamily="34" charset="-122"/>
                <a:cs typeface="Calibri" pitchFamily="34" charset="-120"/>
              </a:rPr>
              <a:t>not logged in → redirect to login; logged in → continue.</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Handler gathers data  </a:t>
            </a:r>
            <a:pPr indent="0" marL="0">
              <a:buNone/>
            </a:pPr>
            <a:r>
              <a:rPr lang="en-US" sz="1300" dirty="0">
                <a:solidFill>
                  <a:srgbClr val="595959"/>
                </a:solidFill>
                <a:latin typeface="Calibri" pitchFamily="34" charset="0"/>
                <a:ea typeface="Calibri" pitchFamily="34" charset="-122"/>
                <a:cs typeface="Calibri" pitchFamily="34" charset="-120"/>
              </a:rPr>
              <a:t>your tasks, unfinished tasks, all tasks.</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Page is built  </a:t>
            </a:r>
            <a:pPr indent="0" marL="0">
              <a:buNone/>
            </a:pPr>
            <a:r>
              <a:rPr lang="en-US" sz="1300" dirty="0">
                <a:solidFill>
                  <a:srgbClr val="595959"/>
                </a:solidFill>
                <a:latin typeface="Calibri" pitchFamily="34" charset="0"/>
                <a:ea typeface="Calibri" pitchFamily="34" charset="-122"/>
                <a:cs typeface="Calibri" pitchFamily="34" charset="-120"/>
              </a:rPr>
              <a:t>the template fills in the data as HTML.</a:t>
            </a:r>
            <a:endParaRPr lang="en-US" sz="1400" dirty="0"/>
          </a:p>
        </p:txBody>
      </p:sp>
      <p:sp>
        <p:nvSpPr>
          <p:cNvPr id="19" name="Shape 17"/>
          <p:cNvSpPr/>
          <p:nvPr/>
        </p:nvSpPr>
        <p:spPr>
          <a:xfrm>
            <a:off x="932688" y="4754880"/>
            <a:ext cx="411480" cy="411480"/>
          </a:xfrm>
          <a:prstGeom prst="ellipse">
            <a:avLst/>
          </a:prstGeom>
          <a:solidFill>
            <a:srgbClr val="CC0000"/>
          </a:solidFill>
          <a:ln/>
        </p:spPr>
      </p:sp>
      <p:sp>
        <p:nvSpPr>
          <p:cNvPr id="20" name="Text 18"/>
          <p:cNvSpPr/>
          <p:nvPr/>
        </p:nvSpPr>
        <p:spPr>
          <a:xfrm>
            <a:off x="932688" y="47548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p:nvPr/>
        </p:nvSpPr>
        <p:spPr>
          <a:xfrm>
            <a:off x="1508760" y="46451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Response returns  </a:t>
            </a:r>
            <a:pPr indent="0" marL="0">
              <a:buNone/>
            </a:pPr>
            <a:r>
              <a:rPr lang="en-US" sz="1300" dirty="0">
                <a:solidFill>
                  <a:srgbClr val="595959"/>
                </a:solidFill>
                <a:latin typeface="Calibri" pitchFamily="34" charset="0"/>
                <a:ea typeface="Calibri" pitchFamily="34" charset="-122"/>
                <a:cs typeface="Calibri" pitchFamily="34" charset="-120"/>
              </a:rPr>
              <a:t>the browser draws the tasks page.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Example 2 — a sensor uploads a reading</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Request arrives  </a:t>
            </a:r>
            <a:pPr indent="0" marL="0">
              <a:buNone/>
            </a:pPr>
            <a:r>
              <a:rPr lang="en-US" sz="1300" dirty="0">
                <a:solidFill>
                  <a:srgbClr val="595959"/>
                </a:solidFill>
                <a:latin typeface="Calibri" pitchFamily="34" charset="0"/>
                <a:ea typeface="Calibri" pitchFamily="34" charset="-122"/>
                <a:cs typeface="Calibri" pitchFamily="34" charset="-120"/>
              </a:rPr>
              <a:t>a Pi posts JSON to /particle-data.</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No login check  </a:t>
            </a:r>
            <a:pPr indent="0" marL="0">
              <a:buNone/>
            </a:pPr>
            <a:r>
              <a:rPr lang="en-US" sz="1300" dirty="0">
                <a:solidFill>
                  <a:srgbClr val="595959"/>
                </a:solidFill>
                <a:latin typeface="Calibri" pitchFamily="34" charset="0"/>
                <a:ea typeface="Calibri" pitchFamily="34" charset="-122"/>
                <a:cs typeface="Calibri" pitchFamily="34" charset="-120"/>
              </a:rPr>
              <a:t>device endpoints are open on the private network.</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Validate the data  </a:t>
            </a:r>
            <a:pPr indent="0" marL="0">
              <a:buNone/>
            </a:pPr>
            <a:r>
              <a:rPr lang="en-US" sz="1300" dirty="0">
                <a:solidFill>
                  <a:srgbClr val="595959"/>
                </a:solidFill>
                <a:latin typeface="Calibri" pitchFamily="34" charset="0"/>
                <a:ea typeface="Calibri" pitchFamily="34" charset="-122"/>
                <a:cs typeface="Calibri" pitchFamily="34" charset="-120"/>
              </a:rPr>
              <a:t>confirm the required fields are present.</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Store it  </a:t>
            </a:r>
            <a:pPr indent="0" marL="0">
              <a:buNone/>
            </a:pPr>
            <a:r>
              <a:rPr lang="en-US" sz="1300" dirty="0">
                <a:solidFill>
                  <a:srgbClr val="595959"/>
                </a:solidFill>
                <a:latin typeface="Calibri" pitchFamily="34" charset="0"/>
                <a:ea typeface="Calibri" pitchFamily="34" charset="-122"/>
                <a:cs typeface="Calibri" pitchFamily="34" charset="-120"/>
              </a:rPr>
              <a:t>append to the CSV history and update the latest snapshot.</a:t>
            </a:r>
            <a:endParaRPr lang="en-US" sz="1400" dirty="0"/>
          </a:p>
        </p:txBody>
      </p:sp>
      <p:sp>
        <p:nvSpPr>
          <p:cNvPr id="19" name="Shape 17"/>
          <p:cNvSpPr/>
          <p:nvPr/>
        </p:nvSpPr>
        <p:spPr>
          <a:xfrm>
            <a:off x="932688" y="4754880"/>
            <a:ext cx="411480" cy="411480"/>
          </a:xfrm>
          <a:prstGeom prst="ellipse">
            <a:avLst/>
          </a:prstGeom>
          <a:solidFill>
            <a:srgbClr val="CC0000"/>
          </a:solidFill>
          <a:ln/>
        </p:spPr>
      </p:sp>
      <p:sp>
        <p:nvSpPr>
          <p:cNvPr id="20" name="Text 18"/>
          <p:cNvSpPr/>
          <p:nvPr/>
        </p:nvSpPr>
        <p:spPr>
          <a:xfrm>
            <a:off x="932688" y="47548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p:nvPr/>
        </p:nvSpPr>
        <p:spPr>
          <a:xfrm>
            <a:off x="1508760" y="46451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Acknowledge  </a:t>
            </a:r>
            <a:pPr indent="0" marL="0">
              <a:buNone/>
            </a:pPr>
            <a:r>
              <a:rPr lang="en-US" sz="1300" dirty="0">
                <a:solidFill>
                  <a:srgbClr val="595959"/>
                </a:solidFill>
                <a:latin typeface="Calibri" pitchFamily="34" charset="0"/>
                <a:ea typeface="Calibri" pitchFamily="34" charset="-122"/>
                <a:cs typeface="Calibri" pitchFamily="34" charset="-120"/>
              </a:rPr>
              <a:t>reply success so the Pi can move 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Example 3 — the inventory page loads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Request arrives  </a:t>
            </a:r>
            <a:pPr indent="0" marL="0">
              <a:buNone/>
            </a:pPr>
            <a:r>
              <a:rPr lang="en-US" sz="1300" dirty="0">
                <a:solidFill>
                  <a:srgbClr val="595959"/>
                </a:solidFill>
                <a:latin typeface="Calibri" pitchFamily="34" charset="0"/>
                <a:ea typeface="Calibri" pitchFamily="34" charset="-122"/>
                <a:cs typeface="Calibri" pitchFamily="34" charset="-120"/>
              </a:rPr>
              <a:t>browser asks for /chem/inventory.</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Connect to PostgreSQL  </a:t>
            </a:r>
            <a:pPr indent="0" marL="0">
              <a:buNone/>
            </a:pPr>
            <a:r>
              <a:rPr lang="en-US" sz="1300" dirty="0">
                <a:solidFill>
                  <a:srgbClr val="595959"/>
                </a:solidFill>
                <a:latin typeface="Calibri" pitchFamily="34" charset="0"/>
                <a:ea typeface="Calibri" pitchFamily="34" charset="-122"/>
                <a:cs typeface="Calibri" pitchFamily="34" charset="-120"/>
              </a:rPr>
              <a:t>reuse a pooled connection to the chem database.</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Search the containers  </a:t>
            </a:r>
            <a:pPr indent="0" marL="0">
              <a:buNone/>
            </a:pPr>
            <a:r>
              <a:rPr lang="en-US" sz="1300" dirty="0">
                <a:solidFill>
                  <a:srgbClr val="595959"/>
                </a:solidFill>
                <a:latin typeface="Calibri" pitchFamily="34" charset="0"/>
                <a:ea typeface="Calibri" pitchFamily="34" charset="-122"/>
                <a:cs typeface="Calibri" pitchFamily="34" charset="-120"/>
              </a:rPr>
              <a:t>run the query, optionally filtered by a search box.</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Build the page  </a:t>
            </a:r>
            <a:pPr indent="0" marL="0">
              <a:buNone/>
            </a:pPr>
            <a:r>
              <a:rPr lang="en-US" sz="1300" dirty="0">
                <a:solidFill>
                  <a:srgbClr val="595959"/>
                </a:solidFill>
                <a:latin typeface="Calibri" pitchFamily="34" charset="0"/>
                <a:ea typeface="Calibri" pitchFamily="34" charset="-122"/>
                <a:cs typeface="Calibri" pitchFamily="34" charset="-120"/>
              </a:rPr>
              <a:t>render the results as a sortable table.</a:t>
            </a:r>
            <a:endParaRPr lang="en-US" sz="1400" dirty="0"/>
          </a:p>
        </p:txBody>
      </p:sp>
      <p:sp>
        <p:nvSpPr>
          <p:cNvPr id="19" name="Shape 17"/>
          <p:cNvSpPr/>
          <p:nvPr/>
        </p:nvSpPr>
        <p:spPr>
          <a:xfrm>
            <a:off x="932688" y="4754880"/>
            <a:ext cx="411480" cy="411480"/>
          </a:xfrm>
          <a:prstGeom prst="ellipse">
            <a:avLst/>
          </a:prstGeom>
          <a:solidFill>
            <a:srgbClr val="CC0000"/>
          </a:solidFill>
          <a:ln/>
        </p:spPr>
      </p:sp>
      <p:sp>
        <p:nvSpPr>
          <p:cNvPr id="20" name="Text 18"/>
          <p:cNvSpPr/>
          <p:nvPr/>
        </p:nvSpPr>
        <p:spPr>
          <a:xfrm>
            <a:off x="932688" y="47548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p:nvPr/>
        </p:nvSpPr>
        <p:spPr>
          <a:xfrm>
            <a:off x="1508760" y="46451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Response returns  </a:t>
            </a:r>
            <a:pPr indent="0" marL="0">
              <a:buNone/>
            </a:pPr>
            <a:r>
              <a:rPr lang="en-US" sz="1300" dirty="0">
                <a:solidFill>
                  <a:srgbClr val="595959"/>
                </a:solidFill>
                <a:latin typeface="Calibri" pitchFamily="34" charset="0"/>
                <a:ea typeface="Calibri" pitchFamily="34" charset="-122"/>
                <a:cs typeface="Calibri" pitchFamily="34" charset="-120"/>
              </a:rPr>
              <a:t>the inventory appears in the browser.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What's the same every time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Arrive encrypted → nginx decrypts → Flask routes → (permissions) → handler → datastore → response.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Only the handler's work differs between requests.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Encryption and routing are handled the same way for all of them.</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That uniformity is what makes the system easy to extend.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three examples, side by side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2377440"/>
                <a:gridCol w="2834640"/>
                <a:gridCol w="3017520"/>
                <a:gridCol w="265176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Step</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Tasks page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Sensor upload</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Inventory page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Encrypted 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Login check</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no (currently)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Does work 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tasks DB</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CSV + sensor DB</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PostgreSQL</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Sends back</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an HTML page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 confirmation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an HTML table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Decorators: the checkpoints before a handler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Some routes have 'guards' that run before the handler itself.</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'Logged in?' and 'admin?' are the common ones.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They can redirect or reject a request before any work happens.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Device and inventory routes simply have no such guard today.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Behind the scenes: nginx and the WSGI server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nginx receives the encrypted request and forwards a plain one locally.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'WSGI server' (e.g. gunicorn) runs several copies of the app to handle load.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request is handled start-to-finish by one worker.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You don't see any of this — it just makes the app fast and reliable.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Status codes: the one-word verdict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1828800"/>
                <a:gridCol w="905256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Code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Means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OK — here's what you asked for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302</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Redirect — go here instead (e.g. to the login page)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400</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Bad request — your data was missing or malformed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403</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Forbidden — you're not allowed (e.g. a blocked download)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404</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Not found — no such thing here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500</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Server error — something broke on our side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Where the time actually goes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Network travel and decryption: fast and roughly constant.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Address matching and guards: effectively instant.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handler's database or file work: the variable part.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So 'the server is slow' almost always means 'a query or file read is slow.'</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Two practical takeaways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If something is slow, it's almost always the handler's work (a query or file read) — not the plumbing.</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Adding a feature means adding a route and a handler; the rest of the pipeline is reused.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This is the mental model to bring to every other session.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Request Lifecycle</dc:title>
  <dc:subject>PptxGenJS Presentation</dc:subject>
  <dc:creator>Faith</dc:creator>
  <cp:lastModifiedBy>Faith</cp:lastModifiedBy>
  <cp:revision>1</cp:revision>
  <dcterms:created xsi:type="dcterms:W3CDTF">2026-05-21T18:52:05Z</dcterms:created>
  <dcterms:modified xsi:type="dcterms:W3CDTF">2026-05-21T18:52:05Z</dcterms:modified>
</cp:coreProperties>
</file>