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traces the boot sequence — the chain of events between launching the program and it being ready to answer requests. Three files do the work: run.py (the ignition), the application factory, and the configuration. Keep it conceptual; the audience doesn't need to read Python, just understand the order things happen in and why it's organized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files by role, not by code. run.py is like a car key — it does almost nothing itself, it just turns the engine over. The real assembly happens in the 'application factory.' Settings live in a third file we cover next session. The point of splitting these is flexibility: you can build the server in different modes (development vs production, or for testing) without rewriting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in plain words. Line 1: look up an environment setting called FLASK_ENV to decide whether we're in 'development' or 'production' mode; it defaults to production, so a missing or misspelled value fails safe (2FA on, secure cookies) instead of quietly dropping into the looser dev settings — local development sets FLASK_ENV=development on purpose. Line 2: call create_app — that's the factory that assembles everything. The 'if' block at the bottom only runs when you launch this file directly (handy for local testing); in real production a separate, sturdier web server loads the app instead. The headline: run.py decides the mode, then hands off to the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The factory is a recipe with a fixed order. First it makes an empty application. Then it pours in the settings. Then it switches on the add-on libraries — the database connector, the login system, the password hasher, the migration tool, and cross-origin access. Then it registers the 'blueprints,' the feature chapters we'll cover one by one. Then a few housekeeping routes. Finally it makes sure the database tables exist and hands back a fully assembled, ready server. Order matters: you can't register features before the database connector is on, for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blueprint idea since it recurs all series. Think of the server as a book and each blueprint as a chapter that owns a set of related web addresses. Registering a blueprint is like adding its chapter to the book's table of contents so the server knows those addresses exist. Each of these seven gets its own session (or shares one)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payoff of the factory pattern without jargon. Because assembly is a function you call with a 'mode,' you can produce different builds from the same recipe: a relaxed development build that reloads when you edit it, a strict production build that writes log files, or a disposable build for automated testing. Without this pattern you'd be duplicating setup code for each mode and they'd drift apart. It's the same reason a kitchen uses one recipe scaled up or down rather than a separate cookbook per portion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worth flagging. First, the server binds to the local-only address, meaning only the same machine can reach it directly; nginx is the public-facing front door. Second, the boot step that 'creates missing tables' is convenient but limited — it adds brand-new tables but won't alter a table that already exists, so changing a table's shape requires a separate 'migration,' which we'll mention again later. The date-formatter is a tiny quality-of-life touch for the inventory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startup to the configuration session. The very first thing run.py does is read which mode to start in. That single choice ripples through everything: development reloads on edits, shows detailed errors, and skips two-factor for convenience; production is stable, logs to a file, and enforces two-factor. Same code, two personalities. The danger is running production in development mode, which silently disables two-factor — a point we hammer in the configuration and security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'add-ons' mentioned in the factory steps. These are well-known, reusable libraries the server switches on rather than writing from scratch: one to talk to databases, one to manage logins and guard pages, one to hash passwords, one to apply database changes, and one to permit approved cross-site requests. Using established libraries for these standard jobs is good practice — they're more reliable and better tested than home-grown versions. The audience doesn't need names, just the idea that the server stands on solid, reusable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little it takes to add a feature chapter: import it, then register it. The server does this for all seven blueprints during startup. The reason it's done inside the factory function rather than at the top of the file is a technical one — it avoids a chicken-and-egg loading problem — but the takeaway for the audience is simply that features are modular and snap in cleanly. Adding an eighth feature later would be the same two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and bridge. The startup story is: read the mode, run the factory recipe, hand the finished server to be served. Once it's listening, every incoming request flows through the same pipeline — which is exactly what Part 13 (Request Lifecycle) walks through end to end. Next session, though, is Configuration: where all those settings actually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02</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How the Server Starts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From “turn it on” to “ready for the first request.”</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cast: three files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run.py — the ignition key. Tiny; its only job is to start things.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app/__init__.py — the application factory, where the server is actually assembled.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config/config.py — the settings, covered in its own session (Part 03).</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Keeping the starter tiny and the assembly separate is a deliberate, common pattern.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run.py — the ignition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The whole starter file, simplified:</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config_name = os.getenv('FLASK_ENV', 'production')</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app = create_app(config_name)</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if __name__ == '__main__':</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app.run(host, port, debug=...)</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Read which mode to run in, build the app, and (if launched directly) start serving.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factory does, in order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create_app() assembles the server step by step.</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Build the app object  </a:t>
            </a:r>
            <a:pPr indent="0" marL="0">
              <a:buNone/>
            </a:pPr>
            <a:r>
              <a:rPr lang="en-US" sz="1300" dirty="0">
                <a:solidFill>
                  <a:srgbClr val="595959"/>
                </a:solidFill>
                <a:latin typeface="Calibri" pitchFamily="34" charset="0"/>
                <a:ea typeface="Calibri" pitchFamily="34" charset="-122"/>
                <a:cs typeface="Calibri" pitchFamily="34" charset="-120"/>
              </a:rPr>
              <a:t>create the empty Flask application.</a:t>
            </a:r>
            <a:endParaRPr lang="en-US" sz="1400" dirty="0"/>
          </a:p>
        </p:txBody>
      </p:sp>
      <p:sp>
        <p:nvSpPr>
          <p:cNvPr id="11" name="Shape 9"/>
          <p:cNvSpPr/>
          <p:nvPr/>
        </p:nvSpPr>
        <p:spPr>
          <a:xfrm>
            <a:off x="932688" y="2575560"/>
            <a:ext cx="411480" cy="411480"/>
          </a:xfrm>
          <a:prstGeom prst="ellipse">
            <a:avLst/>
          </a:prstGeom>
          <a:solidFill>
            <a:srgbClr val="CC0000"/>
          </a:solidFill>
          <a:ln/>
        </p:spPr>
      </p:sp>
      <p:sp>
        <p:nvSpPr>
          <p:cNvPr id="12" name="Text 10"/>
          <p:cNvSpPr/>
          <p:nvPr/>
        </p:nvSpPr>
        <p:spPr>
          <a:xfrm>
            <a:off x="932688" y="25755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4658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Load settings  </a:t>
            </a:r>
            <a:pPr indent="0" marL="0">
              <a:buNone/>
            </a:pPr>
            <a:r>
              <a:rPr lang="en-US" sz="1300" dirty="0">
                <a:solidFill>
                  <a:srgbClr val="595959"/>
                </a:solidFill>
                <a:latin typeface="Calibri" pitchFamily="34" charset="0"/>
                <a:ea typeface="Calibri" pitchFamily="34" charset="-122"/>
                <a:cs typeface="Calibri" pitchFamily="34" charset="-120"/>
              </a:rPr>
              <a:t>copy the chosen configuration into the app.</a:t>
            </a:r>
            <a:endParaRPr lang="en-US" sz="1400" dirty="0"/>
          </a:p>
        </p:txBody>
      </p:sp>
      <p:sp>
        <p:nvSpPr>
          <p:cNvPr id="14" name="Shape 12"/>
          <p:cNvSpPr/>
          <p:nvPr/>
        </p:nvSpPr>
        <p:spPr>
          <a:xfrm>
            <a:off x="932688" y="3322320"/>
            <a:ext cx="411480" cy="411480"/>
          </a:xfrm>
          <a:prstGeom prst="ellipse">
            <a:avLst/>
          </a:prstGeom>
          <a:solidFill>
            <a:srgbClr val="CC0000"/>
          </a:solidFill>
          <a:ln/>
        </p:spPr>
      </p:sp>
      <p:sp>
        <p:nvSpPr>
          <p:cNvPr id="15" name="Text 13"/>
          <p:cNvSpPr/>
          <p:nvPr/>
        </p:nvSpPr>
        <p:spPr>
          <a:xfrm>
            <a:off x="932688" y="33223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2125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Turn on add-ons  </a:t>
            </a:r>
            <a:pPr indent="0" marL="0">
              <a:buNone/>
            </a:pPr>
            <a:r>
              <a:rPr lang="en-US" sz="1300" dirty="0">
                <a:solidFill>
                  <a:srgbClr val="595959"/>
                </a:solidFill>
                <a:latin typeface="Calibri" pitchFamily="34" charset="0"/>
                <a:ea typeface="Calibri" pitchFamily="34" charset="-122"/>
                <a:cs typeface="Calibri" pitchFamily="34" charset="-120"/>
              </a:rPr>
              <a:t>database, logins, password hashing, migrations, cross-origin access.</a:t>
            </a:r>
            <a:endParaRPr lang="en-US" sz="1400" dirty="0"/>
          </a:p>
        </p:txBody>
      </p:sp>
      <p:sp>
        <p:nvSpPr>
          <p:cNvPr id="17" name="Shape 15"/>
          <p:cNvSpPr/>
          <p:nvPr/>
        </p:nvSpPr>
        <p:spPr>
          <a:xfrm>
            <a:off x="932688" y="4069080"/>
            <a:ext cx="411480" cy="411480"/>
          </a:xfrm>
          <a:prstGeom prst="ellipse">
            <a:avLst/>
          </a:prstGeom>
          <a:solidFill>
            <a:srgbClr val="CC0000"/>
          </a:solidFill>
          <a:ln/>
        </p:spPr>
      </p:sp>
      <p:sp>
        <p:nvSpPr>
          <p:cNvPr id="18" name="Text 16"/>
          <p:cNvSpPr/>
          <p:nvPr/>
        </p:nvSpPr>
        <p:spPr>
          <a:xfrm>
            <a:off x="932688" y="40690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508760" y="39593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Register the blueprints  </a:t>
            </a:r>
            <a:pPr indent="0" marL="0">
              <a:buNone/>
            </a:pPr>
            <a:r>
              <a:rPr lang="en-US" sz="1300" dirty="0">
                <a:solidFill>
                  <a:srgbClr val="595959"/>
                </a:solidFill>
                <a:latin typeface="Calibri" pitchFamily="34" charset="0"/>
                <a:ea typeface="Calibri" pitchFamily="34" charset="-122"/>
                <a:cs typeface="Calibri" pitchFamily="34" charset="-120"/>
              </a:rPr>
              <a:t>plug in each feature chapter (auth, tasks, machines, API, chem...).</a:t>
            </a:r>
            <a:endParaRPr lang="en-US" sz="1400" dirty="0"/>
          </a:p>
        </p:txBody>
      </p:sp>
      <p:sp>
        <p:nvSpPr>
          <p:cNvPr id="20" name="Shape 18"/>
          <p:cNvSpPr/>
          <p:nvPr/>
        </p:nvSpPr>
        <p:spPr>
          <a:xfrm>
            <a:off x="932688" y="4815840"/>
            <a:ext cx="411480" cy="411480"/>
          </a:xfrm>
          <a:prstGeom prst="ellipse">
            <a:avLst/>
          </a:prstGeom>
          <a:solidFill>
            <a:srgbClr val="CC0000"/>
          </a:solidFill>
          <a:ln/>
        </p:spPr>
      </p:sp>
      <p:sp>
        <p:nvSpPr>
          <p:cNvPr id="21" name="Text 19"/>
          <p:cNvSpPr/>
          <p:nvPr/>
        </p:nvSpPr>
        <p:spPr>
          <a:xfrm>
            <a:off x="932688" y="4815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508760" y="4706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Wire small extras  </a:t>
            </a:r>
            <a:pPr indent="0" marL="0">
              <a:buNone/>
            </a:pPr>
            <a:r>
              <a:rPr lang="en-US" sz="1300" dirty="0">
                <a:solidFill>
                  <a:srgbClr val="595959"/>
                </a:solidFill>
                <a:latin typeface="Calibri" pitchFamily="34" charset="0"/>
                <a:ea typeface="Calibri" pitchFamily="34" charset="-122"/>
                <a:cs typeface="Calibri" pitchFamily="34" charset="-120"/>
              </a:rPr>
              <a:t>serve JS/CSS files, the favicon, a date formatter.</a:t>
            </a:r>
            <a:endParaRPr lang="en-US" sz="1400" dirty="0"/>
          </a:p>
        </p:txBody>
      </p:sp>
      <p:sp>
        <p:nvSpPr>
          <p:cNvPr id="23" name="Shape 21"/>
          <p:cNvSpPr/>
          <p:nvPr/>
        </p:nvSpPr>
        <p:spPr>
          <a:xfrm>
            <a:off x="932688" y="5562600"/>
            <a:ext cx="411480" cy="411480"/>
          </a:xfrm>
          <a:prstGeom prst="ellipse">
            <a:avLst/>
          </a:prstGeom>
          <a:solidFill>
            <a:srgbClr val="CC0000"/>
          </a:solidFill>
          <a:ln/>
        </p:spPr>
      </p:sp>
      <p:sp>
        <p:nvSpPr>
          <p:cNvPr id="24" name="Text 22"/>
          <p:cNvSpPr/>
          <p:nvPr/>
        </p:nvSpPr>
        <p:spPr>
          <a:xfrm>
            <a:off x="932688" y="55626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5" name="Text 23"/>
          <p:cNvSpPr/>
          <p:nvPr/>
        </p:nvSpPr>
        <p:spPr>
          <a:xfrm>
            <a:off x="1508760" y="54528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Ensure tables exist  </a:t>
            </a:r>
            <a:pPr indent="0" marL="0">
              <a:buNone/>
            </a:pPr>
            <a:r>
              <a:rPr lang="en-US" sz="1300" dirty="0">
                <a:solidFill>
                  <a:srgbClr val="595959"/>
                </a:solidFill>
                <a:latin typeface="Calibri" pitchFamily="34" charset="0"/>
                <a:ea typeface="Calibri" pitchFamily="34" charset="-122"/>
                <a:cs typeface="Calibri" pitchFamily="34" charset="-120"/>
              </a:rPr>
              <a:t>create any missing database tables, then return the ready app.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are blueprints again?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 blueprint is a “chapter” of the server that groups related addresses.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auth — login, signup, password reset, logout.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tasks — the to-do list.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admin — user management.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machines — the per-tool data pages and log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api — the sensor/device endpoints.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chem — the chemical inventory (its own /chem section).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particle_demo — the standalone demo page.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assemble inside a function?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The “factory” pattern, in one idea:</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build_a_fresh_server(mode):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assemble with that mode's settings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return server</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development build  → relaxed, auto-reloads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production build    → strict, writes log files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test build          → throwaway, for checks</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One recipe, several builds — no copy-pasting between modes.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couple of nuances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only listens locally (127.0.0.1) — nginx out front handles the public, encrypted traffic.</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“Create missing tables” fills in new tables but never changes existing ones; that needs a migration (Part 03/10).</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small date-formatter is added so blank dates show a dash instead of the word “None.”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Development mode vs. production mode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same startup, two personalities — chosen by one setting.</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Development: reloads when you edit, shows full errors, skips two-factor.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Production: stable, logs quietly to a file, enforces two-factor.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mode is read at the very first step of startup (FLASK_ENV).</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Pick the wrong mode and the server behaves very differently — safely or not.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Add-ons the factory switches 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Off-the-shelf libraries that handle common jobs.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Database connector — talks to the SQLite databases.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Login system — tracks who's logged in and guards pages.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Password hasher — scrambles passwords safely.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Migration tool — applies recorded database changes.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Cross-origin access — lets approved web tools call the server.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'register a blueprint' looks like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Each feature chapter is plugged in with two lines:</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from app.blueprints.tasks import tasks_bp</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app.register_blueprint(tasks_bp)</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repeat for: auth, admin, machines,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api, chem, particle_demo</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Import the chapter, then plug it into the app. Seven chapters, seven plug-ins.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 the boot sequence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Launch run.py → it reads the mode (development or production).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calls the factory, which assembles the app: settings, add-ons, blueprints, extras, tables.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finished app is handed to a web server and starts listening.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From here on, every request follows the path we'll trace in Part 13.</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Server Starts</dc:title>
  <dc:subject>PptxGenJS Presentation</dc:subject>
  <dc:creator>Faith</dc:creator>
  <cp:lastModifiedBy>Faith</cp:lastModifiedBy>
  <cp:revision>1</cp:revision>
  <dcterms:created xsi:type="dcterms:W3CDTF">2026-07-16T22:35:11Z</dcterms:created>
  <dcterms:modified xsi:type="dcterms:W3CDTF">2026-07-16T22:35:11Z</dcterms:modified>
</cp:coreProperties>
</file>