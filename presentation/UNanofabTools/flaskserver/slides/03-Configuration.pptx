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session answers: where do the server's settings come from? Things like passwords, database addresses, file-size limits, and whether we're in development or production. The short answer: from environment settings loaded out of a file, never hard-coded. Keep it practical — the audience should leave knowing what's configurable and why secrets stay out of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big principle is separation of settings from code. Imagine the program as an appliance and the .env file as its control panel: you change behavior by turning dials on the panel, not by rewiring the appliance. This lets the identical code run on a laptop and on the production server with different dials. Critically, it keeps secrets — like database passwords — out of the shared code, so they don't leak when the code is copied or backed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shape without dwelling on syntax. Each setting says: 'look up this named value; if it's not provided, use this fallback.' The fallbacks are deliberately weak development values — for example the default secret key literally says 'change in production.' That's a feature: the app still boots on a fresh laptop, but the weak defaults force you to set real values before going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practical heart. FLASK_ENV picks the mode. SECRET_KEY signs the login cookie — if it's weak or leaked, logins can be forged, so production needs a strong random value. DEBUG_MODE is a big one: it turns on detailed errors AND skips two-factor authentication, which is why it must never be on in production. Then the database locations, the Duo two-factor credentials, and the cookie security flags. Each has a safe default for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code behaves very differently depending on mode, and it's all settings-driven. Development optimizes for the developer: skip 2FA, show full errors, reload automatically, allow insecure cookies on localhost. Production optimizes for safety: enforce 2FA, hide errors from users while logging them, and only send the login cookie over encrypted connections. The dangerous mistake would be running production with development settings — especially DEBUG_MODE on, which silently disables two-factor.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folder settings tell the server where files live: where to put uploaded attachments, where the machine summary spreadsheets are, and where the machine logs and sensor histories go. At startup the server converts these to full, unambiguous paths and creates the folders if they don't exist — a small fix that prevented a past bug where downloads looked in the wrong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the settings file is approachable — just 'name = value' lines, no programming. Point out a few: the mode, debug off, a long random secret key, the Duo credentials, the database password, and the secure-cookie flag. Anyone comfortable editing a text file can safely change configuration. Emphasize the values shown are placeholders; the real file holds the actual secrets and is guarded.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a clever bit of design: the fallback values are deliberately bad. The default secret key says 'change in production'; the default database password is 'changeme.' That's not sloppiness — it means a developer can start the app instantly on a fresh machine, but those embarrassing defaults make it obvious you must set real values before going live. Weak-on-purpose defaults are a known, sensible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configuration to the databases session. Each database's location is a setting, not hard-coded. The simple SQLite databases each have a file location; the larger PostgreSQL chemical database has a host, name, username, and password. Because these live in settings, you can move a database, or point development at a throwaway copy and production at the real one, without editing any code. That flexibility is the whole reason settings are centralized.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failure modes a new operator is most likely to hit. The most dangerous is leaving DEBUG_MODE on in production because it quietly turns off two-factor. Leaving the placeholder secret key allows forged logins. The default database password is trivially guessable. And production logging needs a logs folder to exist or the app refuses to start. Each has a one-line fix. This slide is essentially a pre-launch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about how often this file changes — rarely. You edit it at install time to put in real values, occasionally when rotating a credential, and when relocating a database. In every case it's a settings edit plus a restart, never a code change. Day to day, nobody touches it. That stability is the point of separating settings from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with the operator's checklist. If you want to change how the server behaves, the .env file is almost always the place — not the code. The cardinal sins are leaving DEBUG_MODE on in production and shipping with the weak default secret key. And because .env contains every secret, back it up privately and separately from the code. Next session: Authentication — how logging in actually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11480" cy="6858000"/>
          </a:xfrm>
          <a:prstGeom prst="rect">
            <a:avLst/>
          </a:prstGeom>
          <a:solidFill>
            <a:srgbClr val="CC0000"/>
          </a:solidFill>
          <a:ln/>
        </p:spPr>
      </p:sp>
      <p:sp>
        <p:nvSpPr>
          <p:cNvPr id="3" name="Text 1"/>
          <p:cNvSpPr/>
          <p:nvPr/>
        </p:nvSpPr>
        <p:spPr>
          <a:xfrm>
            <a:off x="914400" y="1371600"/>
            <a:ext cx="10360152" cy="457200"/>
          </a:xfrm>
          <a:prstGeom prst="rect">
            <a:avLst/>
          </a:prstGeom>
          <a:noFill/>
          <a:ln/>
        </p:spPr>
        <p:txBody>
          <a:bodyPr wrap="square" lIns="0" tIns="0" rIns="0" bIns="0" rtlCol="0" anchor="ctr"/>
          <a:lstStyle/>
          <a:p>
            <a:pPr algn="l" indent="0" marL="0">
              <a:buNone/>
            </a:pPr>
            <a:r>
              <a:rPr lang="en-US" sz="1400" b="1" spc="200" kern="0" dirty="0">
                <a:solidFill>
                  <a:srgbClr val="CC0000"/>
                </a:solidFill>
                <a:latin typeface="Calibri" pitchFamily="34" charset="0"/>
                <a:ea typeface="Calibri" pitchFamily="34" charset="-122"/>
                <a:cs typeface="Calibri" pitchFamily="34" charset="-120"/>
              </a:rPr>
              <a:t>PART 03</a:t>
            </a:r>
            <a:endParaRPr lang="en-US" sz="1400" dirty="0"/>
          </a:p>
        </p:txBody>
      </p:sp>
      <p:sp>
        <p:nvSpPr>
          <p:cNvPr id="4" name="Text 2"/>
          <p:cNvSpPr/>
          <p:nvPr/>
        </p:nvSpPr>
        <p:spPr>
          <a:xfrm>
            <a:off x="914400" y="1828800"/>
            <a:ext cx="10360152" cy="1554480"/>
          </a:xfrm>
          <a:prstGeom prst="rect">
            <a:avLst/>
          </a:prstGeom>
          <a:noFill/>
          <a:ln/>
        </p:spPr>
        <p:txBody>
          <a:bodyPr wrap="square" lIns="0" tIns="0" rIns="0" bIns="0" rtlCol="0" anchor="t"/>
          <a:lstStyle/>
          <a:p>
            <a:pPr algn="l" indent="0" marL="0">
              <a:buNone/>
            </a:pPr>
            <a:r>
              <a:rPr lang="en-US" sz="4000" b="1" dirty="0">
                <a:solidFill>
                  <a:srgbClr val="1A1A1A"/>
                </a:solidFill>
                <a:latin typeface="Georgia" pitchFamily="34" charset="0"/>
                <a:ea typeface="Georgia" pitchFamily="34" charset="-122"/>
                <a:cs typeface="Georgia" pitchFamily="34" charset="-120"/>
              </a:rPr>
              <a:t>Configuration</a:t>
            </a:r>
            <a:endParaRPr lang="en-US" sz="4000" dirty="0"/>
          </a:p>
        </p:txBody>
      </p:sp>
      <p:sp>
        <p:nvSpPr>
          <p:cNvPr id="5" name="Text 3"/>
          <p:cNvSpPr/>
          <p:nvPr/>
        </p:nvSpPr>
        <p:spPr>
          <a:xfrm>
            <a:off x="914400" y="3429000"/>
            <a:ext cx="10177272" cy="731520"/>
          </a:xfrm>
          <a:prstGeom prst="rect">
            <a:avLst/>
          </a:prstGeom>
          <a:noFill/>
          <a:ln/>
        </p:spPr>
        <p:txBody>
          <a:bodyPr wrap="square" lIns="0" tIns="0" rIns="0" bIns="0" rtlCol="0" anchor="t"/>
          <a:lstStyle/>
          <a:p>
            <a:pPr algn="l" indent="0" marL="0">
              <a:buNone/>
            </a:pPr>
            <a:r>
              <a:rPr lang="en-US" sz="1700" dirty="0">
                <a:solidFill>
                  <a:srgbClr val="595959"/>
                </a:solidFill>
                <a:latin typeface="Calibri" pitchFamily="34" charset="0"/>
                <a:ea typeface="Calibri" pitchFamily="34" charset="-122"/>
                <a:cs typeface="Calibri" pitchFamily="34" charset="-120"/>
              </a:rPr>
              <a:t>UNanofabTools Server — A Plain-English Guide</a:t>
            </a:r>
            <a:endParaRPr lang="en-US" sz="1700" dirty="0"/>
          </a:p>
          <a:p>
            <a:pPr algn="l" indent="0" marL="0">
              <a:buNone/>
            </a:pPr>
            <a:r>
              <a:rPr lang="en-US" sz="1700" dirty="0">
                <a:solidFill>
                  <a:srgbClr val="595959"/>
                </a:solidFill>
                <a:latin typeface="Calibri" pitchFamily="34" charset="0"/>
                <a:ea typeface="Calibri" pitchFamily="34" charset="-122"/>
                <a:cs typeface="Calibri" pitchFamily="34" charset="-120"/>
              </a:rPr>
              <a:t>Where the server reads its settings — and why they're not in the code.</a:t>
            </a:r>
            <a:endParaRPr lang="en-US" sz="1700" dirty="0"/>
          </a:p>
        </p:txBody>
      </p:sp>
      <p:sp>
        <p:nvSpPr>
          <p:cNvPr id="6" name="Text 4"/>
          <p:cNvSpPr/>
          <p:nvPr/>
        </p:nvSpPr>
        <p:spPr>
          <a:xfrm>
            <a:off x="914400" y="5029200"/>
            <a:ext cx="10360152" cy="1280160"/>
          </a:xfrm>
          <a:prstGeom prst="rect">
            <a:avLst/>
          </a:prstGeom>
          <a:noFill/>
          <a:ln/>
        </p:spPr>
        <p:txBody>
          <a:bodyPr wrap="square" lIns="0" tIns="0" rIns="0" bIns="0" rtlCol="0" anchor="t"/>
          <a:lstStyle/>
          <a:p>
            <a:pPr algn="l" indent="0" marL="0">
              <a:lnSpc>
                <a:spcPct val="115000"/>
              </a:lnSpc>
              <a:buNone/>
            </a:pPr>
            <a:r>
              <a:rPr lang="en-US" sz="1400" b="1" dirty="0">
                <a:solidFill>
                  <a:srgbClr val="1A1A1A"/>
                </a:solidFill>
                <a:latin typeface="Calibri" pitchFamily="34" charset="0"/>
                <a:ea typeface="Calibri" pitchFamily="34" charset="-122"/>
                <a:cs typeface="Calibri" pitchFamily="34" charset="-120"/>
              </a:rPr>
              <a:t>Faith</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Server Developer &amp; Maintainer</a:t>
            </a:r>
            <a:endParaRPr lang="en-US" sz="1400" dirty="0"/>
          </a:p>
          <a:p>
            <a:pPr algn="l" indent="0" marL="0">
              <a:lnSpc>
                <a:spcPct val="115000"/>
              </a:lnSpc>
              <a:buNone/>
            </a:pPr>
            <a:r>
              <a:rPr lang="en-US" sz="1200" dirty="0">
                <a:solidFill>
                  <a:srgbClr val="595959"/>
                </a:solidFill>
                <a:latin typeface="Calibri" pitchFamily="34" charset="0"/>
                <a:ea typeface="Calibri" pitchFamily="34" charset="-122"/>
                <a:cs typeface="Calibri" pitchFamily="34" charset="-120"/>
              </a:rPr>
              <a:t>Utah Nanofab · University of Utah</a:t>
            </a:r>
            <a:endParaRPr lang="en-US" sz="1400" dirty="0"/>
          </a:p>
          <a:p>
            <a:pPr algn="l" indent="0" marL="0">
              <a:lnSpc>
                <a:spcPct val="115000"/>
              </a:lnSpc>
              <a:buNone/>
            </a:pPr>
            <a:r>
              <a:rPr lang="en-US" sz="1100" dirty="0">
                <a:solidFill>
                  <a:srgbClr val="8A8A8A"/>
                </a:solidFill>
                <a:latin typeface="Calibri" pitchFamily="34" charset="0"/>
                <a:ea typeface="Calibri" pitchFamily="34" charset="-122"/>
                <a:cs typeface="Calibri" pitchFamily="34" charset="-120"/>
              </a:rPr>
              <a:t>May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The core idea</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Settings live outside the code, in a file called .env on the server.</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code reads those settings at startup, with safe fallbacks if any are missing.</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Same code runs in development and production — only the settings differ.</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Secrets (passwords, keys) never get committed alongside the code.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How a setting is read</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Every setting follows the same pattern:</a:t>
            </a:r>
            <a:endParaRPr lang="en-US" sz="1500" dirty="0"/>
          </a:p>
        </p:txBody>
      </p:sp>
      <p:sp>
        <p:nvSpPr>
          <p:cNvPr id="8" name="Shape 6"/>
          <p:cNvSpPr/>
          <p:nvPr/>
        </p:nvSpPr>
        <p:spPr>
          <a:xfrm>
            <a:off x="932688" y="1874520"/>
            <a:ext cx="10616184" cy="4069080"/>
          </a:xfrm>
          <a:prstGeom prst="roundRect">
            <a:avLst>
              <a:gd name="adj" fmla="val 1348"/>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1097280" y="1984248"/>
            <a:ext cx="10268712" cy="3849624"/>
          </a:xfrm>
          <a:prstGeom prst="rect">
            <a:avLst/>
          </a:prstGeom>
          <a:noFill/>
          <a:ln/>
        </p:spPr>
        <p:txBody>
          <a:bodyPr wrap="square" lIns="0" tIns="0" rIns="0" bIns="0" rtlCol="0" anchor="t"/>
          <a:lstStyle/>
          <a:p>
            <a:pPr algn="l" indent="0" marL="0">
              <a:buNone/>
            </a:pPr>
            <a:r>
              <a:rPr lang="en-US" sz="1250" dirty="0">
                <a:solidFill>
                  <a:srgbClr val="222222"/>
                </a:solidFill>
                <a:latin typeface="Consolas" pitchFamily="34" charset="0"/>
                <a:ea typeface="Consolas" pitchFamily="34" charset="-122"/>
                <a:cs typeface="Consolas" pitchFamily="34" charset="-120"/>
              </a:rPr>
              <a:t>  SECRET_KEY = getenv('SECRET_KEY', 'dev-default')</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 look this up ──┘  └ fallback ─┘</a:t>
            </a:r>
            <a:endParaRPr lang="en-US" sz="1250" dirty="0"/>
          </a:p>
          <a:p>
            <a:pPr algn="l" indent="0" marL="0">
              <a:buNone/>
            </a:pP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If the environment provides SECRET_KEY, use it.</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Otherwise fall back to a safe development default.</a:t>
            </a:r>
            <a:endParaRPr lang="en-US" sz="1250" dirty="0"/>
          </a:p>
        </p:txBody>
      </p:sp>
      <p:sp>
        <p:nvSpPr>
          <p:cNvPr id="10" name="Text 8"/>
          <p:cNvSpPr/>
          <p:nvPr/>
        </p:nvSpPr>
        <p:spPr>
          <a:xfrm>
            <a:off x="932688" y="6035040"/>
            <a:ext cx="10616184" cy="457200"/>
          </a:xfrm>
          <a:prstGeom prst="rect">
            <a:avLst/>
          </a:prstGeom>
          <a:noFill/>
          <a:ln/>
        </p:spPr>
        <p:txBody>
          <a:bodyPr wrap="square" lIns="0" tIns="0" rIns="0" bIns="0" rtlCol="0" anchor="t"/>
          <a:lstStyle/>
          <a:p>
            <a:pPr indent="0" marL="0">
              <a:buNone/>
            </a:pPr>
            <a:r>
              <a:rPr lang="en-US" sz="1200" i="1" dirty="0">
                <a:solidFill>
                  <a:srgbClr val="595959"/>
                </a:solidFill>
                <a:latin typeface="Calibri" pitchFamily="34" charset="0"/>
                <a:ea typeface="Calibri" pitchFamily="34" charset="-122"/>
                <a:cs typeface="Calibri" pitchFamily="34" charset="-120"/>
              </a:rPr>
              <a:t>Read from the environment; fall back to a sensible default if it's absent.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What's configurable — the essentials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4</a:t>
            </a:r>
            <a:endParaRPr lang="en-US" sz="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932688" y="1280160"/>
          <a:ext cx="10616184" cy="914400"/>
        </p:xfrm>
        <a:graphic>
          <a:graphicData uri="http://schemas.openxmlformats.org/drawingml/2006/table">
            <a:tbl>
              <a:tblPr/>
              <a:tblGrid>
                <a:gridCol w="3291840"/>
                <a:gridCol w="7589520"/>
              </a:tblGrid>
              <a:tr h="27432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Setting</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Controls</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FLASK_ENV</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Development or production mode</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SECRET_KEY</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Signs login cookies — must be strong in production</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DEBUG_MODE</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Verbose errors and (importantly) skips 2-factor login</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Database URLs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Where each database lives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DUO_* keys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Credentials for two-factor authentication</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Session cookie flags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How securely the login cookie behaves</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Development vs. production</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5</a:t>
            </a:r>
            <a:endParaRPr lang="en-US" sz="900" dirty="0"/>
          </a:p>
        </p:txBody>
      </p:sp>
      <p:sp>
        <p:nvSpPr>
          <p:cNvPr id="7" name="Text 5"/>
          <p:cNvSpPr/>
          <p:nvPr/>
        </p:nvSpPr>
        <p:spPr>
          <a:xfrm>
            <a:off x="640080" y="1325880"/>
            <a:ext cx="5225796" cy="411480"/>
          </a:xfrm>
          <a:prstGeom prst="rect">
            <a:avLst/>
          </a:prstGeom>
          <a:noFill/>
          <a:ln/>
        </p:spPr>
        <p:txBody>
          <a:bodyPr wrap="square" lIns="0" tIns="0" rIns="0" bIns="0" rtlCol="0" anchor="ctr"/>
          <a:lstStyle/>
          <a:p>
            <a:pPr indent="0" marL="0">
              <a:buNone/>
            </a:pPr>
            <a:r>
              <a:rPr lang="en-US" sz="1600" b="1" dirty="0">
                <a:solidFill>
                  <a:srgbClr val="CC0000"/>
                </a:solidFill>
                <a:latin typeface="Georgia" pitchFamily="34" charset="0"/>
                <a:ea typeface="Georgia" pitchFamily="34" charset="-122"/>
                <a:cs typeface="Georgia" pitchFamily="34" charset="-120"/>
              </a:rPr>
              <a:t>Development</a:t>
            </a:r>
            <a:endParaRPr lang="en-US" sz="1600" dirty="0"/>
          </a:p>
        </p:txBody>
      </p:sp>
      <p:sp>
        <p:nvSpPr>
          <p:cNvPr id="8" name="Text 6"/>
          <p:cNvSpPr/>
          <p:nvPr/>
        </p:nvSpPr>
        <p:spPr>
          <a:xfrm>
            <a:off x="640080" y="1783080"/>
            <a:ext cx="5225796" cy="452628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DEBUG_MODE on — skips two-factor so you can log in fast.</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Detailed error pages and auto-reload on edits.</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Cookies allowed over plain (unencrypted) connections.</a:t>
            </a:r>
            <a:endParaRPr lang="en-US" sz="1350" dirty="0"/>
          </a:p>
        </p:txBody>
      </p:sp>
      <p:sp>
        <p:nvSpPr>
          <p:cNvPr id="9" name="Text 7"/>
          <p:cNvSpPr/>
          <p:nvPr/>
        </p:nvSpPr>
        <p:spPr>
          <a:xfrm>
            <a:off x="6323076" y="1325880"/>
            <a:ext cx="5225796" cy="411480"/>
          </a:xfrm>
          <a:prstGeom prst="rect">
            <a:avLst/>
          </a:prstGeom>
          <a:noFill/>
          <a:ln/>
        </p:spPr>
        <p:txBody>
          <a:bodyPr wrap="square" lIns="0" tIns="0" rIns="0" bIns="0" rtlCol="0" anchor="ctr"/>
          <a:lstStyle/>
          <a:p>
            <a:pPr indent="0" marL="0">
              <a:buNone/>
            </a:pPr>
            <a:r>
              <a:rPr lang="en-US" sz="1600" b="1" dirty="0">
                <a:solidFill>
                  <a:srgbClr val="CC0000"/>
                </a:solidFill>
                <a:latin typeface="Georgia" pitchFamily="34" charset="0"/>
                <a:ea typeface="Georgia" pitchFamily="34" charset="-122"/>
                <a:cs typeface="Georgia" pitchFamily="34" charset="-120"/>
              </a:rPr>
              <a:t>Production</a:t>
            </a:r>
            <a:endParaRPr lang="en-US" sz="1600" dirty="0"/>
          </a:p>
        </p:txBody>
      </p:sp>
      <p:sp>
        <p:nvSpPr>
          <p:cNvPr id="10" name="Text 8"/>
          <p:cNvSpPr/>
          <p:nvPr/>
        </p:nvSpPr>
        <p:spPr>
          <a:xfrm>
            <a:off x="6323076" y="1783080"/>
            <a:ext cx="5225796" cy="4526280"/>
          </a:xfrm>
          <a:prstGeom prst="rect">
            <a:avLst/>
          </a:prstGeom>
          <a:noFill/>
          <a:ln/>
        </p:spPr>
        <p:txBody>
          <a:bodyPr wrap="square" lIns="0" tIns="0" rIns="0" bIns="0" rtlCol="0" anchor="t"/>
          <a:lstStyle/>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DEBUG_MODE off — two-factor enforced.</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Errors logged quietly to a rotating log file.</a:t>
            </a:r>
            <a:endParaRPr lang="en-US" sz="1350" dirty="0"/>
          </a:p>
          <a:p>
            <a:pPr marL="203200" indent="-203200">
              <a:spcAft>
                <a:spcPts val="800"/>
              </a:spcAft>
              <a:buSzPct val="100000"/>
              <a:buChar char="•"/>
            </a:pPr>
            <a:r>
              <a:rPr lang="en-US" sz="1350" dirty="0">
                <a:solidFill>
                  <a:srgbClr val="1A1A1A"/>
                </a:solidFill>
                <a:latin typeface="Calibri" pitchFamily="34" charset="0"/>
                <a:ea typeface="Calibri" pitchFamily="34" charset="-122"/>
                <a:cs typeface="Calibri" pitchFamily="34" charset="-120"/>
              </a:rPr>
              <a:t>Cookies only sent over encrypted (HTTPS) connections.</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The data directories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6</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UPLOAD_FOLDER — where task file attachments are saved.</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DATA_DIR (HSCDATA) — the per-machine summary spreadsheets.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LOG_DATA_DIR (LogData) — machine logs and sensor history files.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At startup these are turned into absolute paths and created if missing.</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What the settings file looks like</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7</a:t>
            </a:r>
            <a:endParaRPr lang="en-US" sz="900" dirty="0"/>
          </a:p>
        </p:txBody>
      </p:sp>
      <p:sp>
        <p:nvSpPr>
          <p:cNvPr id="7" name="Text 5"/>
          <p:cNvSpPr/>
          <p:nvPr/>
        </p:nvSpPr>
        <p:spPr>
          <a:xfrm>
            <a:off x="932688" y="1280160"/>
            <a:ext cx="10616184" cy="548640"/>
          </a:xfrm>
          <a:prstGeom prst="rect">
            <a:avLst/>
          </a:prstGeom>
          <a:noFill/>
          <a:ln/>
        </p:spPr>
        <p:txBody>
          <a:bodyPr wrap="square" lIns="0" tIns="0" rIns="0" bIns="0" rtlCol="0" anchor="t"/>
          <a:lstStyle/>
          <a:p>
            <a:pPr indent="0" marL="0">
              <a:buNone/>
            </a:pPr>
            <a:r>
              <a:rPr lang="en-US" sz="1500" dirty="0">
                <a:solidFill>
                  <a:srgbClr val="1A1A1A"/>
                </a:solidFill>
                <a:latin typeface="Calibri" pitchFamily="34" charset="0"/>
                <a:ea typeface="Calibri" pitchFamily="34" charset="-122"/>
                <a:cs typeface="Calibri" pitchFamily="34" charset="-120"/>
              </a:rPr>
              <a:t>A few lines from the .env file (values are examples):</a:t>
            </a:r>
            <a:endParaRPr lang="en-US" sz="1500" dirty="0"/>
          </a:p>
        </p:txBody>
      </p:sp>
      <p:sp>
        <p:nvSpPr>
          <p:cNvPr id="8" name="Shape 6"/>
          <p:cNvSpPr/>
          <p:nvPr/>
        </p:nvSpPr>
        <p:spPr>
          <a:xfrm>
            <a:off x="932688" y="1874520"/>
            <a:ext cx="10616184" cy="4069080"/>
          </a:xfrm>
          <a:prstGeom prst="roundRect">
            <a:avLst>
              <a:gd name="adj" fmla="val 1348"/>
            </a:avLst>
          </a:prstGeom>
          <a:solidFill>
            <a:srgbClr val="F2F2F2"/>
          </a:solidFill>
          <a:ln w="12700">
            <a:solidFill>
              <a:srgbClr val="DDDDDD"/>
            </a:solidFill>
            <a:prstDash val="solid"/>
          </a:ln>
          <a:effectLst>
            <a:outerShdw sx="100000" sy="100000" kx="0" ky="0" algn="bl" rotWithShape="0" blurRad="63500" dist="25400" dir="8100000">
              <a:srgbClr val="000000">
                <a:alpha val="12000"/>
              </a:srgbClr>
            </a:outerShdw>
          </a:effectLst>
        </p:spPr>
      </p:sp>
      <p:sp>
        <p:nvSpPr>
          <p:cNvPr id="9" name="Text 7"/>
          <p:cNvSpPr/>
          <p:nvPr/>
        </p:nvSpPr>
        <p:spPr>
          <a:xfrm>
            <a:off x="1097280" y="1984248"/>
            <a:ext cx="10268712" cy="3849624"/>
          </a:xfrm>
          <a:prstGeom prst="rect">
            <a:avLst/>
          </a:prstGeom>
          <a:noFill/>
          <a:ln/>
        </p:spPr>
        <p:txBody>
          <a:bodyPr wrap="square" lIns="0" tIns="0" rIns="0" bIns="0" rtlCol="0" anchor="t"/>
          <a:lstStyle/>
          <a:p>
            <a:pPr algn="l" indent="0" marL="0">
              <a:buNone/>
            </a:pPr>
            <a:r>
              <a:rPr lang="en-US" sz="1250" dirty="0">
                <a:solidFill>
                  <a:srgbClr val="222222"/>
                </a:solidFill>
                <a:latin typeface="Consolas" pitchFamily="34" charset="0"/>
                <a:ea typeface="Consolas" pitchFamily="34" charset="-122"/>
                <a:cs typeface="Consolas" pitchFamily="34" charset="-120"/>
              </a:rPr>
              <a:t>  FLASK_ENV=production</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DEBUG_MODE=False</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SECRET_KEY=&lt;long random string&gt;</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DUO_IKEY=...   DUO_SKEY=...   DUO_HOST=...</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CHEM_POSTGRES_PASSWORD=&lt;strong password&gt;</a:t>
            </a:r>
            <a:endParaRPr lang="en-US" sz="1250" dirty="0"/>
          </a:p>
          <a:p>
            <a:pPr algn="l" indent="0" marL="0">
              <a:buNone/>
            </a:pPr>
            <a:r>
              <a:rPr lang="en-US" sz="1250" dirty="0">
                <a:solidFill>
                  <a:srgbClr val="222222"/>
                </a:solidFill>
                <a:latin typeface="Consolas" pitchFamily="34" charset="0"/>
                <a:ea typeface="Consolas" pitchFamily="34" charset="-122"/>
                <a:cs typeface="Consolas" pitchFamily="34" charset="-120"/>
              </a:rPr>
              <a:t>  SESSION_COOKIE_SECURE=True</a:t>
            </a:r>
            <a:endParaRPr lang="en-US" sz="1250" dirty="0"/>
          </a:p>
        </p:txBody>
      </p:sp>
      <p:sp>
        <p:nvSpPr>
          <p:cNvPr id="10" name="Text 8"/>
          <p:cNvSpPr/>
          <p:nvPr/>
        </p:nvSpPr>
        <p:spPr>
          <a:xfrm>
            <a:off x="932688" y="6035040"/>
            <a:ext cx="10616184" cy="457200"/>
          </a:xfrm>
          <a:prstGeom prst="rect">
            <a:avLst/>
          </a:prstGeom>
          <a:noFill/>
          <a:ln/>
        </p:spPr>
        <p:txBody>
          <a:bodyPr wrap="square" lIns="0" tIns="0" rIns="0" bIns="0" rtlCol="0" anchor="t"/>
          <a:lstStyle/>
          <a:p>
            <a:pPr indent="0" marL="0">
              <a:buNone/>
            </a:pPr>
            <a:r>
              <a:rPr lang="en-US" sz="1200" i="1" dirty="0">
                <a:solidFill>
                  <a:srgbClr val="595959"/>
                </a:solidFill>
                <a:latin typeface="Calibri" pitchFamily="34" charset="0"/>
                <a:ea typeface="Calibri" pitchFamily="34" charset="-122"/>
                <a:cs typeface="Calibri" pitchFamily="34" charset="-120"/>
              </a:rPr>
              <a:t>Plain name=value lines. No code — just settings the program reads at startup.</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Safe defaults are intentionally weak</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8</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Missing settings fall back to obviously-unsafe development values.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default secret key literally says 'change in production.'</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default database password is 'changeme.'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This lets the app boot on a laptop while forcing real values before launch.</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Why several databases have separate addresses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Each SQLite database has its own location setting.</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The big chemical database (PostgreSQL) has its own host, name, and credentials.</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Keeping them in settings means you can move a database without touching code.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Production and development can point at completely different databases.</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Common configuration mistakes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932688" y="1280160"/>
          <a:ext cx="10616184" cy="914400"/>
        </p:xfrm>
        <a:graphic>
          <a:graphicData uri="http://schemas.openxmlformats.org/drawingml/2006/table">
            <a:tbl>
              <a:tblPr/>
              <a:tblGrid>
                <a:gridCol w="4206240"/>
                <a:gridCol w="6675120"/>
              </a:tblGrid>
              <a:tr h="274320">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Mistake</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c>
                  <a:txBody>
                    <a:bodyPr/>
                    <a:lstStyle/>
                    <a:p>
                      <a:pPr algn="l" indent="0" marL="0">
                        <a:buNone/>
                      </a:pPr>
                      <a:r>
                        <a:rPr lang="en-US" sz="1250" b="1" dirty="0">
                          <a:solidFill>
                            <a:srgbClr val="FFFFFF"/>
                          </a:solidFill>
                          <a:latin typeface="Calibri" pitchFamily="34" charset="0"/>
                          <a:ea typeface="Calibri" pitchFamily="34" charset="-122"/>
                          <a:cs typeface="Calibri" pitchFamily="34" charset="-120"/>
                        </a:rPr>
                        <a:t>Consequence / fix</a:t>
                      </a:r>
                      <a:endParaRPr lang="en-US" sz="12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CC0000"/>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DEBUG_MODE on in production</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Two-factor silently disabled → set it False</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Default SECRET_KEY left in place</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Logins can be forged → set a strong random value</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Default DB password ('changeme')</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Easily guessed → set a real password</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FFFFF"/>
                    </a:solidFill>
                  </a:tcPr>
                </a:tc>
              </a:tr>
              <a:tr h="274320">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Missing logs/ folder</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c>
                  <a:txBody>
                    <a:bodyPr/>
                    <a:lstStyle/>
                    <a:p>
                      <a:pPr algn="l" indent="0" marL="0">
                        <a:buNone/>
                      </a:pPr>
                      <a:r>
                        <a:rPr lang="en-US" sz="1150" dirty="0">
                          <a:solidFill>
                            <a:srgbClr val="1A1A1A"/>
                          </a:solidFill>
                          <a:latin typeface="Calibri" pitchFamily="34" charset="0"/>
                          <a:ea typeface="Calibri" pitchFamily="34" charset="-122"/>
                          <a:cs typeface="Calibri" pitchFamily="34" charset="-120"/>
                        </a:rPr>
                        <a:t>Production won't start → create the folder</a:t>
                      </a:r>
                      <a:endParaRPr lang="en-US" sz="1150" dirty="0">
                        <a:latin typeface="Calibri" charset="0"/>
                        <a:ea typeface="Calibri" charset="0"/>
                        <a:cs typeface="Calibri" charset="0"/>
                      </a:endParaRPr>
                    </a:p>
                  </a:txBody>
                  <a:tcPr marL="91440" marR="91440" marT="45720" marB="45720" anchor="ctr">
                    <a:lnL w="6350" cap="flat" cmpd="sng" algn="ctr">
                      <a:solidFill>
                        <a:srgbClr val="DDDDDD"/>
                      </a:solidFill>
                      <a:prstDash val="solid"/>
                      <a:round/>
                      <a:headEnd type="none" w="med" len="med"/>
                      <a:tailEnd type="none" w="med" len="med"/>
                    </a:lnL>
                    <a:lnR w="6350" cap="flat" cmpd="sng" algn="ctr">
                      <a:solidFill>
                        <a:srgbClr val="DDDDDD"/>
                      </a:solidFill>
                      <a:prstDash val="solid"/>
                      <a:round/>
                      <a:headEnd type="none" w="med" len="med"/>
                      <a:tailEnd type="none" w="med" len="med"/>
                    </a:lnR>
                    <a:lnT w="6350" cap="flat" cmpd="sng" algn="ctr">
                      <a:solidFill>
                        <a:srgbClr val="DDDDDD"/>
                      </a:solidFill>
                      <a:prstDash val="solid"/>
                      <a:round/>
                      <a:headEnd type="none" w="med" len="med"/>
                      <a:tailEnd type="none" w="med" len="med"/>
                    </a:lnT>
                    <a:lnB w="6350" cap="flat" cmpd="sng" algn="ctr">
                      <a:solidFill>
                        <a:srgbClr val="DDDDDD"/>
                      </a:solidFill>
                      <a:prstDash val="solid"/>
                      <a:round/>
                      <a:headEnd type="none" w="med" len="med"/>
                      <a:tailEnd type="none" w="med" len="med"/>
                    </a:lnB>
                    <a:solidFill>
                      <a:srgbClr val="F2F2F2"/>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When you actually touch settings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932688" y="1280160"/>
            <a:ext cx="411480" cy="411480"/>
          </a:xfrm>
          <a:prstGeom prst="ellipse">
            <a:avLst/>
          </a:prstGeom>
          <a:solidFill>
            <a:srgbClr val="CC0000"/>
          </a:solidFill>
          <a:ln/>
        </p:spPr>
      </p:sp>
      <p:sp>
        <p:nvSpPr>
          <p:cNvPr id="8" name="Text 6"/>
          <p:cNvSpPr/>
          <p:nvPr/>
        </p:nvSpPr>
        <p:spPr>
          <a:xfrm>
            <a:off x="932688" y="128016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9" name="Text 7"/>
          <p:cNvSpPr/>
          <p:nvPr/>
        </p:nvSpPr>
        <p:spPr>
          <a:xfrm>
            <a:off x="1508760" y="117043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On first install  </a:t>
            </a:r>
            <a:pPr indent="0" marL="0">
              <a:buNone/>
            </a:pPr>
            <a:r>
              <a:rPr lang="en-US" sz="1300" dirty="0">
                <a:solidFill>
                  <a:srgbClr val="595959"/>
                </a:solidFill>
                <a:latin typeface="Calibri" pitchFamily="34" charset="0"/>
                <a:ea typeface="Calibri" pitchFamily="34" charset="-122"/>
                <a:cs typeface="Calibri" pitchFamily="34" charset="-120"/>
              </a:rPr>
              <a:t>fill in real secret key, database, and Duo credentials.</a:t>
            </a:r>
            <a:endParaRPr lang="en-US" sz="1400" dirty="0"/>
          </a:p>
        </p:txBody>
      </p:sp>
      <p:sp>
        <p:nvSpPr>
          <p:cNvPr id="10" name="Shape 8"/>
          <p:cNvSpPr/>
          <p:nvPr/>
        </p:nvSpPr>
        <p:spPr>
          <a:xfrm>
            <a:off x="932688" y="2148840"/>
            <a:ext cx="411480" cy="411480"/>
          </a:xfrm>
          <a:prstGeom prst="ellipse">
            <a:avLst/>
          </a:prstGeom>
          <a:solidFill>
            <a:srgbClr val="CC0000"/>
          </a:solidFill>
          <a:ln/>
        </p:spPr>
      </p:sp>
      <p:sp>
        <p:nvSpPr>
          <p:cNvPr id="11" name="Text 9"/>
          <p:cNvSpPr/>
          <p:nvPr/>
        </p:nvSpPr>
        <p:spPr>
          <a:xfrm>
            <a:off x="932688" y="214884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1508760" y="203911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When rotating secrets  </a:t>
            </a:r>
            <a:pPr indent="0" marL="0">
              <a:buNone/>
            </a:pPr>
            <a:r>
              <a:rPr lang="en-US" sz="1300" dirty="0">
                <a:solidFill>
                  <a:srgbClr val="595959"/>
                </a:solidFill>
                <a:latin typeface="Calibri" pitchFamily="34" charset="0"/>
                <a:ea typeface="Calibri" pitchFamily="34" charset="-122"/>
                <a:cs typeface="Calibri" pitchFamily="34" charset="-120"/>
              </a:rPr>
              <a:t>update keys/passwords, then restart.</a:t>
            </a:r>
            <a:endParaRPr lang="en-US" sz="1400" dirty="0"/>
          </a:p>
        </p:txBody>
      </p:sp>
      <p:sp>
        <p:nvSpPr>
          <p:cNvPr id="13" name="Shape 11"/>
          <p:cNvSpPr/>
          <p:nvPr/>
        </p:nvSpPr>
        <p:spPr>
          <a:xfrm>
            <a:off x="932688" y="3017520"/>
            <a:ext cx="411480" cy="411480"/>
          </a:xfrm>
          <a:prstGeom prst="ellipse">
            <a:avLst/>
          </a:prstGeom>
          <a:solidFill>
            <a:srgbClr val="CC0000"/>
          </a:solidFill>
          <a:ln/>
        </p:spPr>
      </p:sp>
      <p:sp>
        <p:nvSpPr>
          <p:cNvPr id="14" name="Text 12"/>
          <p:cNvSpPr/>
          <p:nvPr/>
        </p:nvSpPr>
        <p:spPr>
          <a:xfrm>
            <a:off x="932688" y="3017520"/>
            <a:ext cx="411480" cy="41148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p:nvPr/>
        </p:nvSpPr>
        <p:spPr>
          <a:xfrm>
            <a:off x="1508760" y="2907792"/>
            <a:ext cx="10040112" cy="630936"/>
          </a:xfrm>
          <a:prstGeom prst="rect">
            <a:avLst/>
          </a:prstGeom>
          <a:noFill/>
          <a:ln/>
        </p:spPr>
        <p:txBody>
          <a:bodyPr wrap="square" lIns="0" tIns="0" rIns="0" bIns="0" rtlCol="0" anchor="ctr"/>
          <a:lstStyle/>
          <a:p>
            <a:pPr indent="0" marL="0">
              <a:buNone/>
            </a:pPr>
            <a:r>
              <a:rPr lang="en-US" sz="1400" b="1" dirty="0">
                <a:solidFill>
                  <a:srgbClr val="1A1A1A"/>
                </a:solidFill>
                <a:latin typeface="Calibri" pitchFamily="34" charset="0"/>
                <a:ea typeface="Calibri" pitchFamily="34" charset="-122"/>
                <a:cs typeface="Calibri" pitchFamily="34" charset="-120"/>
              </a:rPr>
              <a:t>When moving a database  </a:t>
            </a:r>
            <a:pPr indent="0" marL="0">
              <a:buNone/>
            </a:pPr>
            <a:r>
              <a:rPr lang="en-US" sz="1300" dirty="0">
                <a:solidFill>
                  <a:srgbClr val="595959"/>
                </a:solidFill>
                <a:latin typeface="Calibri" pitchFamily="34" charset="0"/>
                <a:ea typeface="Calibri" pitchFamily="34" charset="-122"/>
                <a:cs typeface="Calibri" pitchFamily="34" charset="-120"/>
              </a:rPr>
              <a:t>change its address; no code change needed.</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02920"/>
            <a:ext cx="164592" cy="329184"/>
          </a:xfrm>
          <a:prstGeom prst="rect">
            <a:avLst/>
          </a:prstGeom>
          <a:solidFill>
            <a:srgbClr val="CC0000"/>
          </a:solidFill>
          <a:ln/>
        </p:spPr>
      </p:sp>
      <p:sp>
        <p:nvSpPr>
          <p:cNvPr id="3" name="Text 1"/>
          <p:cNvSpPr/>
          <p:nvPr/>
        </p:nvSpPr>
        <p:spPr>
          <a:xfrm>
            <a:off x="932688" y="384048"/>
            <a:ext cx="10616184" cy="640080"/>
          </a:xfrm>
          <a:prstGeom prst="rect">
            <a:avLst/>
          </a:prstGeom>
          <a:noFill/>
          <a:ln/>
        </p:spPr>
        <p:txBody>
          <a:bodyPr wrap="square" lIns="0" tIns="0" rIns="0" bIns="0" rtlCol="0" anchor="ctr"/>
          <a:lstStyle/>
          <a:p>
            <a:pPr algn="l" indent="0" marL="0">
              <a:buNone/>
            </a:pPr>
            <a:r>
              <a:rPr lang="en-US" sz="2600" b="1" dirty="0">
                <a:solidFill>
                  <a:srgbClr val="1A1A1A"/>
                </a:solidFill>
                <a:latin typeface="Georgia" pitchFamily="34" charset="0"/>
                <a:ea typeface="Georgia" pitchFamily="34" charset="-122"/>
                <a:cs typeface="Georgia" pitchFamily="34" charset="-120"/>
              </a:rPr>
              <a:t>Practical takeaways</a:t>
            </a:r>
            <a:endParaRPr lang="en-US" sz="2600" dirty="0"/>
          </a:p>
        </p:txBody>
      </p:sp>
      <p:sp>
        <p:nvSpPr>
          <p:cNvPr id="4" name="Shape 2"/>
          <p:cNvSpPr/>
          <p:nvPr/>
        </p:nvSpPr>
        <p:spPr>
          <a:xfrm>
            <a:off x="0" y="6565392"/>
            <a:ext cx="12188952" cy="292608"/>
          </a:xfrm>
          <a:prstGeom prst="rect">
            <a:avLst/>
          </a:prstGeom>
          <a:solidFill>
            <a:srgbClr val="CC0000"/>
          </a:solidFill>
          <a:ln/>
        </p:spPr>
      </p:sp>
      <p:sp>
        <p:nvSpPr>
          <p:cNvPr id="5" name="Text 3"/>
          <p:cNvSpPr/>
          <p:nvPr/>
        </p:nvSpPr>
        <p:spPr>
          <a:xfrm>
            <a:off x="640080" y="6565392"/>
            <a:ext cx="7315200" cy="292608"/>
          </a:xfrm>
          <a:prstGeom prst="rect">
            <a:avLst/>
          </a:prstGeom>
          <a:noFill/>
          <a:ln/>
        </p:spPr>
        <p:txBody>
          <a:bodyPr wrap="square" lIns="0" tIns="0" rIns="0" bIns="0" rtlCol="0" anchor="ctr"/>
          <a:lstStyle/>
          <a:p>
            <a:pPr algn="l" indent="0" marL="0">
              <a:buNone/>
            </a:pPr>
            <a:r>
              <a:rPr lang="en-US" sz="900" dirty="0">
                <a:solidFill>
                  <a:srgbClr val="FFFFFF"/>
                </a:solidFill>
                <a:latin typeface="Calibri" pitchFamily="34" charset="0"/>
                <a:ea typeface="Calibri" pitchFamily="34" charset="-122"/>
                <a:cs typeface="Calibri" pitchFamily="34" charset="-120"/>
              </a:rPr>
              <a:t>UNanofabTools — Server Explained</a:t>
            </a:r>
            <a:endParaRPr lang="en-US" sz="900" dirty="0"/>
          </a:p>
        </p:txBody>
      </p:sp>
      <p:sp>
        <p:nvSpPr>
          <p:cNvPr id="6" name="Text 4"/>
          <p:cNvSpPr/>
          <p:nvPr/>
        </p:nvSpPr>
        <p:spPr>
          <a:xfrm>
            <a:off x="11091672" y="6565392"/>
            <a:ext cx="457200" cy="292608"/>
          </a:xfrm>
          <a:prstGeom prst="rect">
            <a:avLst/>
          </a:prstGeom>
          <a:noFill/>
          <a:ln/>
        </p:spPr>
        <p:txBody>
          <a:bodyPr wrap="square" lIns="0" tIns="0" rIns="0" bIns="0"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12</a:t>
            </a:r>
            <a:endParaRPr lang="en-US" sz="900" dirty="0"/>
          </a:p>
        </p:txBody>
      </p:sp>
      <p:sp>
        <p:nvSpPr>
          <p:cNvPr id="7" name="Text 5"/>
          <p:cNvSpPr/>
          <p:nvPr/>
        </p:nvSpPr>
        <p:spPr>
          <a:xfrm>
            <a:off x="932688" y="1280160"/>
            <a:ext cx="10616184" cy="50292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To change behavior, edit .env — not the source code.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Never set DEBUG_MODE on in production (it disables two-factor).</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Always set a strong SECRET_KEY and real database/Duo credentials before going live.</a:t>
            </a:r>
            <a:endParaRPr lang="en-US" sz="1500" dirty="0"/>
          </a:p>
          <a:p>
            <a:pPr marL="228600" indent="-228600">
              <a:spcAft>
                <a:spcPts val="1000"/>
              </a:spcAft>
              <a:buSzPct val="100000"/>
              <a:buChar char="•"/>
            </a:pPr>
            <a:r>
              <a:rPr lang="en-US" sz="1500" dirty="0">
                <a:solidFill>
                  <a:srgbClr val="1A1A1A"/>
                </a:solidFill>
                <a:latin typeface="Calibri" pitchFamily="34" charset="0"/>
                <a:ea typeface="Calibri" pitchFamily="34" charset="-122"/>
                <a:cs typeface="Calibri" pitchFamily="34" charset="-120"/>
              </a:rPr>
              <a:t>Keep the .env file backed up separately and privately — it holds the secrets.</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Configuration</dc:title>
  <dc:subject>PptxGenJS Presentation</dc:subject>
  <dc:creator>Faith</dc:creator>
  <cp:lastModifiedBy>Faith</cp:lastModifiedBy>
  <cp:revision>1</cp:revision>
  <dcterms:created xsi:type="dcterms:W3CDTF">2026-05-21T18:52:03Z</dcterms:created>
  <dcterms:modified xsi:type="dcterms:W3CDTF">2026-05-21T18:52:03Z</dcterms:modified>
</cp:coreProperties>
</file>