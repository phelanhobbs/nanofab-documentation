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session demystifies the databases. The word 'model' just means a description of one table. We'll cover the five databases, what each table stores, and a few design choices. Keep it light — the goal is for the audience to know where each kind of data lives, not to memorize columns.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Ground the vocabulary. A database table is just a structured grid, like a tab in a spreadsheet: each column is a field (username, email...) and each row is one record. A 'model' is simply how the code describes a table. The system spreads its tables across a few databases. And remember from earlier: a lot of sensor history lives in CSV files rather than a database.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lay of the land: four small single-file SQLite databases and one full PostgreSQL database. Users, sessions, tasks, and the latest sensor readings each get their own SQLite file. The chemical inventory — much larger and more demanding — lives in PostgreSQL. Splitting the SQLite data into four files is a historical choice; a fresh design would likely combine them, but it works fine.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accounts table stores each user's name, the scrambled password fingerprint, their university ID, and the two permission flags from earlier (admin, can-assign). The sessions table records each active login as a random ID tied to a username and a timestamp. Between them they handle identity and 'are you logged in right now.' Reassure again: the real password is never in 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tasks feature uses three tables. The main one holds each task's details. A second holds assignees — a separate linking list because a task can have many people and a person many tasks (the many-to-many idea from the tasks session). A third records where each attached file is stored. Three simple tables combine into the full task tracker.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table is intentionally a snapshot, not a log. It keeps exactly one row per sensor location — enforced by a uniqueness rule — holding that sensor's most recent measurements. When a new reading arrives, it overwrites the existing row (an 'upsert' = update or insert). The complete minute-by-minute history is in the CSV files. So this table powers 'what's happening now' dashboards quickly, while the CSVs are the archive.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inventory is the most elaborate. There are small lookup tables (categories, vendors, rooms), the two core tables from the inventory session (items and containers), the audit tables (a cycle plus its scans), and the transactions log that records every action. We covered how these relate last session; here the point is just that the richness of the inventory comes from this set of well-defined tables.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things a successor must know. First, the server auto-creates brand-new tables on startup, but it will not alter an existing table — that requires a 'migration,' which is a recorded, repeatable change script. Always use migrations so every copy of the database stays in step. Second, the chemical-inventory schema files used to lag behind the live database (a few columns and a table had been added directly over time); that drift was reconciled on 2026-06-29 by the v3 migration, and the provisioning script now applies v1 through v3 so a fresh build matches production. Keep it that way by writing a migration for any future live change.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Make 'table' tangible with the users example. Columns are the fields — username, the password fingerprint, university ID, and the two permission flags. Each row is one person. Point out again that the password column holds fingerprints, not passwords. Everyone has seen a spreadsheet; a database table is the same idea with stricter rules about what goes in each column.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 the obvious question honestly. Splitting users, sessions, tasks, and sensor readings into four separate SQLite files is a legacy decision the system grew up with, not something a fresh design would necessarily do. It functions perfectly well; it just means a bit more bookkeeping about which file holds what. It's the kind of thing a successor might consolidate someday, but there's no pressing reason 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the audience a way to think about the two database types. SQLite is a single file with no server to run — ideal for small, simple datasets like users and tasks. PostgreSQL is a full-blown database server — more setup, but it handles the inventory's needs: the barcode counter, complex multi-table queries, and all-or-nothing updates under concurrent use. It's not that one is better; they fit different jobs, and the system uses each where it makes sense.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Summarize where data lives and how to change it safely. Next session is short — the standalone particle-counter demo page — before we look at the sensor and desktop programs that talk to the server.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411480" cy="6858000"/>
          </a:xfrm>
          <a:prstGeom prst="rect">
            <a:avLst/>
          </a:prstGeom>
          <a:solidFill>
            <a:srgbClr val="CC0000"/>
          </a:solidFill>
          <a:ln/>
        </p:spPr>
      </p:sp>
      <p:sp>
        <p:nvSpPr>
          <p:cNvPr id="3" name="Text 1"/>
          <p:cNvSpPr/>
          <p:nvPr/>
        </p:nvSpPr>
        <p:spPr>
          <a:xfrm>
            <a:off x="914400" y="1371600"/>
            <a:ext cx="10360152" cy="457200"/>
          </a:xfrm>
          <a:prstGeom prst="rect">
            <a:avLst/>
          </a:prstGeom>
          <a:noFill/>
          <a:ln/>
        </p:spPr>
        <p:txBody>
          <a:bodyPr wrap="square" lIns="0" tIns="0" rIns="0" bIns="0" rtlCol="0" anchor="ctr"/>
          <a:lstStyle/>
          <a:p>
            <a:pPr algn="l" indent="0" marL="0">
              <a:buNone/>
            </a:pPr>
            <a:r>
              <a:rPr lang="en-US" sz="1400" b="1" spc="200" kern="0" dirty="0">
                <a:solidFill>
                  <a:srgbClr val="CC0000"/>
                </a:solidFill>
                <a:latin typeface="Calibri" pitchFamily="34" charset="0"/>
                <a:ea typeface="Calibri" pitchFamily="34" charset="-122"/>
                <a:cs typeface="Calibri" pitchFamily="34" charset="-120"/>
              </a:rPr>
              <a:t>PART 10</a:t>
            </a:r>
            <a:endParaRPr lang="en-US" sz="1400" dirty="0"/>
          </a:p>
        </p:txBody>
      </p:sp>
      <p:sp>
        <p:nvSpPr>
          <p:cNvPr id="4" name="Text 2"/>
          <p:cNvSpPr/>
          <p:nvPr/>
        </p:nvSpPr>
        <p:spPr>
          <a:xfrm>
            <a:off x="914400" y="1828800"/>
            <a:ext cx="10360152" cy="1554480"/>
          </a:xfrm>
          <a:prstGeom prst="rect">
            <a:avLst/>
          </a:prstGeom>
          <a:noFill/>
          <a:ln/>
        </p:spPr>
        <p:txBody>
          <a:bodyPr wrap="square" lIns="0" tIns="0" rIns="0" bIns="0" rtlCol="0" anchor="t"/>
          <a:lstStyle/>
          <a:p>
            <a:pPr algn="l" indent="0" marL="0">
              <a:buNone/>
            </a:pPr>
            <a:r>
              <a:rPr lang="en-US" sz="4000" b="1" dirty="0">
                <a:solidFill>
                  <a:srgbClr val="1A1A1A"/>
                </a:solidFill>
                <a:latin typeface="Georgia" pitchFamily="34" charset="0"/>
                <a:ea typeface="Georgia" pitchFamily="34" charset="-122"/>
                <a:cs typeface="Georgia" pitchFamily="34" charset="-120"/>
              </a:rPr>
              <a:t>The Databases</a:t>
            </a:r>
            <a:endParaRPr lang="en-US" sz="4000" dirty="0"/>
          </a:p>
        </p:txBody>
      </p:sp>
      <p:sp>
        <p:nvSpPr>
          <p:cNvPr id="5" name="Text 3"/>
          <p:cNvSpPr/>
          <p:nvPr/>
        </p:nvSpPr>
        <p:spPr>
          <a:xfrm>
            <a:off x="914400" y="3429000"/>
            <a:ext cx="10177272" cy="731520"/>
          </a:xfrm>
          <a:prstGeom prst="rect">
            <a:avLst/>
          </a:prstGeom>
          <a:noFill/>
          <a:ln/>
        </p:spPr>
        <p:txBody>
          <a:bodyPr wrap="square" lIns="0" tIns="0" rIns="0" bIns="0" rtlCol="0" anchor="t"/>
          <a:lstStyle/>
          <a:p>
            <a:pPr algn="l" indent="0" marL="0">
              <a:buNone/>
            </a:pPr>
            <a:r>
              <a:rPr lang="en-US" sz="1700" dirty="0">
                <a:solidFill>
                  <a:srgbClr val="595959"/>
                </a:solidFill>
                <a:latin typeface="Calibri" pitchFamily="34" charset="0"/>
                <a:ea typeface="Calibri" pitchFamily="34" charset="-122"/>
                <a:cs typeface="Calibri" pitchFamily="34" charset="-120"/>
              </a:rPr>
              <a:t>UNanofabTools Server — A Plain-English Guide</a:t>
            </a:r>
            <a:endParaRPr lang="en-US" sz="1700" dirty="0"/>
          </a:p>
          <a:p>
            <a:pPr algn="l" indent="0" marL="0">
              <a:buNone/>
            </a:pPr>
            <a:r>
              <a:rPr lang="en-US" sz="1700" dirty="0">
                <a:solidFill>
                  <a:srgbClr val="595959"/>
                </a:solidFill>
                <a:latin typeface="Calibri" pitchFamily="34" charset="0"/>
                <a:ea typeface="Calibri" pitchFamily="34" charset="-122"/>
                <a:cs typeface="Calibri" pitchFamily="34" charset="-120"/>
              </a:rPr>
              <a:t>The tables behind the system, and what each one holds.</a:t>
            </a:r>
            <a:endParaRPr lang="en-US" sz="1700" dirty="0"/>
          </a:p>
        </p:txBody>
      </p:sp>
      <p:sp>
        <p:nvSpPr>
          <p:cNvPr id="6" name="Text 4"/>
          <p:cNvSpPr/>
          <p:nvPr/>
        </p:nvSpPr>
        <p:spPr>
          <a:xfrm>
            <a:off x="914400" y="5029200"/>
            <a:ext cx="10360152" cy="1280160"/>
          </a:xfrm>
          <a:prstGeom prst="rect">
            <a:avLst/>
          </a:prstGeom>
          <a:noFill/>
          <a:ln/>
        </p:spPr>
        <p:txBody>
          <a:bodyPr wrap="square" lIns="0" tIns="0" rIns="0" bIns="0" rtlCol="0" anchor="t"/>
          <a:lstStyle/>
          <a:p>
            <a:pPr algn="l" indent="0" marL="0">
              <a:lnSpc>
                <a:spcPct val="115000"/>
              </a:lnSpc>
              <a:buNone/>
            </a:pPr>
            <a:r>
              <a:rPr lang="en-US" sz="1400" b="1" dirty="0">
                <a:solidFill>
                  <a:srgbClr val="1A1A1A"/>
                </a:solidFill>
                <a:latin typeface="Calibri" pitchFamily="34" charset="0"/>
                <a:ea typeface="Calibri" pitchFamily="34" charset="-122"/>
                <a:cs typeface="Calibri" pitchFamily="34" charset="-120"/>
              </a:rPr>
              <a:t>Faith</a:t>
            </a:r>
            <a:endParaRPr lang="en-US" sz="1400" dirty="0"/>
          </a:p>
          <a:p>
            <a:pPr algn="l" indent="0" marL="0">
              <a:lnSpc>
                <a:spcPct val="115000"/>
              </a:lnSpc>
              <a:buNone/>
            </a:pPr>
            <a:r>
              <a:rPr lang="en-US" sz="1200" dirty="0">
                <a:solidFill>
                  <a:srgbClr val="595959"/>
                </a:solidFill>
                <a:latin typeface="Calibri" pitchFamily="34" charset="0"/>
                <a:ea typeface="Calibri" pitchFamily="34" charset="-122"/>
                <a:cs typeface="Calibri" pitchFamily="34" charset="-120"/>
              </a:rPr>
              <a:t>Server Developer &amp; Maintainer</a:t>
            </a:r>
            <a:endParaRPr lang="en-US" sz="1400" dirty="0"/>
          </a:p>
          <a:p>
            <a:pPr algn="l" indent="0" marL="0">
              <a:lnSpc>
                <a:spcPct val="115000"/>
              </a:lnSpc>
              <a:buNone/>
            </a:pPr>
            <a:r>
              <a:rPr lang="en-US" sz="1200" dirty="0">
                <a:solidFill>
                  <a:srgbClr val="595959"/>
                </a:solidFill>
                <a:latin typeface="Calibri" pitchFamily="34" charset="0"/>
                <a:ea typeface="Calibri" pitchFamily="34" charset="-122"/>
                <a:cs typeface="Calibri" pitchFamily="34" charset="-120"/>
              </a:rPr>
              <a:t>Utah Nanofab · University of Utah</a:t>
            </a:r>
            <a:endParaRPr lang="en-US" sz="1400" dirty="0"/>
          </a:p>
          <a:p>
            <a:pPr algn="l" indent="0" marL="0">
              <a:lnSpc>
                <a:spcPct val="115000"/>
              </a:lnSpc>
              <a:buNone/>
            </a:pPr>
            <a:r>
              <a:rPr lang="en-US" sz="1100" dirty="0">
                <a:solidFill>
                  <a:srgbClr val="8A8A8A"/>
                </a:solidFill>
                <a:latin typeface="Calibri" pitchFamily="34" charset="0"/>
                <a:ea typeface="Calibri" pitchFamily="34" charset="-122"/>
                <a:cs typeface="Calibri" pitchFamily="34" charset="-120"/>
              </a:rPr>
              <a:t>May 2026</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02920"/>
            <a:ext cx="164592" cy="329184"/>
          </a:xfrm>
          <a:prstGeom prst="rect">
            <a:avLst/>
          </a:prstGeom>
          <a:solidFill>
            <a:srgbClr val="CC0000"/>
          </a:solidFill>
          <a:ln/>
        </p:spPr>
      </p:sp>
      <p:sp>
        <p:nvSpPr>
          <p:cNvPr id="3" name="Text 1"/>
          <p:cNvSpPr/>
          <p:nvPr/>
        </p:nvSpPr>
        <p:spPr>
          <a:xfrm>
            <a:off x="932688" y="384048"/>
            <a:ext cx="10616184" cy="640080"/>
          </a:xfrm>
          <a:prstGeom prst="rect">
            <a:avLst/>
          </a:prstGeom>
          <a:noFill/>
          <a:ln/>
        </p:spPr>
        <p:txBody>
          <a:bodyPr wrap="square" lIns="0" tIns="0" rIns="0" bIns="0" rtlCol="0" anchor="ctr"/>
          <a:lstStyle/>
          <a:p>
            <a:pPr algn="l" indent="0" marL="0">
              <a:buNone/>
            </a:pPr>
            <a:r>
              <a:rPr lang="en-US" sz="2600" b="1" dirty="0">
                <a:solidFill>
                  <a:srgbClr val="1A1A1A"/>
                </a:solidFill>
                <a:latin typeface="Georgia" pitchFamily="34" charset="0"/>
                <a:ea typeface="Georgia" pitchFamily="34" charset="-122"/>
                <a:cs typeface="Georgia" pitchFamily="34" charset="-120"/>
              </a:rPr>
              <a:t>First, what's a 'table' and a 'model'?</a:t>
            </a:r>
            <a:endParaRPr lang="en-US" sz="2600" dirty="0"/>
          </a:p>
        </p:txBody>
      </p:sp>
      <p:sp>
        <p:nvSpPr>
          <p:cNvPr id="4" name="Shape 2"/>
          <p:cNvSpPr/>
          <p:nvPr/>
        </p:nvSpPr>
        <p:spPr>
          <a:xfrm>
            <a:off x="0" y="6565392"/>
            <a:ext cx="12188952" cy="292608"/>
          </a:xfrm>
          <a:prstGeom prst="rect">
            <a:avLst/>
          </a:prstGeom>
          <a:solidFill>
            <a:srgbClr val="CC0000"/>
          </a:solidFill>
          <a:ln/>
        </p:spPr>
      </p:sp>
      <p:sp>
        <p:nvSpPr>
          <p:cNvPr id="5" name="Text 3"/>
          <p:cNvSpPr/>
          <p:nvPr/>
        </p:nvSpPr>
        <p:spPr>
          <a:xfrm>
            <a:off x="640080" y="6565392"/>
            <a:ext cx="7315200" cy="292608"/>
          </a:xfrm>
          <a:prstGeom prst="rect">
            <a:avLst/>
          </a:prstGeom>
          <a:noFill/>
          <a:ln/>
        </p:spPr>
        <p:txBody>
          <a:bodyPr wrap="square" lIns="0" tIns="0" rIns="0" bIns="0" rtlCol="0" anchor="ctr"/>
          <a:lstStyle/>
          <a:p>
            <a:pPr algn="l" indent="0" marL="0">
              <a:buNone/>
            </a:pPr>
            <a:r>
              <a:rPr lang="en-US" sz="900" dirty="0">
                <a:solidFill>
                  <a:srgbClr val="FFFFFF"/>
                </a:solidFill>
                <a:latin typeface="Calibri" pitchFamily="34" charset="0"/>
                <a:ea typeface="Calibri" pitchFamily="34" charset="-122"/>
                <a:cs typeface="Calibri" pitchFamily="34" charset="-120"/>
              </a:rPr>
              <a:t>UNanofabTools — Server Explained</a:t>
            </a:r>
            <a:endParaRPr lang="en-US" sz="900" dirty="0"/>
          </a:p>
        </p:txBody>
      </p:sp>
      <p:sp>
        <p:nvSpPr>
          <p:cNvPr id="6" name="Text 4"/>
          <p:cNvSpPr/>
          <p:nvPr/>
        </p:nvSpPr>
        <p:spPr>
          <a:xfrm>
            <a:off x="11091672" y="6565392"/>
            <a:ext cx="457200" cy="292608"/>
          </a:xfrm>
          <a:prstGeom prst="rect">
            <a:avLst/>
          </a:prstGeom>
          <a:noFill/>
          <a:ln/>
        </p:spPr>
        <p:txBody>
          <a:bodyPr wrap="square" lIns="0" tIns="0" rIns="0" bIns="0" rtlCol="0" anchor="ctr"/>
          <a:lstStyle/>
          <a:p>
            <a:pPr algn="r" indent="0" marL="0">
              <a:buNone/>
            </a:pPr>
            <a:r>
              <a:rPr lang="en-US" sz="900" dirty="0">
                <a:solidFill>
                  <a:srgbClr val="FFFFFF"/>
                </a:solidFill>
                <a:latin typeface="Calibri" pitchFamily="34" charset="0"/>
                <a:ea typeface="Calibri" pitchFamily="34" charset="-122"/>
                <a:cs typeface="Calibri" pitchFamily="34" charset="-120"/>
              </a:rPr>
              <a:t>2</a:t>
            </a:r>
            <a:endParaRPr lang="en-US" sz="900" dirty="0"/>
          </a:p>
        </p:txBody>
      </p:sp>
      <p:sp>
        <p:nvSpPr>
          <p:cNvPr id="7" name="Text 5"/>
          <p:cNvSpPr/>
          <p:nvPr/>
        </p:nvSpPr>
        <p:spPr>
          <a:xfrm>
            <a:off x="932688" y="1280160"/>
            <a:ext cx="10616184" cy="5029200"/>
          </a:xfrm>
          <a:prstGeom prst="rect">
            <a:avLst/>
          </a:prstGeom>
          <a:noFill/>
          <a:ln/>
        </p:spPr>
        <p:txBody>
          <a:bodyPr wrap="square" lIns="0" tIns="0" rIns="0" bIns="0" rtlCol="0" anchor="t"/>
          <a:lstStyle/>
          <a:p>
            <a:pPr marL="228600" indent="-2286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A table is a grid: columns are fields, rows are records — like a spreadsheet tab.</a:t>
            </a:r>
            <a:endParaRPr lang="en-US" sz="1500" dirty="0"/>
          </a:p>
          <a:p>
            <a:pPr marL="228600" indent="-2286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A model is the code's description of one table (its name and columns).</a:t>
            </a:r>
            <a:endParaRPr lang="en-US" sz="1500" dirty="0"/>
          </a:p>
          <a:p>
            <a:pPr marL="228600" indent="-2286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The server has several databases, each holding a few related tables.</a:t>
            </a:r>
            <a:endParaRPr lang="en-US" sz="1500" dirty="0"/>
          </a:p>
          <a:p>
            <a:pPr marL="228600" indent="-2286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Some data also lives in plain CSV files, not in a database at all.</a:t>
            </a:r>
            <a:endParaRPr 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02920"/>
            <a:ext cx="164592" cy="329184"/>
          </a:xfrm>
          <a:prstGeom prst="rect">
            <a:avLst/>
          </a:prstGeom>
          <a:solidFill>
            <a:srgbClr val="CC0000"/>
          </a:solidFill>
          <a:ln/>
        </p:spPr>
      </p:sp>
      <p:sp>
        <p:nvSpPr>
          <p:cNvPr id="3" name="Text 1"/>
          <p:cNvSpPr/>
          <p:nvPr/>
        </p:nvSpPr>
        <p:spPr>
          <a:xfrm>
            <a:off x="932688" y="384048"/>
            <a:ext cx="10616184" cy="640080"/>
          </a:xfrm>
          <a:prstGeom prst="rect">
            <a:avLst/>
          </a:prstGeom>
          <a:noFill/>
          <a:ln/>
        </p:spPr>
        <p:txBody>
          <a:bodyPr wrap="square" lIns="0" tIns="0" rIns="0" bIns="0" rtlCol="0" anchor="ctr"/>
          <a:lstStyle/>
          <a:p>
            <a:pPr algn="l" indent="0" marL="0">
              <a:buNone/>
            </a:pPr>
            <a:r>
              <a:rPr lang="en-US" sz="2600" b="1" dirty="0">
                <a:solidFill>
                  <a:srgbClr val="1A1A1A"/>
                </a:solidFill>
                <a:latin typeface="Georgia" pitchFamily="34" charset="0"/>
                <a:ea typeface="Georgia" pitchFamily="34" charset="-122"/>
                <a:cs typeface="Georgia" pitchFamily="34" charset="-120"/>
              </a:rPr>
              <a:t>Five databases at a glance</a:t>
            </a:r>
            <a:endParaRPr lang="en-US" sz="2600" dirty="0"/>
          </a:p>
        </p:txBody>
      </p:sp>
      <p:sp>
        <p:nvSpPr>
          <p:cNvPr id="4" name="Shape 2"/>
          <p:cNvSpPr/>
          <p:nvPr/>
        </p:nvSpPr>
        <p:spPr>
          <a:xfrm>
            <a:off x="0" y="6565392"/>
            <a:ext cx="12188952" cy="292608"/>
          </a:xfrm>
          <a:prstGeom prst="rect">
            <a:avLst/>
          </a:prstGeom>
          <a:solidFill>
            <a:srgbClr val="CC0000"/>
          </a:solidFill>
          <a:ln/>
        </p:spPr>
      </p:sp>
      <p:sp>
        <p:nvSpPr>
          <p:cNvPr id="5" name="Text 3"/>
          <p:cNvSpPr/>
          <p:nvPr/>
        </p:nvSpPr>
        <p:spPr>
          <a:xfrm>
            <a:off x="640080" y="6565392"/>
            <a:ext cx="7315200" cy="292608"/>
          </a:xfrm>
          <a:prstGeom prst="rect">
            <a:avLst/>
          </a:prstGeom>
          <a:noFill/>
          <a:ln/>
        </p:spPr>
        <p:txBody>
          <a:bodyPr wrap="square" lIns="0" tIns="0" rIns="0" bIns="0" rtlCol="0" anchor="ctr"/>
          <a:lstStyle/>
          <a:p>
            <a:pPr algn="l" indent="0" marL="0">
              <a:buNone/>
            </a:pPr>
            <a:r>
              <a:rPr lang="en-US" sz="900" dirty="0">
                <a:solidFill>
                  <a:srgbClr val="FFFFFF"/>
                </a:solidFill>
                <a:latin typeface="Calibri" pitchFamily="34" charset="0"/>
                <a:ea typeface="Calibri" pitchFamily="34" charset="-122"/>
                <a:cs typeface="Calibri" pitchFamily="34" charset="-120"/>
              </a:rPr>
              <a:t>UNanofabTools — Server Explained</a:t>
            </a:r>
            <a:endParaRPr lang="en-US" sz="900" dirty="0"/>
          </a:p>
        </p:txBody>
      </p:sp>
      <p:sp>
        <p:nvSpPr>
          <p:cNvPr id="6" name="Text 4"/>
          <p:cNvSpPr/>
          <p:nvPr/>
        </p:nvSpPr>
        <p:spPr>
          <a:xfrm>
            <a:off x="11091672" y="6565392"/>
            <a:ext cx="457200" cy="292608"/>
          </a:xfrm>
          <a:prstGeom prst="rect">
            <a:avLst/>
          </a:prstGeom>
          <a:noFill/>
          <a:ln/>
        </p:spPr>
        <p:txBody>
          <a:bodyPr wrap="square" lIns="0" tIns="0" rIns="0" bIns="0" rtlCol="0" anchor="ctr"/>
          <a:lstStyle/>
          <a:p>
            <a:pPr algn="r" indent="0" marL="0">
              <a:buNone/>
            </a:pPr>
            <a:r>
              <a:rPr lang="en-US" sz="900" dirty="0">
                <a:solidFill>
                  <a:srgbClr val="FFFFFF"/>
                </a:solidFill>
                <a:latin typeface="Calibri" pitchFamily="34" charset="0"/>
                <a:ea typeface="Calibri" pitchFamily="34" charset="-122"/>
                <a:cs typeface="Calibri" pitchFamily="34" charset="-120"/>
              </a:rPr>
              <a:t>3</a:t>
            </a:r>
            <a:endParaRPr lang="en-US" sz="9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932688" y="1280160"/>
          <a:ext cx="10616184" cy="914400"/>
        </p:xfrm>
        <a:graphic>
          <a:graphicData uri="http://schemas.openxmlformats.org/drawingml/2006/table">
            <a:tbl>
              <a:tblPr/>
              <a:tblGrid>
                <a:gridCol w="4206240"/>
                <a:gridCol w="6675120"/>
              </a:tblGrid>
              <a:tr h="274320">
                <a:tc>
                  <a:txBody>
                    <a:bodyPr/>
                    <a:lstStyle/>
                    <a:p>
                      <a:pPr algn="l" indent="0" marL="0">
                        <a:buNone/>
                      </a:pPr>
                      <a:r>
                        <a:rPr lang="en-US" sz="1250" b="1" dirty="0">
                          <a:solidFill>
                            <a:srgbClr val="FFFFFF"/>
                          </a:solidFill>
                          <a:latin typeface="Calibri" pitchFamily="34" charset="0"/>
                          <a:ea typeface="Calibri" pitchFamily="34" charset="-122"/>
                          <a:cs typeface="Calibri" pitchFamily="34" charset="-120"/>
                        </a:rPr>
                        <a:t>Database</a:t>
                      </a:r>
                      <a:endParaRPr lang="en-US" sz="125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CC0000"/>
                    </a:solidFill>
                  </a:tcPr>
                </a:tc>
                <a:tc>
                  <a:txBody>
                    <a:bodyPr/>
                    <a:lstStyle/>
                    <a:p>
                      <a:pPr algn="l" indent="0" marL="0">
                        <a:buNone/>
                      </a:pPr>
                      <a:r>
                        <a:rPr lang="en-US" sz="1250" b="1" dirty="0">
                          <a:solidFill>
                            <a:srgbClr val="FFFFFF"/>
                          </a:solidFill>
                          <a:latin typeface="Calibri" pitchFamily="34" charset="0"/>
                          <a:ea typeface="Calibri" pitchFamily="34" charset="-122"/>
                          <a:cs typeface="Calibri" pitchFamily="34" charset="-120"/>
                        </a:rPr>
                        <a:t>Holds</a:t>
                      </a:r>
                      <a:endParaRPr lang="en-US" sz="125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CC0000"/>
                    </a:solidFill>
                  </a:tcPr>
                </a:tc>
              </a:tr>
              <a:tr h="274320">
                <a:tc>
                  <a:txBody>
                    <a:bodyPr/>
                    <a:lstStyle/>
                    <a:p>
                      <a:pPr algn="l" indent="0" marL="0">
                        <a:buNone/>
                      </a:pPr>
                      <a:r>
                        <a:rPr lang="en-US" sz="1150" dirty="0">
                          <a:solidFill>
                            <a:srgbClr val="1A1A1A"/>
                          </a:solidFill>
                          <a:latin typeface="Calibri" pitchFamily="34" charset="0"/>
                          <a:ea typeface="Calibri" pitchFamily="34" charset="-122"/>
                          <a:cs typeface="Calibri" pitchFamily="34" charset="-120"/>
                        </a:rPr>
                        <a:t>signininfo (SQLite)</a:t>
                      </a:r>
                      <a:endParaRPr lang="en-US" sz="115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l" indent="0" marL="0">
                        <a:buNone/>
                      </a:pPr>
                      <a:r>
                        <a:rPr lang="en-US" sz="1150" dirty="0">
                          <a:solidFill>
                            <a:srgbClr val="1A1A1A"/>
                          </a:solidFill>
                          <a:latin typeface="Calibri" pitchFamily="34" charset="0"/>
                          <a:ea typeface="Calibri" pitchFamily="34" charset="-122"/>
                          <a:cs typeface="Calibri" pitchFamily="34" charset="-120"/>
                        </a:rPr>
                        <a:t>User accounts</a:t>
                      </a:r>
                      <a:endParaRPr lang="en-US" sz="115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r>
              <a:tr h="274320">
                <a:tc>
                  <a:txBody>
                    <a:bodyPr/>
                    <a:lstStyle/>
                    <a:p>
                      <a:pPr algn="l" indent="0" marL="0">
                        <a:buNone/>
                      </a:pPr>
                      <a:r>
                        <a:rPr lang="en-US" sz="1150" dirty="0">
                          <a:solidFill>
                            <a:srgbClr val="1A1A1A"/>
                          </a:solidFill>
                          <a:latin typeface="Calibri" pitchFamily="34" charset="0"/>
                          <a:ea typeface="Calibri" pitchFamily="34" charset="-122"/>
                          <a:cs typeface="Calibri" pitchFamily="34" charset="-120"/>
                        </a:rPr>
                        <a:t>sessioninfo (SQLite)</a:t>
                      </a:r>
                      <a:endParaRPr lang="en-US" sz="115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2F2F2"/>
                    </a:solidFill>
                  </a:tcPr>
                </a:tc>
                <a:tc>
                  <a:txBody>
                    <a:bodyPr/>
                    <a:lstStyle/>
                    <a:p>
                      <a:pPr algn="l" indent="0" marL="0">
                        <a:buNone/>
                      </a:pPr>
                      <a:r>
                        <a:rPr lang="en-US" sz="1150" dirty="0">
                          <a:solidFill>
                            <a:srgbClr val="1A1A1A"/>
                          </a:solidFill>
                          <a:latin typeface="Calibri" pitchFamily="34" charset="0"/>
                          <a:ea typeface="Calibri" pitchFamily="34" charset="-122"/>
                          <a:cs typeface="Calibri" pitchFamily="34" charset="-120"/>
                        </a:rPr>
                        <a:t>Active login sessions</a:t>
                      </a:r>
                      <a:endParaRPr lang="en-US" sz="115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2F2F2"/>
                    </a:solidFill>
                  </a:tcPr>
                </a:tc>
              </a:tr>
              <a:tr h="274320">
                <a:tc>
                  <a:txBody>
                    <a:bodyPr/>
                    <a:lstStyle/>
                    <a:p>
                      <a:pPr algn="l" indent="0" marL="0">
                        <a:buNone/>
                      </a:pPr>
                      <a:r>
                        <a:rPr lang="en-US" sz="1150" dirty="0">
                          <a:solidFill>
                            <a:srgbClr val="1A1A1A"/>
                          </a:solidFill>
                          <a:latin typeface="Calibri" pitchFamily="34" charset="0"/>
                          <a:ea typeface="Calibri" pitchFamily="34" charset="-122"/>
                          <a:cs typeface="Calibri" pitchFamily="34" charset="-120"/>
                        </a:rPr>
                        <a:t>tasks (SQLite)</a:t>
                      </a:r>
                      <a:endParaRPr lang="en-US" sz="115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l" indent="0" marL="0">
                        <a:buNone/>
                      </a:pPr>
                      <a:r>
                        <a:rPr lang="en-US" sz="1150" dirty="0">
                          <a:solidFill>
                            <a:srgbClr val="1A1A1A"/>
                          </a:solidFill>
                          <a:latin typeface="Calibri" pitchFamily="34" charset="0"/>
                          <a:ea typeface="Calibri" pitchFamily="34" charset="-122"/>
                          <a:cs typeface="Calibri" pitchFamily="34" charset="-120"/>
                        </a:rPr>
                        <a:t>Tasks, assignees, file links</a:t>
                      </a:r>
                      <a:endParaRPr lang="en-US" sz="115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r>
              <a:tr h="274320">
                <a:tc>
                  <a:txBody>
                    <a:bodyPr/>
                    <a:lstStyle/>
                    <a:p>
                      <a:pPr algn="l" indent="0" marL="0">
                        <a:buNone/>
                      </a:pPr>
                      <a:r>
                        <a:rPr lang="en-US" sz="1150" dirty="0">
                          <a:solidFill>
                            <a:srgbClr val="1A1A1A"/>
                          </a:solidFill>
                          <a:latin typeface="Calibri" pitchFamily="34" charset="0"/>
                          <a:ea typeface="Calibri" pitchFamily="34" charset="-122"/>
                          <a:cs typeface="Calibri" pitchFamily="34" charset="-120"/>
                        </a:rPr>
                        <a:t>particle_sensors (SQLite)</a:t>
                      </a:r>
                      <a:endParaRPr lang="en-US" sz="115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2F2F2"/>
                    </a:solidFill>
                  </a:tcPr>
                </a:tc>
                <a:tc>
                  <a:txBody>
                    <a:bodyPr/>
                    <a:lstStyle/>
                    <a:p>
                      <a:pPr algn="l" indent="0" marL="0">
                        <a:buNone/>
                      </a:pPr>
                      <a:r>
                        <a:rPr lang="en-US" sz="1150" dirty="0">
                          <a:solidFill>
                            <a:srgbClr val="1A1A1A"/>
                          </a:solidFill>
                          <a:latin typeface="Calibri" pitchFamily="34" charset="0"/>
                          <a:ea typeface="Calibri" pitchFamily="34" charset="-122"/>
                          <a:cs typeface="Calibri" pitchFamily="34" charset="-120"/>
                        </a:rPr>
                        <a:t>Latest reading per sensor</a:t>
                      </a:r>
                      <a:endParaRPr lang="en-US" sz="115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2F2F2"/>
                    </a:solidFill>
                  </a:tcPr>
                </a:tc>
              </a:tr>
              <a:tr h="274320">
                <a:tc>
                  <a:txBody>
                    <a:bodyPr/>
                    <a:lstStyle/>
                    <a:p>
                      <a:pPr algn="l" indent="0" marL="0">
                        <a:buNone/>
                      </a:pPr>
                      <a:r>
                        <a:rPr lang="en-US" sz="1150" dirty="0">
                          <a:solidFill>
                            <a:srgbClr val="1A1A1A"/>
                          </a:solidFill>
                          <a:latin typeface="Calibri" pitchFamily="34" charset="0"/>
                          <a:ea typeface="Calibri" pitchFamily="34" charset="-122"/>
                          <a:cs typeface="Calibri" pitchFamily="34" charset="-120"/>
                        </a:rPr>
                        <a:t>cheminventory (PostgreSQL)</a:t>
                      </a:r>
                      <a:endParaRPr lang="en-US" sz="115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l" indent="0" marL="0">
                        <a:buNone/>
                      </a:pPr>
                      <a:r>
                        <a:rPr lang="en-US" sz="1150" dirty="0">
                          <a:solidFill>
                            <a:srgbClr val="1A1A1A"/>
                          </a:solidFill>
                          <a:latin typeface="Calibri" pitchFamily="34" charset="0"/>
                          <a:ea typeface="Calibri" pitchFamily="34" charset="-122"/>
                          <a:cs typeface="Calibri" pitchFamily="34" charset="-120"/>
                        </a:rPr>
                        <a:t>The whole chemical inventory</a:t>
                      </a:r>
                      <a:endParaRPr lang="en-US" sz="115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02920"/>
            <a:ext cx="164592" cy="329184"/>
          </a:xfrm>
          <a:prstGeom prst="rect">
            <a:avLst/>
          </a:prstGeom>
          <a:solidFill>
            <a:srgbClr val="CC0000"/>
          </a:solidFill>
          <a:ln/>
        </p:spPr>
      </p:sp>
      <p:sp>
        <p:nvSpPr>
          <p:cNvPr id="3" name="Text 1"/>
          <p:cNvSpPr/>
          <p:nvPr/>
        </p:nvSpPr>
        <p:spPr>
          <a:xfrm>
            <a:off x="932688" y="384048"/>
            <a:ext cx="10616184" cy="640080"/>
          </a:xfrm>
          <a:prstGeom prst="rect">
            <a:avLst/>
          </a:prstGeom>
          <a:noFill/>
          <a:ln/>
        </p:spPr>
        <p:txBody>
          <a:bodyPr wrap="square" lIns="0" tIns="0" rIns="0" bIns="0" rtlCol="0" anchor="ctr"/>
          <a:lstStyle/>
          <a:p>
            <a:pPr algn="l" indent="0" marL="0">
              <a:buNone/>
            </a:pPr>
            <a:r>
              <a:rPr lang="en-US" sz="2600" b="1" dirty="0">
                <a:solidFill>
                  <a:srgbClr val="1A1A1A"/>
                </a:solidFill>
                <a:latin typeface="Georgia" pitchFamily="34" charset="0"/>
                <a:ea typeface="Georgia" pitchFamily="34" charset="-122"/>
                <a:cs typeface="Georgia" pitchFamily="34" charset="-120"/>
              </a:rPr>
              <a:t>The user and session tables</a:t>
            </a:r>
            <a:endParaRPr lang="en-US" sz="2600" dirty="0"/>
          </a:p>
        </p:txBody>
      </p:sp>
      <p:sp>
        <p:nvSpPr>
          <p:cNvPr id="4" name="Shape 2"/>
          <p:cNvSpPr/>
          <p:nvPr/>
        </p:nvSpPr>
        <p:spPr>
          <a:xfrm>
            <a:off x="0" y="6565392"/>
            <a:ext cx="12188952" cy="292608"/>
          </a:xfrm>
          <a:prstGeom prst="rect">
            <a:avLst/>
          </a:prstGeom>
          <a:solidFill>
            <a:srgbClr val="CC0000"/>
          </a:solidFill>
          <a:ln/>
        </p:spPr>
      </p:sp>
      <p:sp>
        <p:nvSpPr>
          <p:cNvPr id="5" name="Text 3"/>
          <p:cNvSpPr/>
          <p:nvPr/>
        </p:nvSpPr>
        <p:spPr>
          <a:xfrm>
            <a:off x="640080" y="6565392"/>
            <a:ext cx="7315200" cy="292608"/>
          </a:xfrm>
          <a:prstGeom prst="rect">
            <a:avLst/>
          </a:prstGeom>
          <a:noFill/>
          <a:ln/>
        </p:spPr>
        <p:txBody>
          <a:bodyPr wrap="square" lIns="0" tIns="0" rIns="0" bIns="0" rtlCol="0" anchor="ctr"/>
          <a:lstStyle/>
          <a:p>
            <a:pPr algn="l" indent="0" marL="0">
              <a:buNone/>
            </a:pPr>
            <a:r>
              <a:rPr lang="en-US" sz="900" dirty="0">
                <a:solidFill>
                  <a:srgbClr val="FFFFFF"/>
                </a:solidFill>
                <a:latin typeface="Calibri" pitchFamily="34" charset="0"/>
                <a:ea typeface="Calibri" pitchFamily="34" charset="-122"/>
                <a:cs typeface="Calibri" pitchFamily="34" charset="-120"/>
              </a:rPr>
              <a:t>UNanofabTools — Server Explained</a:t>
            </a:r>
            <a:endParaRPr lang="en-US" sz="900" dirty="0"/>
          </a:p>
        </p:txBody>
      </p:sp>
      <p:sp>
        <p:nvSpPr>
          <p:cNvPr id="6" name="Text 4"/>
          <p:cNvSpPr/>
          <p:nvPr/>
        </p:nvSpPr>
        <p:spPr>
          <a:xfrm>
            <a:off x="11091672" y="6565392"/>
            <a:ext cx="457200" cy="292608"/>
          </a:xfrm>
          <a:prstGeom prst="rect">
            <a:avLst/>
          </a:prstGeom>
          <a:noFill/>
          <a:ln/>
        </p:spPr>
        <p:txBody>
          <a:bodyPr wrap="square" lIns="0" tIns="0" rIns="0" bIns="0" rtlCol="0" anchor="ctr"/>
          <a:lstStyle/>
          <a:p>
            <a:pPr algn="r" indent="0" marL="0">
              <a:buNone/>
            </a:pPr>
            <a:r>
              <a:rPr lang="en-US" sz="900" dirty="0">
                <a:solidFill>
                  <a:srgbClr val="FFFFFF"/>
                </a:solidFill>
                <a:latin typeface="Calibri" pitchFamily="34" charset="0"/>
                <a:ea typeface="Calibri" pitchFamily="34" charset="-122"/>
                <a:cs typeface="Calibri" pitchFamily="34" charset="-120"/>
              </a:rPr>
              <a:t>4</a:t>
            </a:r>
            <a:endParaRPr lang="en-US" sz="900" dirty="0"/>
          </a:p>
        </p:txBody>
      </p:sp>
      <p:sp>
        <p:nvSpPr>
          <p:cNvPr id="7" name="Text 5"/>
          <p:cNvSpPr/>
          <p:nvPr/>
        </p:nvSpPr>
        <p:spPr>
          <a:xfrm>
            <a:off x="932688" y="1280160"/>
            <a:ext cx="10616184" cy="5029200"/>
          </a:xfrm>
          <a:prstGeom prst="rect">
            <a:avLst/>
          </a:prstGeom>
          <a:noFill/>
          <a:ln/>
        </p:spPr>
        <p:txBody>
          <a:bodyPr wrap="square" lIns="0" tIns="0" rIns="0" bIns="0" rtlCol="0" anchor="t"/>
          <a:lstStyle/>
          <a:p>
            <a:pPr marL="228600" indent="-2286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Users: username, a scrambled password, university ID, and two permission flags.</a:t>
            </a:r>
            <a:endParaRPr lang="en-US" sz="1500" dirty="0"/>
          </a:p>
          <a:p>
            <a:pPr marL="228600" indent="-2286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The password column holds the bcrypt fingerprint — never the real password.</a:t>
            </a:r>
            <a:endParaRPr lang="en-US" sz="1500" dirty="0"/>
          </a:p>
          <a:p>
            <a:pPr marL="228600" indent="-2286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Sessions: a random ID, the username, and when it was created.</a:t>
            </a:r>
            <a:endParaRPr lang="en-US" sz="1500" dirty="0"/>
          </a:p>
          <a:p>
            <a:pPr marL="228600" indent="-2286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Together they answer 'who is this, and are they currently logged in?'</a:t>
            </a:r>
            <a:endParaRPr lang="en-US" sz="15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02920"/>
            <a:ext cx="164592" cy="329184"/>
          </a:xfrm>
          <a:prstGeom prst="rect">
            <a:avLst/>
          </a:prstGeom>
          <a:solidFill>
            <a:srgbClr val="CC0000"/>
          </a:solidFill>
          <a:ln/>
        </p:spPr>
      </p:sp>
      <p:sp>
        <p:nvSpPr>
          <p:cNvPr id="3" name="Text 1"/>
          <p:cNvSpPr/>
          <p:nvPr/>
        </p:nvSpPr>
        <p:spPr>
          <a:xfrm>
            <a:off x="932688" y="384048"/>
            <a:ext cx="10616184" cy="640080"/>
          </a:xfrm>
          <a:prstGeom prst="rect">
            <a:avLst/>
          </a:prstGeom>
          <a:noFill/>
          <a:ln/>
        </p:spPr>
        <p:txBody>
          <a:bodyPr wrap="square" lIns="0" tIns="0" rIns="0" bIns="0" rtlCol="0" anchor="ctr"/>
          <a:lstStyle/>
          <a:p>
            <a:pPr algn="l" indent="0" marL="0">
              <a:buNone/>
            </a:pPr>
            <a:r>
              <a:rPr lang="en-US" sz="2600" b="1" dirty="0">
                <a:solidFill>
                  <a:srgbClr val="1A1A1A"/>
                </a:solidFill>
                <a:latin typeface="Georgia" pitchFamily="34" charset="0"/>
                <a:ea typeface="Georgia" pitchFamily="34" charset="-122"/>
                <a:cs typeface="Georgia" pitchFamily="34" charset="-120"/>
              </a:rPr>
              <a:t>The task tables</a:t>
            </a:r>
            <a:endParaRPr lang="en-US" sz="2600" dirty="0"/>
          </a:p>
        </p:txBody>
      </p:sp>
      <p:sp>
        <p:nvSpPr>
          <p:cNvPr id="4" name="Shape 2"/>
          <p:cNvSpPr/>
          <p:nvPr/>
        </p:nvSpPr>
        <p:spPr>
          <a:xfrm>
            <a:off x="0" y="6565392"/>
            <a:ext cx="12188952" cy="292608"/>
          </a:xfrm>
          <a:prstGeom prst="rect">
            <a:avLst/>
          </a:prstGeom>
          <a:solidFill>
            <a:srgbClr val="CC0000"/>
          </a:solidFill>
          <a:ln/>
        </p:spPr>
      </p:sp>
      <p:sp>
        <p:nvSpPr>
          <p:cNvPr id="5" name="Text 3"/>
          <p:cNvSpPr/>
          <p:nvPr/>
        </p:nvSpPr>
        <p:spPr>
          <a:xfrm>
            <a:off x="640080" y="6565392"/>
            <a:ext cx="7315200" cy="292608"/>
          </a:xfrm>
          <a:prstGeom prst="rect">
            <a:avLst/>
          </a:prstGeom>
          <a:noFill/>
          <a:ln/>
        </p:spPr>
        <p:txBody>
          <a:bodyPr wrap="square" lIns="0" tIns="0" rIns="0" bIns="0" rtlCol="0" anchor="ctr"/>
          <a:lstStyle/>
          <a:p>
            <a:pPr algn="l" indent="0" marL="0">
              <a:buNone/>
            </a:pPr>
            <a:r>
              <a:rPr lang="en-US" sz="900" dirty="0">
                <a:solidFill>
                  <a:srgbClr val="FFFFFF"/>
                </a:solidFill>
                <a:latin typeface="Calibri" pitchFamily="34" charset="0"/>
                <a:ea typeface="Calibri" pitchFamily="34" charset="-122"/>
                <a:cs typeface="Calibri" pitchFamily="34" charset="-120"/>
              </a:rPr>
              <a:t>UNanofabTools — Server Explained</a:t>
            </a:r>
            <a:endParaRPr lang="en-US" sz="900" dirty="0"/>
          </a:p>
        </p:txBody>
      </p:sp>
      <p:sp>
        <p:nvSpPr>
          <p:cNvPr id="6" name="Text 4"/>
          <p:cNvSpPr/>
          <p:nvPr/>
        </p:nvSpPr>
        <p:spPr>
          <a:xfrm>
            <a:off x="11091672" y="6565392"/>
            <a:ext cx="457200" cy="292608"/>
          </a:xfrm>
          <a:prstGeom prst="rect">
            <a:avLst/>
          </a:prstGeom>
          <a:noFill/>
          <a:ln/>
        </p:spPr>
        <p:txBody>
          <a:bodyPr wrap="square" lIns="0" tIns="0" rIns="0" bIns="0" rtlCol="0" anchor="ctr"/>
          <a:lstStyle/>
          <a:p>
            <a:pPr algn="r" indent="0" marL="0">
              <a:buNone/>
            </a:pPr>
            <a:r>
              <a:rPr lang="en-US" sz="900" dirty="0">
                <a:solidFill>
                  <a:srgbClr val="FFFFFF"/>
                </a:solidFill>
                <a:latin typeface="Calibri" pitchFamily="34" charset="0"/>
                <a:ea typeface="Calibri" pitchFamily="34" charset="-122"/>
                <a:cs typeface="Calibri" pitchFamily="34" charset="-120"/>
              </a:rPr>
              <a:t>5</a:t>
            </a:r>
            <a:endParaRPr lang="en-US" sz="900" dirty="0"/>
          </a:p>
        </p:txBody>
      </p:sp>
      <p:sp>
        <p:nvSpPr>
          <p:cNvPr id="7" name="Text 5"/>
          <p:cNvSpPr/>
          <p:nvPr/>
        </p:nvSpPr>
        <p:spPr>
          <a:xfrm>
            <a:off x="932688" y="1280160"/>
            <a:ext cx="10616184" cy="5029200"/>
          </a:xfrm>
          <a:prstGeom prst="rect">
            <a:avLst/>
          </a:prstGeom>
          <a:noFill/>
          <a:ln/>
        </p:spPr>
        <p:txBody>
          <a:bodyPr wrap="square" lIns="0" tIns="0" rIns="0" bIns="0" rtlCol="0" anchor="t"/>
          <a:lstStyle/>
          <a:p>
            <a:pPr marL="228600" indent="-2286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Tasks: title, description, due date, priority, who assigned it, status.</a:t>
            </a:r>
            <a:endParaRPr lang="en-US" sz="1500" dirty="0"/>
          </a:p>
          <a:p>
            <a:pPr marL="228600" indent="-2286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Assignees: a separate list linking people to tasks (many-to-many).</a:t>
            </a:r>
            <a:endParaRPr lang="en-US" sz="1500" dirty="0"/>
          </a:p>
          <a:p>
            <a:pPr marL="228600" indent="-2286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Task files: the saved file locations for each task's attachments.</a:t>
            </a:r>
            <a:endParaRPr lang="en-US" sz="1500" dirty="0"/>
          </a:p>
          <a:p>
            <a:pPr marL="228600" indent="-2286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Three tables working together to model a shared to-do list.</a:t>
            </a:r>
            <a:endParaRPr lang="en-US" sz="15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02920"/>
            <a:ext cx="164592" cy="329184"/>
          </a:xfrm>
          <a:prstGeom prst="rect">
            <a:avLst/>
          </a:prstGeom>
          <a:solidFill>
            <a:srgbClr val="CC0000"/>
          </a:solidFill>
          <a:ln/>
        </p:spPr>
      </p:sp>
      <p:sp>
        <p:nvSpPr>
          <p:cNvPr id="3" name="Text 1"/>
          <p:cNvSpPr/>
          <p:nvPr/>
        </p:nvSpPr>
        <p:spPr>
          <a:xfrm>
            <a:off x="932688" y="384048"/>
            <a:ext cx="10616184" cy="640080"/>
          </a:xfrm>
          <a:prstGeom prst="rect">
            <a:avLst/>
          </a:prstGeom>
          <a:noFill/>
          <a:ln/>
        </p:spPr>
        <p:txBody>
          <a:bodyPr wrap="square" lIns="0" tIns="0" rIns="0" bIns="0" rtlCol="0" anchor="ctr"/>
          <a:lstStyle/>
          <a:p>
            <a:pPr algn="l" indent="0" marL="0">
              <a:buNone/>
            </a:pPr>
            <a:r>
              <a:rPr lang="en-US" sz="2600" b="1" dirty="0">
                <a:solidFill>
                  <a:srgbClr val="1A1A1A"/>
                </a:solidFill>
                <a:latin typeface="Georgia" pitchFamily="34" charset="0"/>
                <a:ea typeface="Georgia" pitchFamily="34" charset="-122"/>
                <a:cs typeface="Georgia" pitchFamily="34" charset="-120"/>
              </a:rPr>
              <a:t>The particle-sensor table</a:t>
            </a:r>
            <a:endParaRPr lang="en-US" sz="2600" dirty="0"/>
          </a:p>
        </p:txBody>
      </p:sp>
      <p:sp>
        <p:nvSpPr>
          <p:cNvPr id="4" name="Shape 2"/>
          <p:cNvSpPr/>
          <p:nvPr/>
        </p:nvSpPr>
        <p:spPr>
          <a:xfrm>
            <a:off x="0" y="6565392"/>
            <a:ext cx="12188952" cy="292608"/>
          </a:xfrm>
          <a:prstGeom prst="rect">
            <a:avLst/>
          </a:prstGeom>
          <a:solidFill>
            <a:srgbClr val="CC0000"/>
          </a:solidFill>
          <a:ln/>
        </p:spPr>
      </p:sp>
      <p:sp>
        <p:nvSpPr>
          <p:cNvPr id="5" name="Text 3"/>
          <p:cNvSpPr/>
          <p:nvPr/>
        </p:nvSpPr>
        <p:spPr>
          <a:xfrm>
            <a:off x="640080" y="6565392"/>
            <a:ext cx="7315200" cy="292608"/>
          </a:xfrm>
          <a:prstGeom prst="rect">
            <a:avLst/>
          </a:prstGeom>
          <a:noFill/>
          <a:ln/>
        </p:spPr>
        <p:txBody>
          <a:bodyPr wrap="square" lIns="0" tIns="0" rIns="0" bIns="0" rtlCol="0" anchor="ctr"/>
          <a:lstStyle/>
          <a:p>
            <a:pPr algn="l" indent="0" marL="0">
              <a:buNone/>
            </a:pPr>
            <a:r>
              <a:rPr lang="en-US" sz="900" dirty="0">
                <a:solidFill>
                  <a:srgbClr val="FFFFFF"/>
                </a:solidFill>
                <a:latin typeface="Calibri" pitchFamily="34" charset="0"/>
                <a:ea typeface="Calibri" pitchFamily="34" charset="-122"/>
                <a:cs typeface="Calibri" pitchFamily="34" charset="-120"/>
              </a:rPr>
              <a:t>UNanofabTools — Server Explained</a:t>
            </a:r>
            <a:endParaRPr lang="en-US" sz="900" dirty="0"/>
          </a:p>
        </p:txBody>
      </p:sp>
      <p:sp>
        <p:nvSpPr>
          <p:cNvPr id="6" name="Text 4"/>
          <p:cNvSpPr/>
          <p:nvPr/>
        </p:nvSpPr>
        <p:spPr>
          <a:xfrm>
            <a:off x="11091672" y="6565392"/>
            <a:ext cx="457200" cy="292608"/>
          </a:xfrm>
          <a:prstGeom prst="rect">
            <a:avLst/>
          </a:prstGeom>
          <a:noFill/>
          <a:ln/>
        </p:spPr>
        <p:txBody>
          <a:bodyPr wrap="square" lIns="0" tIns="0" rIns="0" bIns="0" rtlCol="0" anchor="ctr"/>
          <a:lstStyle/>
          <a:p>
            <a:pPr algn="r" indent="0" marL="0">
              <a:buNone/>
            </a:pPr>
            <a:r>
              <a:rPr lang="en-US" sz="900" dirty="0">
                <a:solidFill>
                  <a:srgbClr val="FFFFFF"/>
                </a:solidFill>
                <a:latin typeface="Calibri" pitchFamily="34" charset="0"/>
                <a:ea typeface="Calibri" pitchFamily="34" charset="-122"/>
                <a:cs typeface="Calibri" pitchFamily="34" charset="-120"/>
              </a:rPr>
              <a:t>6</a:t>
            </a:r>
            <a:endParaRPr lang="en-US" sz="900" dirty="0"/>
          </a:p>
        </p:txBody>
      </p:sp>
      <p:sp>
        <p:nvSpPr>
          <p:cNvPr id="7" name="Text 5"/>
          <p:cNvSpPr/>
          <p:nvPr/>
        </p:nvSpPr>
        <p:spPr>
          <a:xfrm>
            <a:off x="932688" y="1280160"/>
            <a:ext cx="10616184" cy="548640"/>
          </a:xfrm>
          <a:prstGeom prst="rect">
            <a:avLst/>
          </a:prstGeom>
          <a:noFill/>
          <a:ln/>
        </p:spPr>
        <p:txBody>
          <a:bodyPr wrap="square" lIns="0" tIns="0" rIns="0" bIns="0" rtlCol="0" anchor="t"/>
          <a:lstStyle/>
          <a:p>
            <a:pPr indent="0" marL="0">
              <a:buNone/>
            </a:pPr>
            <a:r>
              <a:rPr lang="en-US" sz="1500" i="1" dirty="0">
                <a:solidFill>
                  <a:srgbClr val="595959"/>
                </a:solidFill>
                <a:latin typeface="Calibri" pitchFamily="34" charset="0"/>
                <a:ea typeface="Calibri" pitchFamily="34" charset="-122"/>
                <a:cs typeface="Calibri" pitchFamily="34" charset="-120"/>
              </a:rPr>
              <a:t>Stores only the most recent reading per sensor.</a:t>
            </a:r>
            <a:endParaRPr lang="en-US" sz="1500" dirty="0"/>
          </a:p>
        </p:txBody>
      </p:sp>
      <p:sp>
        <p:nvSpPr>
          <p:cNvPr id="8" name="Text 6"/>
          <p:cNvSpPr/>
          <p:nvPr/>
        </p:nvSpPr>
        <p:spPr>
          <a:xfrm>
            <a:off x="932688" y="1920240"/>
            <a:ext cx="10616184" cy="4389120"/>
          </a:xfrm>
          <a:prstGeom prst="rect">
            <a:avLst/>
          </a:prstGeom>
          <a:noFill/>
          <a:ln/>
        </p:spPr>
        <p:txBody>
          <a:bodyPr wrap="square" lIns="0" tIns="0" rIns="0" bIns="0" rtlCol="0" anchor="t"/>
          <a:lstStyle/>
          <a:p>
            <a:pPr marL="228600" indent="-2286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One row per (room, sensor) — kept unique by a constraint.</a:t>
            </a:r>
            <a:endParaRPr lang="en-US" sz="1500" dirty="0"/>
          </a:p>
          <a:p>
            <a:pPr marL="228600" indent="-2286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Holds the latest mass, count, and size measurements, plus optional temp/humidity.</a:t>
            </a:r>
            <a:endParaRPr lang="en-US" sz="1500" dirty="0"/>
          </a:p>
          <a:p>
            <a:pPr marL="228600" indent="-2286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New readings overwrite the old row (an 'upsert').</a:t>
            </a:r>
            <a:endParaRPr lang="en-US" sz="1500" dirty="0"/>
          </a:p>
          <a:p>
            <a:pPr marL="228600" indent="-2286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The full history lives in CSV files, not here.</a:t>
            </a:r>
            <a:endParaRPr lang="en-US" sz="15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02920"/>
            <a:ext cx="164592" cy="329184"/>
          </a:xfrm>
          <a:prstGeom prst="rect">
            <a:avLst/>
          </a:prstGeom>
          <a:solidFill>
            <a:srgbClr val="CC0000"/>
          </a:solidFill>
          <a:ln/>
        </p:spPr>
      </p:sp>
      <p:sp>
        <p:nvSpPr>
          <p:cNvPr id="3" name="Text 1"/>
          <p:cNvSpPr/>
          <p:nvPr/>
        </p:nvSpPr>
        <p:spPr>
          <a:xfrm>
            <a:off x="932688" y="384048"/>
            <a:ext cx="10616184" cy="640080"/>
          </a:xfrm>
          <a:prstGeom prst="rect">
            <a:avLst/>
          </a:prstGeom>
          <a:noFill/>
          <a:ln/>
        </p:spPr>
        <p:txBody>
          <a:bodyPr wrap="square" lIns="0" tIns="0" rIns="0" bIns="0" rtlCol="0" anchor="ctr"/>
          <a:lstStyle/>
          <a:p>
            <a:pPr algn="l" indent="0" marL="0">
              <a:buNone/>
            </a:pPr>
            <a:r>
              <a:rPr lang="en-US" sz="2600" b="1" dirty="0">
                <a:solidFill>
                  <a:srgbClr val="1A1A1A"/>
                </a:solidFill>
                <a:latin typeface="Georgia" pitchFamily="34" charset="0"/>
                <a:ea typeface="Georgia" pitchFamily="34" charset="-122"/>
                <a:cs typeface="Georgia" pitchFamily="34" charset="-120"/>
              </a:rPr>
              <a:t>The chemical-inventory tables</a:t>
            </a:r>
            <a:endParaRPr lang="en-US" sz="2600" dirty="0"/>
          </a:p>
        </p:txBody>
      </p:sp>
      <p:sp>
        <p:nvSpPr>
          <p:cNvPr id="4" name="Shape 2"/>
          <p:cNvSpPr/>
          <p:nvPr/>
        </p:nvSpPr>
        <p:spPr>
          <a:xfrm>
            <a:off x="0" y="6565392"/>
            <a:ext cx="12188952" cy="292608"/>
          </a:xfrm>
          <a:prstGeom prst="rect">
            <a:avLst/>
          </a:prstGeom>
          <a:solidFill>
            <a:srgbClr val="CC0000"/>
          </a:solidFill>
          <a:ln/>
        </p:spPr>
      </p:sp>
      <p:sp>
        <p:nvSpPr>
          <p:cNvPr id="5" name="Text 3"/>
          <p:cNvSpPr/>
          <p:nvPr/>
        </p:nvSpPr>
        <p:spPr>
          <a:xfrm>
            <a:off x="640080" y="6565392"/>
            <a:ext cx="7315200" cy="292608"/>
          </a:xfrm>
          <a:prstGeom prst="rect">
            <a:avLst/>
          </a:prstGeom>
          <a:noFill/>
          <a:ln/>
        </p:spPr>
        <p:txBody>
          <a:bodyPr wrap="square" lIns="0" tIns="0" rIns="0" bIns="0" rtlCol="0" anchor="ctr"/>
          <a:lstStyle/>
          <a:p>
            <a:pPr algn="l" indent="0" marL="0">
              <a:buNone/>
            </a:pPr>
            <a:r>
              <a:rPr lang="en-US" sz="900" dirty="0">
                <a:solidFill>
                  <a:srgbClr val="FFFFFF"/>
                </a:solidFill>
                <a:latin typeface="Calibri" pitchFamily="34" charset="0"/>
                <a:ea typeface="Calibri" pitchFamily="34" charset="-122"/>
                <a:cs typeface="Calibri" pitchFamily="34" charset="-120"/>
              </a:rPr>
              <a:t>UNanofabTools — Server Explained</a:t>
            </a:r>
            <a:endParaRPr lang="en-US" sz="900" dirty="0"/>
          </a:p>
        </p:txBody>
      </p:sp>
      <p:sp>
        <p:nvSpPr>
          <p:cNvPr id="6" name="Text 4"/>
          <p:cNvSpPr/>
          <p:nvPr/>
        </p:nvSpPr>
        <p:spPr>
          <a:xfrm>
            <a:off x="11091672" y="6565392"/>
            <a:ext cx="457200" cy="292608"/>
          </a:xfrm>
          <a:prstGeom prst="rect">
            <a:avLst/>
          </a:prstGeom>
          <a:noFill/>
          <a:ln/>
        </p:spPr>
        <p:txBody>
          <a:bodyPr wrap="square" lIns="0" tIns="0" rIns="0" bIns="0" rtlCol="0" anchor="ctr"/>
          <a:lstStyle/>
          <a:p>
            <a:pPr algn="r" indent="0" marL="0">
              <a:buNone/>
            </a:pPr>
            <a:r>
              <a:rPr lang="en-US" sz="900" dirty="0">
                <a:solidFill>
                  <a:srgbClr val="FFFFFF"/>
                </a:solidFill>
                <a:latin typeface="Calibri" pitchFamily="34" charset="0"/>
                <a:ea typeface="Calibri" pitchFamily="34" charset="-122"/>
                <a:cs typeface="Calibri" pitchFamily="34" charset="-120"/>
              </a:rPr>
              <a:t>7</a:t>
            </a:r>
            <a:endParaRPr lang="en-US" sz="900" dirty="0"/>
          </a:p>
        </p:txBody>
      </p:sp>
      <p:sp>
        <p:nvSpPr>
          <p:cNvPr id="7" name="Text 5"/>
          <p:cNvSpPr/>
          <p:nvPr/>
        </p:nvSpPr>
        <p:spPr>
          <a:xfrm>
            <a:off x="932688" y="1280160"/>
            <a:ext cx="10616184" cy="5029200"/>
          </a:xfrm>
          <a:prstGeom prst="rect">
            <a:avLst/>
          </a:prstGeom>
          <a:noFill/>
          <a:ln/>
        </p:spPr>
        <p:txBody>
          <a:bodyPr wrap="square" lIns="0" tIns="0" rIns="0" bIns="0" rtlCol="0" anchor="t"/>
          <a:lstStyle/>
          <a:p>
            <a:pPr marL="228600" indent="-2286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Lookups: categories, vendors, rooms.</a:t>
            </a:r>
            <a:endParaRPr lang="en-US" sz="1500" dirty="0"/>
          </a:p>
          <a:p>
            <a:pPr marL="228600" indent="-2286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Core: items (chemicals) and containers (bottles).</a:t>
            </a:r>
            <a:endParaRPr lang="en-US" sz="1500" dirty="0"/>
          </a:p>
          <a:p>
            <a:pPr marL="228600" indent="-2286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Audits: inventory cycles, raw scans, and matched container scans.</a:t>
            </a:r>
            <a:endParaRPr lang="en-US" sz="1500" dirty="0"/>
          </a:p>
          <a:p>
            <a:pPr marL="228600" indent="-2286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History: a transactions log of every action.</a:t>
            </a:r>
            <a:endParaRPr lang="en-US" sz="15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02920"/>
            <a:ext cx="164592" cy="329184"/>
          </a:xfrm>
          <a:prstGeom prst="rect">
            <a:avLst/>
          </a:prstGeom>
          <a:solidFill>
            <a:srgbClr val="CC0000"/>
          </a:solidFill>
          <a:ln/>
        </p:spPr>
      </p:sp>
      <p:sp>
        <p:nvSpPr>
          <p:cNvPr id="3" name="Text 1"/>
          <p:cNvSpPr/>
          <p:nvPr/>
        </p:nvSpPr>
        <p:spPr>
          <a:xfrm>
            <a:off x="932688" y="384048"/>
            <a:ext cx="10616184" cy="640080"/>
          </a:xfrm>
          <a:prstGeom prst="rect">
            <a:avLst/>
          </a:prstGeom>
          <a:noFill/>
          <a:ln/>
        </p:spPr>
        <p:txBody>
          <a:bodyPr wrap="square" lIns="0" tIns="0" rIns="0" bIns="0" rtlCol="0" anchor="ctr"/>
          <a:lstStyle/>
          <a:p>
            <a:pPr algn="l" indent="0" marL="0">
              <a:buNone/>
            </a:pPr>
            <a:r>
              <a:rPr lang="en-US" sz="2600" b="1" dirty="0">
                <a:solidFill>
                  <a:srgbClr val="1A1A1A"/>
                </a:solidFill>
                <a:latin typeface="Georgia" pitchFamily="34" charset="0"/>
                <a:ea typeface="Georgia" pitchFamily="34" charset="-122"/>
                <a:cs typeface="Georgia" pitchFamily="34" charset="-120"/>
              </a:rPr>
              <a:t>Two notes for maintainers</a:t>
            </a:r>
            <a:endParaRPr lang="en-US" sz="2600" dirty="0"/>
          </a:p>
        </p:txBody>
      </p:sp>
      <p:sp>
        <p:nvSpPr>
          <p:cNvPr id="4" name="Shape 2"/>
          <p:cNvSpPr/>
          <p:nvPr/>
        </p:nvSpPr>
        <p:spPr>
          <a:xfrm>
            <a:off x="0" y="6565392"/>
            <a:ext cx="12188952" cy="292608"/>
          </a:xfrm>
          <a:prstGeom prst="rect">
            <a:avLst/>
          </a:prstGeom>
          <a:solidFill>
            <a:srgbClr val="CC0000"/>
          </a:solidFill>
          <a:ln/>
        </p:spPr>
      </p:sp>
      <p:sp>
        <p:nvSpPr>
          <p:cNvPr id="5" name="Text 3"/>
          <p:cNvSpPr/>
          <p:nvPr/>
        </p:nvSpPr>
        <p:spPr>
          <a:xfrm>
            <a:off x="640080" y="6565392"/>
            <a:ext cx="7315200" cy="292608"/>
          </a:xfrm>
          <a:prstGeom prst="rect">
            <a:avLst/>
          </a:prstGeom>
          <a:noFill/>
          <a:ln/>
        </p:spPr>
        <p:txBody>
          <a:bodyPr wrap="square" lIns="0" tIns="0" rIns="0" bIns="0" rtlCol="0" anchor="ctr"/>
          <a:lstStyle/>
          <a:p>
            <a:pPr algn="l" indent="0" marL="0">
              <a:buNone/>
            </a:pPr>
            <a:r>
              <a:rPr lang="en-US" sz="900" dirty="0">
                <a:solidFill>
                  <a:srgbClr val="FFFFFF"/>
                </a:solidFill>
                <a:latin typeface="Calibri" pitchFamily="34" charset="0"/>
                <a:ea typeface="Calibri" pitchFamily="34" charset="-122"/>
                <a:cs typeface="Calibri" pitchFamily="34" charset="-120"/>
              </a:rPr>
              <a:t>UNanofabTools — Server Explained</a:t>
            </a:r>
            <a:endParaRPr lang="en-US" sz="900" dirty="0"/>
          </a:p>
        </p:txBody>
      </p:sp>
      <p:sp>
        <p:nvSpPr>
          <p:cNvPr id="6" name="Text 4"/>
          <p:cNvSpPr/>
          <p:nvPr/>
        </p:nvSpPr>
        <p:spPr>
          <a:xfrm>
            <a:off x="11091672" y="6565392"/>
            <a:ext cx="457200" cy="292608"/>
          </a:xfrm>
          <a:prstGeom prst="rect">
            <a:avLst/>
          </a:prstGeom>
          <a:noFill/>
          <a:ln/>
        </p:spPr>
        <p:txBody>
          <a:bodyPr wrap="square" lIns="0" tIns="0" rIns="0" bIns="0" rtlCol="0" anchor="ctr"/>
          <a:lstStyle/>
          <a:p>
            <a:pPr algn="r" indent="0" marL="0">
              <a:buNone/>
            </a:pPr>
            <a:r>
              <a:rPr lang="en-US" sz="900" dirty="0">
                <a:solidFill>
                  <a:srgbClr val="FFFFFF"/>
                </a:solidFill>
                <a:latin typeface="Calibri" pitchFamily="34" charset="0"/>
                <a:ea typeface="Calibri" pitchFamily="34" charset="-122"/>
                <a:cs typeface="Calibri" pitchFamily="34" charset="-120"/>
              </a:rPr>
              <a:t>8</a:t>
            </a:r>
            <a:endParaRPr lang="en-US" sz="900" dirty="0"/>
          </a:p>
        </p:txBody>
      </p:sp>
      <p:sp>
        <p:nvSpPr>
          <p:cNvPr id="7" name="Text 5"/>
          <p:cNvSpPr/>
          <p:nvPr/>
        </p:nvSpPr>
        <p:spPr>
          <a:xfrm>
            <a:off x="932688" y="1280160"/>
            <a:ext cx="10616184" cy="5029200"/>
          </a:xfrm>
          <a:prstGeom prst="rect">
            <a:avLst/>
          </a:prstGeom>
          <a:noFill/>
          <a:ln/>
        </p:spPr>
        <p:txBody>
          <a:bodyPr wrap="square" lIns="0" tIns="0" rIns="0" bIns="0" rtlCol="0" anchor="t"/>
          <a:lstStyle/>
          <a:p>
            <a:pPr marL="228600" indent="-2286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New tables are auto-created at startup, but changing an existing table needs a 'migration.'</a:t>
            </a:r>
            <a:endParaRPr lang="en-US" sz="1500" dirty="0"/>
          </a:p>
          <a:p>
            <a:pPr marL="228600" indent="-2286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A migration is a recorded, repeatable schema change — the safe way to evolve tables.</a:t>
            </a:r>
            <a:endParaRPr lang="en-US" sz="1500" dirty="0"/>
          </a:p>
          <a:p>
            <a:pPr marL="228600" indent="-2286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The inventory schema files were reconciled with the live database on 2026-06-29 (the v3 migration), so a fresh build now matches production.</a:t>
            </a:r>
            <a:endParaRPr lang="en-US" sz="15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02920"/>
            <a:ext cx="164592" cy="329184"/>
          </a:xfrm>
          <a:prstGeom prst="rect">
            <a:avLst/>
          </a:prstGeom>
          <a:solidFill>
            <a:srgbClr val="CC0000"/>
          </a:solidFill>
          <a:ln/>
        </p:spPr>
      </p:sp>
      <p:sp>
        <p:nvSpPr>
          <p:cNvPr id="3" name="Text 1"/>
          <p:cNvSpPr/>
          <p:nvPr/>
        </p:nvSpPr>
        <p:spPr>
          <a:xfrm>
            <a:off x="932688" y="384048"/>
            <a:ext cx="10616184" cy="640080"/>
          </a:xfrm>
          <a:prstGeom prst="rect">
            <a:avLst/>
          </a:prstGeom>
          <a:noFill/>
          <a:ln/>
        </p:spPr>
        <p:txBody>
          <a:bodyPr wrap="square" lIns="0" tIns="0" rIns="0" bIns="0" rtlCol="0" anchor="ctr"/>
          <a:lstStyle/>
          <a:p>
            <a:pPr algn="l" indent="0" marL="0">
              <a:buNone/>
            </a:pPr>
            <a:r>
              <a:rPr lang="en-US" sz="2600" b="1" dirty="0">
                <a:solidFill>
                  <a:srgbClr val="1A1A1A"/>
                </a:solidFill>
                <a:latin typeface="Georgia" pitchFamily="34" charset="0"/>
                <a:ea typeface="Georgia" pitchFamily="34" charset="-122"/>
                <a:cs typeface="Georgia" pitchFamily="34" charset="-120"/>
              </a:rPr>
              <a:t>A table is just a labeled grid</a:t>
            </a:r>
            <a:endParaRPr lang="en-US" sz="2600" dirty="0"/>
          </a:p>
        </p:txBody>
      </p:sp>
      <p:sp>
        <p:nvSpPr>
          <p:cNvPr id="4" name="Shape 2"/>
          <p:cNvSpPr/>
          <p:nvPr/>
        </p:nvSpPr>
        <p:spPr>
          <a:xfrm>
            <a:off x="0" y="6565392"/>
            <a:ext cx="12188952" cy="292608"/>
          </a:xfrm>
          <a:prstGeom prst="rect">
            <a:avLst/>
          </a:prstGeom>
          <a:solidFill>
            <a:srgbClr val="CC0000"/>
          </a:solidFill>
          <a:ln/>
        </p:spPr>
      </p:sp>
      <p:sp>
        <p:nvSpPr>
          <p:cNvPr id="5" name="Text 3"/>
          <p:cNvSpPr/>
          <p:nvPr/>
        </p:nvSpPr>
        <p:spPr>
          <a:xfrm>
            <a:off x="640080" y="6565392"/>
            <a:ext cx="7315200" cy="292608"/>
          </a:xfrm>
          <a:prstGeom prst="rect">
            <a:avLst/>
          </a:prstGeom>
          <a:noFill/>
          <a:ln/>
        </p:spPr>
        <p:txBody>
          <a:bodyPr wrap="square" lIns="0" tIns="0" rIns="0" bIns="0" rtlCol="0" anchor="ctr"/>
          <a:lstStyle/>
          <a:p>
            <a:pPr algn="l" indent="0" marL="0">
              <a:buNone/>
            </a:pPr>
            <a:r>
              <a:rPr lang="en-US" sz="900" dirty="0">
                <a:solidFill>
                  <a:srgbClr val="FFFFFF"/>
                </a:solidFill>
                <a:latin typeface="Calibri" pitchFamily="34" charset="0"/>
                <a:ea typeface="Calibri" pitchFamily="34" charset="-122"/>
                <a:cs typeface="Calibri" pitchFamily="34" charset="-120"/>
              </a:rPr>
              <a:t>UNanofabTools — Server Explained</a:t>
            </a:r>
            <a:endParaRPr lang="en-US" sz="900" dirty="0"/>
          </a:p>
        </p:txBody>
      </p:sp>
      <p:sp>
        <p:nvSpPr>
          <p:cNvPr id="6" name="Text 4"/>
          <p:cNvSpPr/>
          <p:nvPr/>
        </p:nvSpPr>
        <p:spPr>
          <a:xfrm>
            <a:off x="11091672" y="6565392"/>
            <a:ext cx="457200" cy="292608"/>
          </a:xfrm>
          <a:prstGeom prst="rect">
            <a:avLst/>
          </a:prstGeom>
          <a:noFill/>
          <a:ln/>
        </p:spPr>
        <p:txBody>
          <a:bodyPr wrap="square" lIns="0" tIns="0" rIns="0" bIns="0" rtlCol="0" anchor="ctr"/>
          <a:lstStyle/>
          <a:p>
            <a:pPr algn="r" indent="0" marL="0">
              <a:buNone/>
            </a:pPr>
            <a:r>
              <a:rPr lang="en-US" sz="900" dirty="0">
                <a:solidFill>
                  <a:srgbClr val="FFFFFF"/>
                </a:solidFill>
                <a:latin typeface="Calibri" pitchFamily="34" charset="0"/>
                <a:ea typeface="Calibri" pitchFamily="34" charset="-122"/>
                <a:cs typeface="Calibri" pitchFamily="34" charset="-120"/>
              </a:rPr>
              <a:t>9</a:t>
            </a:r>
            <a:endParaRPr lang="en-US" sz="900" dirty="0"/>
          </a:p>
        </p:txBody>
      </p:sp>
      <p:sp>
        <p:nvSpPr>
          <p:cNvPr id="7" name="Text 5"/>
          <p:cNvSpPr/>
          <p:nvPr/>
        </p:nvSpPr>
        <p:spPr>
          <a:xfrm>
            <a:off x="932688" y="1280160"/>
            <a:ext cx="10616184" cy="548640"/>
          </a:xfrm>
          <a:prstGeom prst="rect">
            <a:avLst/>
          </a:prstGeom>
          <a:noFill/>
          <a:ln/>
        </p:spPr>
        <p:txBody>
          <a:bodyPr wrap="square" lIns="0" tIns="0" rIns="0" bIns="0" rtlCol="0" anchor="t"/>
          <a:lstStyle/>
          <a:p>
            <a:pPr indent="0" marL="0">
              <a:buNone/>
            </a:pPr>
            <a:r>
              <a:rPr lang="en-US" sz="1500" dirty="0">
                <a:solidFill>
                  <a:srgbClr val="1A1A1A"/>
                </a:solidFill>
                <a:latin typeface="Calibri" pitchFamily="34" charset="0"/>
                <a:ea typeface="Calibri" pitchFamily="34" charset="-122"/>
                <a:cs typeface="Calibri" pitchFamily="34" charset="-120"/>
              </a:rPr>
              <a:t>The users table, sketched:</a:t>
            </a:r>
            <a:endParaRPr lang="en-US" sz="1500" dirty="0"/>
          </a:p>
        </p:txBody>
      </p:sp>
      <p:sp>
        <p:nvSpPr>
          <p:cNvPr id="8" name="Shape 6"/>
          <p:cNvSpPr/>
          <p:nvPr/>
        </p:nvSpPr>
        <p:spPr>
          <a:xfrm>
            <a:off x="932688" y="1874520"/>
            <a:ext cx="10616184" cy="4069080"/>
          </a:xfrm>
          <a:prstGeom prst="roundRect">
            <a:avLst>
              <a:gd name="adj" fmla="val 1348"/>
            </a:avLst>
          </a:prstGeom>
          <a:solidFill>
            <a:srgbClr val="F2F2F2"/>
          </a:solidFill>
          <a:ln w="12700">
            <a:solidFill>
              <a:srgbClr val="DDDDDD"/>
            </a:solidFill>
            <a:prstDash val="solid"/>
          </a:ln>
          <a:effectLst>
            <a:outerShdw sx="100000" sy="100000" kx="0" ky="0" algn="bl" rotWithShape="0" blurRad="63500" dist="25400" dir="8100000">
              <a:srgbClr val="000000">
                <a:alpha val="12000"/>
              </a:srgbClr>
            </a:outerShdw>
          </a:effectLst>
        </p:spPr>
      </p:sp>
      <p:sp>
        <p:nvSpPr>
          <p:cNvPr id="9" name="Text 7"/>
          <p:cNvSpPr/>
          <p:nvPr/>
        </p:nvSpPr>
        <p:spPr>
          <a:xfrm>
            <a:off x="1097280" y="1984248"/>
            <a:ext cx="10268712" cy="3849624"/>
          </a:xfrm>
          <a:prstGeom prst="rect">
            <a:avLst/>
          </a:prstGeom>
          <a:noFill/>
          <a:ln/>
        </p:spPr>
        <p:txBody>
          <a:bodyPr wrap="square" lIns="0" tIns="0" rIns="0" bIns="0" rtlCol="0" anchor="t"/>
          <a:lstStyle/>
          <a:p>
            <a:pPr algn="l" indent="0" marL="0">
              <a:buNone/>
            </a:pPr>
            <a:r>
              <a:rPr lang="en-US" sz="1250" dirty="0">
                <a:solidFill>
                  <a:srgbClr val="222222"/>
                </a:solidFill>
                <a:latin typeface="Consolas" pitchFamily="34" charset="0"/>
                <a:ea typeface="Consolas" pitchFamily="34" charset="-122"/>
                <a:cs typeface="Consolas" pitchFamily="34" charset="-120"/>
              </a:rPr>
              <a:t>  username | passwordHash | uNID    | isAdmin | canAssign</a:t>
            </a:r>
            <a:endParaRPr lang="en-US" sz="1250" dirty="0"/>
          </a:p>
          <a:p>
            <a:pPr algn="l" indent="0" marL="0">
              <a:buNone/>
            </a:pPr>
            <a:r>
              <a:rPr lang="en-US" sz="1250" dirty="0">
                <a:solidFill>
                  <a:srgbClr val="222222"/>
                </a:solidFill>
                <a:latin typeface="Consolas" pitchFamily="34" charset="0"/>
                <a:ea typeface="Consolas" pitchFamily="34" charset="-122"/>
                <a:cs typeface="Consolas" pitchFamily="34" charset="-120"/>
              </a:rPr>
              <a:t>  ---------+--------------+---------+---------+----------</a:t>
            </a:r>
            <a:endParaRPr lang="en-US" sz="1250" dirty="0"/>
          </a:p>
          <a:p>
            <a:pPr algn="l" indent="0" marL="0">
              <a:buNone/>
            </a:pPr>
            <a:r>
              <a:rPr lang="en-US" sz="1250" dirty="0">
                <a:solidFill>
                  <a:srgbClr val="222222"/>
                </a:solidFill>
                <a:latin typeface="Consolas" pitchFamily="34" charset="0"/>
                <a:ea typeface="Consolas" pitchFamily="34" charset="-122"/>
                <a:cs typeface="Consolas" pitchFamily="34" charset="-120"/>
              </a:rPr>
              <a:t>  alice    | $2b$12$Xk... | u012345 |  true   |   true</a:t>
            </a:r>
            <a:endParaRPr lang="en-US" sz="1250" dirty="0"/>
          </a:p>
          <a:p>
            <a:pPr algn="l" indent="0" marL="0">
              <a:buNone/>
            </a:pPr>
            <a:r>
              <a:rPr lang="en-US" sz="1250" dirty="0">
                <a:solidFill>
                  <a:srgbClr val="222222"/>
                </a:solidFill>
                <a:latin typeface="Consolas" pitchFamily="34" charset="0"/>
                <a:ea typeface="Consolas" pitchFamily="34" charset="-122"/>
                <a:cs typeface="Consolas" pitchFamily="34" charset="-120"/>
              </a:rPr>
              <a:t>  bob      | $2b$12$Qp... | u067890 |  false  |   true</a:t>
            </a:r>
            <a:endParaRPr lang="en-US" sz="1250" dirty="0"/>
          </a:p>
        </p:txBody>
      </p:sp>
      <p:sp>
        <p:nvSpPr>
          <p:cNvPr id="10" name="Text 8"/>
          <p:cNvSpPr/>
          <p:nvPr/>
        </p:nvSpPr>
        <p:spPr>
          <a:xfrm>
            <a:off x="932688" y="6035040"/>
            <a:ext cx="10616184" cy="457200"/>
          </a:xfrm>
          <a:prstGeom prst="rect">
            <a:avLst/>
          </a:prstGeom>
          <a:noFill/>
          <a:ln/>
        </p:spPr>
        <p:txBody>
          <a:bodyPr wrap="square" lIns="0" tIns="0" rIns="0" bIns="0" rtlCol="0" anchor="t"/>
          <a:lstStyle/>
          <a:p>
            <a:pPr indent="0" marL="0">
              <a:buNone/>
            </a:pPr>
            <a:r>
              <a:rPr lang="en-US" sz="1200" i="1" dirty="0">
                <a:solidFill>
                  <a:srgbClr val="595959"/>
                </a:solidFill>
                <a:latin typeface="Calibri" pitchFamily="34" charset="0"/>
                <a:ea typeface="Calibri" pitchFamily="34" charset="-122"/>
                <a:cs typeface="Calibri" pitchFamily="34" charset="-120"/>
              </a:rPr>
              <a:t>Columns are the fields; each row is one record. Note: no real passwords, just fingerprints.</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02920"/>
            <a:ext cx="164592" cy="329184"/>
          </a:xfrm>
          <a:prstGeom prst="rect">
            <a:avLst/>
          </a:prstGeom>
          <a:solidFill>
            <a:srgbClr val="CC0000"/>
          </a:solidFill>
          <a:ln/>
        </p:spPr>
      </p:sp>
      <p:sp>
        <p:nvSpPr>
          <p:cNvPr id="3" name="Text 1"/>
          <p:cNvSpPr/>
          <p:nvPr/>
        </p:nvSpPr>
        <p:spPr>
          <a:xfrm>
            <a:off x="932688" y="384048"/>
            <a:ext cx="10616184" cy="640080"/>
          </a:xfrm>
          <a:prstGeom prst="rect">
            <a:avLst/>
          </a:prstGeom>
          <a:noFill/>
          <a:ln/>
        </p:spPr>
        <p:txBody>
          <a:bodyPr wrap="square" lIns="0" tIns="0" rIns="0" bIns="0" rtlCol="0" anchor="ctr"/>
          <a:lstStyle/>
          <a:p>
            <a:pPr algn="l" indent="0" marL="0">
              <a:buNone/>
            </a:pPr>
            <a:r>
              <a:rPr lang="en-US" sz="2600" b="1" dirty="0">
                <a:solidFill>
                  <a:srgbClr val="1A1A1A"/>
                </a:solidFill>
                <a:latin typeface="Georgia" pitchFamily="34" charset="0"/>
                <a:ea typeface="Georgia" pitchFamily="34" charset="-122"/>
                <a:cs typeface="Georgia" pitchFamily="34" charset="-120"/>
              </a:rPr>
              <a:t>Why four small databases, not one?</a:t>
            </a:r>
            <a:endParaRPr lang="en-US" sz="2600" dirty="0"/>
          </a:p>
        </p:txBody>
      </p:sp>
      <p:sp>
        <p:nvSpPr>
          <p:cNvPr id="4" name="Shape 2"/>
          <p:cNvSpPr/>
          <p:nvPr/>
        </p:nvSpPr>
        <p:spPr>
          <a:xfrm>
            <a:off x="0" y="6565392"/>
            <a:ext cx="12188952" cy="292608"/>
          </a:xfrm>
          <a:prstGeom prst="rect">
            <a:avLst/>
          </a:prstGeom>
          <a:solidFill>
            <a:srgbClr val="CC0000"/>
          </a:solidFill>
          <a:ln/>
        </p:spPr>
      </p:sp>
      <p:sp>
        <p:nvSpPr>
          <p:cNvPr id="5" name="Text 3"/>
          <p:cNvSpPr/>
          <p:nvPr/>
        </p:nvSpPr>
        <p:spPr>
          <a:xfrm>
            <a:off x="640080" y="6565392"/>
            <a:ext cx="7315200" cy="292608"/>
          </a:xfrm>
          <a:prstGeom prst="rect">
            <a:avLst/>
          </a:prstGeom>
          <a:noFill/>
          <a:ln/>
        </p:spPr>
        <p:txBody>
          <a:bodyPr wrap="square" lIns="0" tIns="0" rIns="0" bIns="0" rtlCol="0" anchor="ctr"/>
          <a:lstStyle/>
          <a:p>
            <a:pPr algn="l" indent="0" marL="0">
              <a:buNone/>
            </a:pPr>
            <a:r>
              <a:rPr lang="en-US" sz="900" dirty="0">
                <a:solidFill>
                  <a:srgbClr val="FFFFFF"/>
                </a:solidFill>
                <a:latin typeface="Calibri" pitchFamily="34" charset="0"/>
                <a:ea typeface="Calibri" pitchFamily="34" charset="-122"/>
                <a:cs typeface="Calibri" pitchFamily="34" charset="-120"/>
              </a:rPr>
              <a:t>UNanofabTools — Server Explained</a:t>
            </a:r>
            <a:endParaRPr lang="en-US" sz="900" dirty="0"/>
          </a:p>
        </p:txBody>
      </p:sp>
      <p:sp>
        <p:nvSpPr>
          <p:cNvPr id="6" name="Text 4"/>
          <p:cNvSpPr/>
          <p:nvPr/>
        </p:nvSpPr>
        <p:spPr>
          <a:xfrm>
            <a:off x="11091672" y="6565392"/>
            <a:ext cx="457200" cy="292608"/>
          </a:xfrm>
          <a:prstGeom prst="rect">
            <a:avLst/>
          </a:prstGeom>
          <a:noFill/>
          <a:ln/>
        </p:spPr>
        <p:txBody>
          <a:bodyPr wrap="square" lIns="0" tIns="0" rIns="0" bIns="0" rtlCol="0" anchor="ctr"/>
          <a:lstStyle/>
          <a:p>
            <a:pPr algn="r" indent="0" marL="0">
              <a:buNone/>
            </a:pPr>
            <a:r>
              <a:rPr lang="en-US" sz="900" dirty="0">
                <a:solidFill>
                  <a:srgbClr val="FFFFFF"/>
                </a:solidFill>
                <a:latin typeface="Calibri" pitchFamily="34" charset="0"/>
                <a:ea typeface="Calibri" pitchFamily="34" charset="-122"/>
                <a:cs typeface="Calibri" pitchFamily="34" charset="-120"/>
              </a:rPr>
              <a:t>10</a:t>
            </a:r>
            <a:endParaRPr lang="en-US" sz="900" dirty="0"/>
          </a:p>
        </p:txBody>
      </p:sp>
      <p:sp>
        <p:nvSpPr>
          <p:cNvPr id="7" name="Text 5"/>
          <p:cNvSpPr/>
          <p:nvPr/>
        </p:nvSpPr>
        <p:spPr>
          <a:xfrm>
            <a:off x="932688" y="1280160"/>
            <a:ext cx="10616184" cy="5029200"/>
          </a:xfrm>
          <a:prstGeom prst="rect">
            <a:avLst/>
          </a:prstGeom>
          <a:noFill/>
          <a:ln/>
        </p:spPr>
        <p:txBody>
          <a:bodyPr wrap="square" lIns="0" tIns="0" rIns="0" bIns="0" rtlCol="0" anchor="t"/>
          <a:lstStyle/>
          <a:p>
            <a:pPr marL="228600" indent="-2286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It's a historical choice carried forward, not a fresh design.</a:t>
            </a:r>
            <a:endParaRPr lang="en-US" sz="1500" dirty="0"/>
          </a:p>
          <a:p>
            <a:pPr marL="228600" indent="-2286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Each (users, sessions, tasks, sensors) lives in its own file.</a:t>
            </a:r>
            <a:endParaRPr lang="en-US" sz="1500" dirty="0"/>
          </a:p>
          <a:p>
            <a:pPr marL="228600" indent="-2286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It works fine; it just adds a little bookkeeping.</a:t>
            </a:r>
            <a:endParaRPr lang="en-US" sz="1500" dirty="0"/>
          </a:p>
          <a:p>
            <a:pPr marL="228600" indent="-2286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A future cleanup could merge them — noted, not urgent.</a:t>
            </a:r>
            <a:endParaRPr lang="en-US" sz="15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02920"/>
            <a:ext cx="164592" cy="329184"/>
          </a:xfrm>
          <a:prstGeom prst="rect">
            <a:avLst/>
          </a:prstGeom>
          <a:solidFill>
            <a:srgbClr val="CC0000"/>
          </a:solidFill>
          <a:ln/>
        </p:spPr>
      </p:sp>
      <p:sp>
        <p:nvSpPr>
          <p:cNvPr id="3" name="Text 1"/>
          <p:cNvSpPr/>
          <p:nvPr/>
        </p:nvSpPr>
        <p:spPr>
          <a:xfrm>
            <a:off x="932688" y="384048"/>
            <a:ext cx="10616184" cy="640080"/>
          </a:xfrm>
          <a:prstGeom prst="rect">
            <a:avLst/>
          </a:prstGeom>
          <a:noFill/>
          <a:ln/>
        </p:spPr>
        <p:txBody>
          <a:bodyPr wrap="square" lIns="0" tIns="0" rIns="0" bIns="0" rtlCol="0" anchor="ctr"/>
          <a:lstStyle/>
          <a:p>
            <a:pPr algn="l" indent="0" marL="0">
              <a:buNone/>
            </a:pPr>
            <a:r>
              <a:rPr lang="en-US" sz="2600" b="1" dirty="0">
                <a:solidFill>
                  <a:srgbClr val="1A1A1A"/>
                </a:solidFill>
                <a:latin typeface="Georgia" pitchFamily="34" charset="0"/>
                <a:ea typeface="Georgia" pitchFamily="34" charset="-122"/>
                <a:cs typeface="Georgia" pitchFamily="34" charset="-120"/>
              </a:rPr>
              <a:t>SQLite vs. PostgreSQL — when each fits</a:t>
            </a:r>
            <a:endParaRPr lang="en-US" sz="2600" dirty="0"/>
          </a:p>
        </p:txBody>
      </p:sp>
      <p:sp>
        <p:nvSpPr>
          <p:cNvPr id="4" name="Shape 2"/>
          <p:cNvSpPr/>
          <p:nvPr/>
        </p:nvSpPr>
        <p:spPr>
          <a:xfrm>
            <a:off x="0" y="6565392"/>
            <a:ext cx="12188952" cy="292608"/>
          </a:xfrm>
          <a:prstGeom prst="rect">
            <a:avLst/>
          </a:prstGeom>
          <a:solidFill>
            <a:srgbClr val="CC0000"/>
          </a:solidFill>
          <a:ln/>
        </p:spPr>
      </p:sp>
      <p:sp>
        <p:nvSpPr>
          <p:cNvPr id="5" name="Text 3"/>
          <p:cNvSpPr/>
          <p:nvPr/>
        </p:nvSpPr>
        <p:spPr>
          <a:xfrm>
            <a:off x="640080" y="6565392"/>
            <a:ext cx="7315200" cy="292608"/>
          </a:xfrm>
          <a:prstGeom prst="rect">
            <a:avLst/>
          </a:prstGeom>
          <a:noFill/>
          <a:ln/>
        </p:spPr>
        <p:txBody>
          <a:bodyPr wrap="square" lIns="0" tIns="0" rIns="0" bIns="0" rtlCol="0" anchor="ctr"/>
          <a:lstStyle/>
          <a:p>
            <a:pPr algn="l" indent="0" marL="0">
              <a:buNone/>
            </a:pPr>
            <a:r>
              <a:rPr lang="en-US" sz="900" dirty="0">
                <a:solidFill>
                  <a:srgbClr val="FFFFFF"/>
                </a:solidFill>
                <a:latin typeface="Calibri" pitchFamily="34" charset="0"/>
                <a:ea typeface="Calibri" pitchFamily="34" charset="-122"/>
                <a:cs typeface="Calibri" pitchFamily="34" charset="-120"/>
              </a:rPr>
              <a:t>UNanofabTools — Server Explained</a:t>
            </a:r>
            <a:endParaRPr lang="en-US" sz="900" dirty="0"/>
          </a:p>
        </p:txBody>
      </p:sp>
      <p:sp>
        <p:nvSpPr>
          <p:cNvPr id="6" name="Text 4"/>
          <p:cNvSpPr/>
          <p:nvPr/>
        </p:nvSpPr>
        <p:spPr>
          <a:xfrm>
            <a:off x="11091672" y="6565392"/>
            <a:ext cx="457200" cy="292608"/>
          </a:xfrm>
          <a:prstGeom prst="rect">
            <a:avLst/>
          </a:prstGeom>
          <a:noFill/>
          <a:ln/>
        </p:spPr>
        <p:txBody>
          <a:bodyPr wrap="square" lIns="0" tIns="0" rIns="0" bIns="0" rtlCol="0" anchor="ctr"/>
          <a:lstStyle/>
          <a:p>
            <a:pPr algn="r" indent="0" marL="0">
              <a:buNone/>
            </a:pPr>
            <a:r>
              <a:rPr lang="en-US" sz="900" dirty="0">
                <a:solidFill>
                  <a:srgbClr val="FFFFFF"/>
                </a:solidFill>
                <a:latin typeface="Calibri" pitchFamily="34" charset="0"/>
                <a:ea typeface="Calibri" pitchFamily="34" charset="-122"/>
                <a:cs typeface="Calibri" pitchFamily="34" charset="-120"/>
              </a:rPr>
              <a:t>11</a:t>
            </a:r>
            <a:endParaRPr lang="en-US" sz="900" dirty="0"/>
          </a:p>
        </p:txBody>
      </p:sp>
      <p:sp>
        <p:nvSpPr>
          <p:cNvPr id="7" name="Text 5"/>
          <p:cNvSpPr/>
          <p:nvPr/>
        </p:nvSpPr>
        <p:spPr>
          <a:xfrm>
            <a:off x="932688" y="1280160"/>
            <a:ext cx="10616184" cy="5029200"/>
          </a:xfrm>
          <a:prstGeom prst="rect">
            <a:avLst/>
          </a:prstGeom>
          <a:noFill/>
          <a:ln/>
        </p:spPr>
        <p:txBody>
          <a:bodyPr wrap="square" lIns="0" tIns="0" rIns="0" bIns="0" rtlCol="0" anchor="t"/>
          <a:lstStyle/>
          <a:p>
            <a:pPr marL="228600" indent="-2286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SQLite: a single file, zero setup — great for small, simple data.</a:t>
            </a:r>
            <a:endParaRPr lang="en-US" sz="1500" dirty="0"/>
          </a:p>
          <a:p>
            <a:pPr marL="228600" indent="-2286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PostgreSQL: a full database server — handles heavier needs and more users.</a:t>
            </a:r>
            <a:endParaRPr lang="en-US" sz="1500" dirty="0"/>
          </a:p>
          <a:p>
            <a:pPr marL="228600" indent="-2286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The inventory chose PostgreSQL for its counters, complex queries, and safe multi-step updates.</a:t>
            </a:r>
            <a:endParaRPr lang="en-US" sz="1500" dirty="0"/>
          </a:p>
          <a:p>
            <a:pPr marL="228600" indent="-2286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Right tool for the size of the job.</a:t>
            </a:r>
            <a:endParaRPr lang="en-US" sz="15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02920"/>
            <a:ext cx="164592" cy="329184"/>
          </a:xfrm>
          <a:prstGeom prst="rect">
            <a:avLst/>
          </a:prstGeom>
          <a:solidFill>
            <a:srgbClr val="CC0000"/>
          </a:solidFill>
          <a:ln/>
        </p:spPr>
      </p:sp>
      <p:sp>
        <p:nvSpPr>
          <p:cNvPr id="3" name="Text 1"/>
          <p:cNvSpPr/>
          <p:nvPr/>
        </p:nvSpPr>
        <p:spPr>
          <a:xfrm>
            <a:off x="932688" y="384048"/>
            <a:ext cx="10616184" cy="640080"/>
          </a:xfrm>
          <a:prstGeom prst="rect">
            <a:avLst/>
          </a:prstGeom>
          <a:noFill/>
          <a:ln/>
        </p:spPr>
        <p:txBody>
          <a:bodyPr wrap="square" lIns="0" tIns="0" rIns="0" bIns="0" rtlCol="0" anchor="ctr"/>
          <a:lstStyle/>
          <a:p>
            <a:pPr algn="l" indent="0" marL="0">
              <a:buNone/>
            </a:pPr>
            <a:r>
              <a:rPr lang="en-US" sz="2600" b="1" dirty="0">
                <a:solidFill>
                  <a:srgbClr val="1A1A1A"/>
                </a:solidFill>
                <a:latin typeface="Georgia" pitchFamily="34" charset="0"/>
                <a:ea typeface="Georgia" pitchFamily="34" charset="-122"/>
                <a:cs typeface="Georgia" pitchFamily="34" charset="-120"/>
              </a:rPr>
              <a:t>Recap</a:t>
            </a:r>
            <a:endParaRPr lang="en-US" sz="2600" dirty="0"/>
          </a:p>
        </p:txBody>
      </p:sp>
      <p:sp>
        <p:nvSpPr>
          <p:cNvPr id="4" name="Shape 2"/>
          <p:cNvSpPr/>
          <p:nvPr/>
        </p:nvSpPr>
        <p:spPr>
          <a:xfrm>
            <a:off x="0" y="6565392"/>
            <a:ext cx="12188952" cy="292608"/>
          </a:xfrm>
          <a:prstGeom prst="rect">
            <a:avLst/>
          </a:prstGeom>
          <a:solidFill>
            <a:srgbClr val="CC0000"/>
          </a:solidFill>
          <a:ln/>
        </p:spPr>
      </p:sp>
      <p:sp>
        <p:nvSpPr>
          <p:cNvPr id="5" name="Text 3"/>
          <p:cNvSpPr/>
          <p:nvPr/>
        </p:nvSpPr>
        <p:spPr>
          <a:xfrm>
            <a:off x="640080" y="6565392"/>
            <a:ext cx="7315200" cy="292608"/>
          </a:xfrm>
          <a:prstGeom prst="rect">
            <a:avLst/>
          </a:prstGeom>
          <a:noFill/>
          <a:ln/>
        </p:spPr>
        <p:txBody>
          <a:bodyPr wrap="square" lIns="0" tIns="0" rIns="0" bIns="0" rtlCol="0" anchor="ctr"/>
          <a:lstStyle/>
          <a:p>
            <a:pPr algn="l" indent="0" marL="0">
              <a:buNone/>
            </a:pPr>
            <a:r>
              <a:rPr lang="en-US" sz="900" dirty="0">
                <a:solidFill>
                  <a:srgbClr val="FFFFFF"/>
                </a:solidFill>
                <a:latin typeface="Calibri" pitchFamily="34" charset="0"/>
                <a:ea typeface="Calibri" pitchFamily="34" charset="-122"/>
                <a:cs typeface="Calibri" pitchFamily="34" charset="-120"/>
              </a:rPr>
              <a:t>UNanofabTools — Server Explained</a:t>
            </a:r>
            <a:endParaRPr lang="en-US" sz="900" dirty="0"/>
          </a:p>
        </p:txBody>
      </p:sp>
      <p:sp>
        <p:nvSpPr>
          <p:cNvPr id="6" name="Text 4"/>
          <p:cNvSpPr/>
          <p:nvPr/>
        </p:nvSpPr>
        <p:spPr>
          <a:xfrm>
            <a:off x="11091672" y="6565392"/>
            <a:ext cx="457200" cy="292608"/>
          </a:xfrm>
          <a:prstGeom prst="rect">
            <a:avLst/>
          </a:prstGeom>
          <a:noFill/>
          <a:ln/>
        </p:spPr>
        <p:txBody>
          <a:bodyPr wrap="square" lIns="0" tIns="0" rIns="0" bIns="0" rtlCol="0" anchor="ctr"/>
          <a:lstStyle/>
          <a:p>
            <a:pPr algn="r" indent="0" marL="0">
              <a:buNone/>
            </a:pPr>
            <a:r>
              <a:rPr lang="en-US" sz="900" dirty="0">
                <a:solidFill>
                  <a:srgbClr val="FFFFFF"/>
                </a:solidFill>
                <a:latin typeface="Calibri" pitchFamily="34" charset="0"/>
                <a:ea typeface="Calibri" pitchFamily="34" charset="-122"/>
                <a:cs typeface="Calibri" pitchFamily="34" charset="-120"/>
              </a:rPr>
              <a:t>12</a:t>
            </a:r>
            <a:endParaRPr lang="en-US" sz="900" dirty="0"/>
          </a:p>
        </p:txBody>
      </p:sp>
      <p:sp>
        <p:nvSpPr>
          <p:cNvPr id="7" name="Text 5"/>
          <p:cNvSpPr/>
          <p:nvPr/>
        </p:nvSpPr>
        <p:spPr>
          <a:xfrm>
            <a:off x="932688" y="1280160"/>
            <a:ext cx="10616184" cy="5029200"/>
          </a:xfrm>
          <a:prstGeom prst="rect">
            <a:avLst/>
          </a:prstGeom>
          <a:noFill/>
          <a:ln/>
        </p:spPr>
        <p:txBody>
          <a:bodyPr wrap="square" lIns="0" tIns="0" rIns="0" bIns="0" rtlCol="0" anchor="t"/>
          <a:lstStyle/>
          <a:p>
            <a:pPr marL="228600" indent="-2286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Four small SQLite databases + one PostgreSQL database.</a:t>
            </a:r>
            <a:endParaRPr lang="en-US" sz="1500" dirty="0"/>
          </a:p>
          <a:p>
            <a:pPr marL="228600" indent="-2286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Users, sessions, tasks, latest sensor readings, and the inventory.</a:t>
            </a:r>
            <a:endParaRPr lang="en-US" sz="1500" dirty="0"/>
          </a:p>
          <a:p>
            <a:pPr marL="228600" indent="-2286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Sensor history lives in CSV files; the database keeps only the latest reading.</a:t>
            </a:r>
            <a:endParaRPr lang="en-US" sz="1500" dirty="0"/>
          </a:p>
          <a:p>
            <a:pPr marL="228600" indent="-2286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Evolve tables with migrations; the inventory's schema drift was reconciled (v3, 2026-06-29).</a:t>
            </a:r>
            <a:endParaRPr lang="en-US" sz="15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Database Models</dc:title>
  <dc:subject>PptxGenJS Presentation</dc:subject>
  <dc:creator>Faith</dc:creator>
  <cp:lastModifiedBy>Faith</cp:lastModifiedBy>
  <cp:revision>1</cp:revision>
  <dcterms:created xsi:type="dcterms:W3CDTF">2026-07-13T21:52:50Z</dcterms:created>
  <dcterms:modified xsi:type="dcterms:W3CDTF">2026-07-13T21:52:50Z</dcterms:modified>
</cp:coreProperties>
</file>