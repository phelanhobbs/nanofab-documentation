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kickoff / table-of-contents session for the whole series. Use it to set context, explain who the series is for, and let people choose which later sessions matter to them. Everything is written for a non-developer audience. If you only present one session to a general audience, present Part 01 (Server Overview). If you're handing the system to a successor, the later deep-dive sessions matter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This is not training to become a developer — it's so that non-technical staff and managers can understand what the server does, and so a future maintainer has a gentle on-ramp before the technical documentation. Each topic is self-contained; nobody has to sit through all sixteen to get value from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Help people self-select. A manager probably wants the inventory and security stories; whoever maintains the Raspberry Pi sensors wants the API and consumer sessions; a successor developer should watch everything. Naming the audiences up front respects people's time and signals that the series is modular.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first half of the catalog briefly. Don't read every row aloud — let people scan it. Emphasize that the numbering is a suggested order, not a requirement. Parts 01–04 are the foundation; 05–08 are the everyday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Part 09 (Chemical Inventory) is the largest single topic. Parts 13–15 are the wrap-up: a full request walk-through, the consolidated security picture, and a reference list of every address. This deck (00) is the one you're in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format. The slides themselves are deliberately uncluttered — they're the headline. The detailed explanation lives in the speaker notes (also called reader's notes) attached to each slide, which is what I'm reading from now. That means these decks double as a self-study guide: someone can open the file, read the notes under each slide, and learn the material without a live presenter. In PowerPoint, the notes show in the presenter view or below each slide in Notes Page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concrete outcomes so people know what they're investing time for. This isn't about turning anyone into a programmer; it's about confident literacy — being able to talk about the system, reason about where data is, understand the access rules, and find answers in the written documentation. Frame these as the success criteria for the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 the core mental model right at the start so the rest of the series has a spine. A server is a thing that receives requests and returns responses. A person loading a page, a sensor uploading a reading, a tool fetching data — all three are just 'ask, decide, answer.' We'll repeat this in Part 01 and again in Part 13; repetition is intentional.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a distinction that surprises people and recurs throughout: the server serves both humans and machines, very differently. Humans browse with logins and two-factor; machines (the Raspberry Pi sensors and desktop apps) talk to it directly without logging in, trusted because they're on a private network. Same server, two front doors. Keep this in mind for the security and sensor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the family of materials so people pick the right one. The decks (these) are for presenting and quick study. The written layperson guide is the same material in readable prose with more room for detail. And there's a separate, more technical developer documentation set for a successor maintaining the system. Today we're using the decks; mention the others exist so people know where to go for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kickoff by stating the spirit of the series: clarity over cleverness. Encourage interruptions and questions. Then move into Part 01, the Server Overview, which gives the whole-system picture everything else builds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CC0000"/>
          </a:solidFill>
          <a:ln/>
        </p:spPr>
      </p:sp>
      <p:sp>
        <p:nvSpPr>
          <p:cNvPr id="3" name="Text 1"/>
          <p:cNvSpPr/>
          <p:nvPr/>
        </p:nvSpPr>
        <p:spPr>
          <a:xfrm>
            <a:off x="914400" y="1371600"/>
            <a:ext cx="10360152" cy="457200"/>
          </a:xfrm>
          <a:prstGeom prst="rect">
            <a:avLst/>
          </a:prstGeom>
          <a:noFill/>
          <a:ln/>
        </p:spPr>
        <p:txBody>
          <a:bodyPr wrap="square" lIns="0" tIns="0" rIns="0" bIns="0" rtlCol="0" anchor="ctr"/>
          <a:lstStyle/>
          <a:p>
            <a:pPr algn="l" indent="0" marL="0">
              <a:buNone/>
            </a:pPr>
            <a:r>
              <a:rPr lang="en-US" sz="1400" b="1" spc="200" kern="0" dirty="0">
                <a:solidFill>
                  <a:srgbClr val="CC0000"/>
                </a:solidFill>
                <a:latin typeface="Calibri" pitchFamily="34" charset="0"/>
                <a:ea typeface="Calibri" pitchFamily="34" charset="-122"/>
                <a:cs typeface="Calibri" pitchFamily="34" charset="-120"/>
              </a:rPr>
              <a:t>START HERE</a:t>
            </a:r>
            <a:endParaRPr lang="en-US" sz="1400" dirty="0"/>
          </a:p>
        </p:txBody>
      </p:sp>
      <p:sp>
        <p:nvSpPr>
          <p:cNvPr id="4" name="Text 2"/>
          <p:cNvSpPr/>
          <p:nvPr/>
        </p:nvSpPr>
        <p:spPr>
          <a:xfrm>
            <a:off x="914400" y="1828800"/>
            <a:ext cx="10360152" cy="1554480"/>
          </a:xfrm>
          <a:prstGeom prst="rect">
            <a:avLst/>
          </a:prstGeom>
          <a:noFill/>
          <a:ln/>
        </p:spPr>
        <p:txBody>
          <a:bodyPr wrap="square" lIns="0" tIns="0" rIns="0" bIns="0" rtlCol="0" anchor="t"/>
          <a:lstStyle/>
          <a:p>
            <a:pPr algn="l" indent="0" marL="0">
              <a:buNone/>
            </a:pPr>
            <a:r>
              <a:rPr lang="en-US" sz="4000" b="1" dirty="0">
                <a:solidFill>
                  <a:srgbClr val="1A1A1A"/>
                </a:solidFill>
                <a:latin typeface="Georgia" pitchFamily="34" charset="0"/>
                <a:ea typeface="Georgia" pitchFamily="34" charset="-122"/>
                <a:cs typeface="Georgia" pitchFamily="34" charset="-120"/>
              </a:rPr>
              <a:t>The UNanofabTools Server</a:t>
            </a:r>
            <a:endParaRPr lang="en-US" sz="4000" dirty="0"/>
          </a:p>
        </p:txBody>
      </p:sp>
      <p:sp>
        <p:nvSpPr>
          <p:cNvPr id="5" name="Text 3"/>
          <p:cNvSpPr/>
          <p:nvPr/>
        </p:nvSpPr>
        <p:spPr>
          <a:xfrm>
            <a:off x="914400" y="3429000"/>
            <a:ext cx="10177272" cy="731520"/>
          </a:xfrm>
          <a:prstGeom prst="rect">
            <a:avLst/>
          </a:prstGeom>
          <a:noFill/>
          <a:ln/>
        </p:spPr>
        <p:txBody>
          <a:bodyPr wrap="square" lIns="0" tIns="0" rIns="0" bIns="0" rtlCol="0" anchor="t"/>
          <a:lstStyle/>
          <a:p>
            <a:pPr algn="l" indent="0" marL="0">
              <a:buNone/>
            </a:pPr>
            <a:r>
              <a:rPr lang="en-US" sz="1700" dirty="0">
                <a:solidFill>
                  <a:srgbClr val="595959"/>
                </a:solidFill>
                <a:latin typeface="Calibri" pitchFamily="34" charset="0"/>
                <a:ea typeface="Calibri" pitchFamily="34" charset="-122"/>
                <a:cs typeface="Calibri" pitchFamily="34" charset="-120"/>
              </a:rPr>
              <a:t>UNanofabTools Server — A Plain-English Guide</a:t>
            </a:r>
            <a:endParaRPr lang="en-US" sz="1700" dirty="0"/>
          </a:p>
          <a:p>
            <a:pPr algn="l" indent="0" marL="0">
              <a:buNone/>
            </a:pPr>
            <a:r>
              <a:rPr lang="en-US" sz="1700" dirty="0">
                <a:solidFill>
                  <a:srgbClr val="595959"/>
                </a:solidFill>
                <a:latin typeface="Calibri" pitchFamily="34" charset="0"/>
                <a:ea typeface="Calibri" pitchFamily="34" charset="-122"/>
                <a:cs typeface="Calibri" pitchFamily="34" charset="-120"/>
              </a:rPr>
              <a:t>A 16-part walkthrough of how the cleanroom's web server works.</a:t>
            </a:r>
            <a:endParaRPr lang="en-US" sz="1700" dirty="0"/>
          </a:p>
        </p:txBody>
      </p:sp>
      <p:sp>
        <p:nvSpPr>
          <p:cNvPr id="6" name="Text 4"/>
          <p:cNvSpPr/>
          <p:nvPr/>
        </p:nvSpPr>
        <p:spPr>
          <a:xfrm>
            <a:off x="914400" y="5029200"/>
            <a:ext cx="10360152" cy="1280160"/>
          </a:xfrm>
          <a:prstGeom prst="rect">
            <a:avLst/>
          </a:prstGeom>
          <a:noFill/>
          <a:ln/>
        </p:spPr>
        <p:txBody>
          <a:bodyPr wrap="square" lIns="0" tIns="0" rIns="0" bIns="0" rtlCol="0" anchor="t"/>
          <a:lstStyle/>
          <a:p>
            <a:pPr algn="l" indent="0" marL="0">
              <a:lnSpc>
                <a:spcPct val="115000"/>
              </a:lnSpc>
              <a:buNone/>
            </a:pPr>
            <a:r>
              <a:rPr lang="en-US" sz="1400" b="1" dirty="0">
                <a:solidFill>
                  <a:srgbClr val="1A1A1A"/>
                </a:solidFill>
                <a:latin typeface="Calibri" pitchFamily="34" charset="0"/>
                <a:ea typeface="Calibri" pitchFamily="34" charset="-122"/>
                <a:cs typeface="Calibri" pitchFamily="34" charset="-120"/>
              </a:rPr>
              <a:t>Faith</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Server Developer &amp; Maintainer</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Utah Nanofab · University of Utah</a:t>
            </a:r>
            <a:endParaRPr lang="en-US" sz="1400" dirty="0"/>
          </a:p>
          <a:p>
            <a:pPr algn="l" indent="0" marL="0">
              <a:lnSpc>
                <a:spcPct val="115000"/>
              </a:lnSpc>
              <a:buNone/>
            </a:pPr>
            <a:r>
              <a:rPr lang="en-US" sz="1100" dirty="0">
                <a:solidFill>
                  <a:srgbClr val="8A8A8A"/>
                </a:solidFill>
                <a:latin typeface="Calibri" pitchFamily="34" charset="0"/>
                <a:ea typeface="Calibri" pitchFamily="34" charset="-122"/>
                <a:cs typeface="Calibri" pitchFamily="34" charset="-120"/>
              </a:rPr>
              <a:t>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this series is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plain-English explanation of the server that runs the cleanroom's internal web tools.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Written for coworkers without a coding background — every term is defined as it appears.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Sixteen short topics, each standing on its own; read in order or jump to what you need.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Companion to the written guide; these decks are the presentable version of it.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Who should care about which parts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Different audiences, different sessions.</a:t>
            </a:r>
            <a:endParaRPr lang="en-US" sz="1500" dirty="0"/>
          </a:p>
        </p:txBody>
      </p:sp>
      <p:sp>
        <p:nvSpPr>
          <p:cNvPr id="8" name="Text 6"/>
          <p:cNvSpPr/>
          <p:nvPr/>
        </p:nvSpPr>
        <p:spPr>
          <a:xfrm>
            <a:off x="932688" y="1920240"/>
            <a:ext cx="10616184" cy="438912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Everyone: Part 01 (Server Overview) — the big picture in fifteen minutes.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Managers / safety: Parts 09 (Chemical Inventory) and 14 (Security).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Anyone running the sensors: Parts 08 (Sensor API) and 12 (Consumers).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future maintainer: all of them — especially 02, 03, 09, 10, 13, 14.</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sixteen topics (1 of 2)</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932688" y="1280160"/>
          <a:ext cx="10616184" cy="914400"/>
        </p:xfrm>
        <a:graphic>
          <a:graphicData uri="http://schemas.openxmlformats.org/drawingml/2006/table">
            <a:tbl>
              <a:tblPr/>
              <a:tblGrid>
                <a:gridCol w="1005840"/>
                <a:gridCol w="3108960"/>
                <a:gridCol w="6766560"/>
              </a:tblGrid>
              <a:tr h="2743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Part</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Topic</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In one line</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01</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Server Overview</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What a server is and what ours does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02</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How It Starts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What happens when the server boots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03</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Configuration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Where the server reads its settings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04</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Authentication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Logging in, passwords, two-factor</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05</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Admin Panel</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Managing users and permissions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06</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Tasks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The internal to-do list with attachments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07</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Machines &amp; Logs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A page per tool, plus log downloads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08</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Sensor API</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How Raspberry Pis push data in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sixteen topics (2 of 2)</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32688" y="1280160"/>
          <a:ext cx="10616184" cy="914400"/>
        </p:xfrm>
        <a:graphic>
          <a:graphicData uri="http://schemas.openxmlformats.org/drawingml/2006/table">
            <a:tbl>
              <a:tblPr/>
              <a:tblGrid>
                <a:gridCol w="1005840"/>
                <a:gridCol w="3108960"/>
                <a:gridCol w="6766560"/>
              </a:tblGrid>
              <a:tr h="2743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Part</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Topic</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In one line</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09</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Chemical Inventory</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Barcodes, containers, scans, reports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Database Models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The tables and what they hold</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11</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Particle Demo</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A standalone demo viewer page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Consumers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The Pi firmware &amp; desktop apps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13</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Request Lifecycle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Step-by-step path of one request</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14</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Security Model</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Encryption, logins, the trade-offs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Endpoint Reference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Every address the server answers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00</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Start Here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This overview / table of contents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How to use these decks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
        <p:nvSpPr>
          <p:cNvPr id="7" name="Shape 5"/>
          <p:cNvSpPr/>
          <p:nvPr/>
        </p:nvSpPr>
        <p:spPr>
          <a:xfrm>
            <a:off x="932688" y="1280160"/>
            <a:ext cx="411480" cy="411480"/>
          </a:xfrm>
          <a:prstGeom prst="ellipse">
            <a:avLst/>
          </a:prstGeom>
          <a:solidFill>
            <a:srgbClr val="CC0000"/>
          </a:solidFill>
          <a:ln/>
        </p:spPr>
      </p:sp>
      <p:sp>
        <p:nvSpPr>
          <p:cNvPr id="8" name="Text 6"/>
          <p:cNvSpPr/>
          <p:nvPr/>
        </p:nvSpPr>
        <p:spPr>
          <a:xfrm>
            <a:off x="932688" y="12801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508760" y="11704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Slides are the summary  </a:t>
            </a:r>
            <a:pPr indent="0" marL="0">
              <a:buNone/>
            </a:pPr>
            <a:r>
              <a:rPr lang="en-US" sz="1300" dirty="0">
                <a:solidFill>
                  <a:srgbClr val="595959"/>
                </a:solidFill>
                <a:latin typeface="Calibri" pitchFamily="34" charset="0"/>
                <a:ea typeface="Calibri" pitchFamily="34" charset="-122"/>
                <a:cs typeface="Calibri" pitchFamily="34" charset="-120"/>
              </a:rPr>
              <a:t>the on-screen content is intentionally light.</a:t>
            </a:r>
            <a:endParaRPr lang="en-US" sz="1400" dirty="0"/>
          </a:p>
        </p:txBody>
      </p:sp>
      <p:sp>
        <p:nvSpPr>
          <p:cNvPr id="10" name="Shape 8"/>
          <p:cNvSpPr/>
          <p:nvPr/>
        </p:nvSpPr>
        <p:spPr>
          <a:xfrm>
            <a:off x="932688" y="2148840"/>
            <a:ext cx="411480" cy="411480"/>
          </a:xfrm>
          <a:prstGeom prst="ellipse">
            <a:avLst/>
          </a:prstGeom>
          <a:solidFill>
            <a:srgbClr val="CC0000"/>
          </a:solidFill>
          <a:ln/>
        </p:spPr>
      </p:sp>
      <p:sp>
        <p:nvSpPr>
          <p:cNvPr id="11" name="Text 9"/>
          <p:cNvSpPr/>
          <p:nvPr/>
        </p:nvSpPr>
        <p:spPr>
          <a:xfrm>
            <a:off x="932688" y="214884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508760" y="203911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Speaker notes are the script  </a:t>
            </a:r>
            <a:pPr indent="0" marL="0">
              <a:buNone/>
            </a:pPr>
            <a:r>
              <a:rPr lang="en-US" sz="1300" dirty="0">
                <a:solidFill>
                  <a:srgbClr val="595959"/>
                </a:solidFill>
                <a:latin typeface="Calibri" pitchFamily="34" charset="0"/>
                <a:ea typeface="Calibri" pitchFamily="34" charset="-122"/>
                <a:cs typeface="Calibri" pitchFamily="34" charset="-120"/>
              </a:rPr>
              <a:t>every slide has reader's notes with the full explanation.</a:t>
            </a:r>
            <a:endParaRPr lang="en-US" sz="1400" dirty="0"/>
          </a:p>
        </p:txBody>
      </p:sp>
      <p:sp>
        <p:nvSpPr>
          <p:cNvPr id="13" name="Shape 11"/>
          <p:cNvSpPr/>
          <p:nvPr/>
        </p:nvSpPr>
        <p:spPr>
          <a:xfrm>
            <a:off x="932688" y="3017520"/>
            <a:ext cx="411480" cy="411480"/>
          </a:xfrm>
          <a:prstGeom prst="ellipse">
            <a:avLst/>
          </a:prstGeom>
          <a:solidFill>
            <a:srgbClr val="CC0000"/>
          </a:solidFill>
          <a:ln/>
        </p:spPr>
      </p:sp>
      <p:sp>
        <p:nvSpPr>
          <p:cNvPr id="14" name="Text 12"/>
          <p:cNvSpPr/>
          <p:nvPr/>
        </p:nvSpPr>
        <p:spPr>
          <a:xfrm>
            <a:off x="932688" y="301752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508760" y="290779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Present or self-study  </a:t>
            </a:r>
            <a:pPr indent="0" marL="0">
              <a:buNone/>
            </a:pPr>
            <a:r>
              <a:rPr lang="en-US" sz="1300" dirty="0">
                <a:solidFill>
                  <a:srgbClr val="595959"/>
                </a:solidFill>
                <a:latin typeface="Calibri" pitchFamily="34" charset="0"/>
                <a:ea typeface="Calibri" pitchFamily="34" charset="-122"/>
                <a:cs typeface="Calibri" pitchFamily="34" charset="-120"/>
              </a:rPr>
              <a:t>read the notes aloud, or read them on your own as a guide.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you'll be able to do after this series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Explain, to a colleague, what the server is and why it exists.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Know where each kind of data lives and who can touch it.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Follow a request from a click (or a sensor) all the way through.</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Speak the basic vocabulary without feeling lost.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Know where to look things up in the written guide.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A 30-second taste: how it all works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sp>
        <p:nvSpPr>
          <p:cNvPr id="7" name="Text 5"/>
          <p:cNvSpPr/>
          <p:nvPr/>
        </p:nvSpPr>
        <p:spPr>
          <a:xfrm>
            <a:off x="932688" y="1280160"/>
            <a:ext cx="10616184" cy="45720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The one idea everything rests on.</a:t>
            </a:r>
            <a:endParaRPr lang="en-US" sz="1500" dirty="0"/>
          </a:p>
        </p:txBody>
      </p:sp>
      <p:sp>
        <p:nvSpPr>
          <p:cNvPr id="8" name="Shape 6"/>
          <p:cNvSpPr/>
          <p:nvPr/>
        </p:nvSpPr>
        <p:spPr>
          <a:xfrm>
            <a:off x="932688" y="1828800"/>
            <a:ext cx="411480" cy="411480"/>
          </a:xfrm>
          <a:prstGeom prst="ellipse">
            <a:avLst/>
          </a:prstGeom>
          <a:solidFill>
            <a:srgbClr val="CC0000"/>
          </a:solidFill>
          <a:ln/>
        </p:spPr>
      </p:sp>
      <p:sp>
        <p:nvSpPr>
          <p:cNvPr id="9" name="Text 7"/>
          <p:cNvSpPr/>
          <p:nvPr/>
        </p:nvSpPr>
        <p:spPr>
          <a:xfrm>
            <a:off x="932688" y="182880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8"/>
          <p:cNvSpPr/>
          <p:nvPr/>
        </p:nvSpPr>
        <p:spPr>
          <a:xfrm>
            <a:off x="1508760" y="171907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Something asks  </a:t>
            </a:r>
            <a:pPr indent="0" marL="0">
              <a:buNone/>
            </a:pPr>
            <a:r>
              <a:rPr lang="en-US" sz="1300" dirty="0">
                <a:solidFill>
                  <a:srgbClr val="595959"/>
                </a:solidFill>
                <a:latin typeface="Calibri" pitchFamily="34" charset="0"/>
                <a:ea typeface="Calibri" pitchFamily="34" charset="-122"/>
                <a:cs typeface="Calibri" pitchFamily="34" charset="-120"/>
              </a:rPr>
              <a:t>a browser, a sensor, or a tool sends a request.</a:t>
            </a:r>
            <a:endParaRPr lang="en-US" sz="1400" dirty="0"/>
          </a:p>
        </p:txBody>
      </p:sp>
      <p:sp>
        <p:nvSpPr>
          <p:cNvPr id="11" name="Shape 9"/>
          <p:cNvSpPr/>
          <p:nvPr/>
        </p:nvSpPr>
        <p:spPr>
          <a:xfrm>
            <a:off x="932688" y="2697480"/>
            <a:ext cx="411480" cy="411480"/>
          </a:xfrm>
          <a:prstGeom prst="ellipse">
            <a:avLst/>
          </a:prstGeom>
          <a:solidFill>
            <a:srgbClr val="CC0000"/>
          </a:solidFill>
          <a:ln/>
        </p:spPr>
      </p:sp>
      <p:sp>
        <p:nvSpPr>
          <p:cNvPr id="12" name="Text 10"/>
          <p:cNvSpPr/>
          <p:nvPr/>
        </p:nvSpPr>
        <p:spPr>
          <a:xfrm>
            <a:off x="932688" y="269748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508760" y="258775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The server decides  </a:t>
            </a:r>
            <a:pPr indent="0" marL="0">
              <a:buNone/>
            </a:pPr>
            <a:r>
              <a:rPr lang="en-US" sz="1300" dirty="0">
                <a:solidFill>
                  <a:srgbClr val="595959"/>
                </a:solidFill>
                <a:latin typeface="Calibri" pitchFamily="34" charset="0"/>
                <a:ea typeface="Calibri" pitchFamily="34" charset="-122"/>
                <a:cs typeface="Calibri" pitchFamily="34" charset="-120"/>
              </a:rPr>
              <a:t>it figures out what's being asked and does the work.</a:t>
            </a:r>
            <a:endParaRPr lang="en-US" sz="1400" dirty="0"/>
          </a:p>
        </p:txBody>
      </p:sp>
      <p:sp>
        <p:nvSpPr>
          <p:cNvPr id="14" name="Shape 12"/>
          <p:cNvSpPr/>
          <p:nvPr/>
        </p:nvSpPr>
        <p:spPr>
          <a:xfrm>
            <a:off x="932688" y="3566160"/>
            <a:ext cx="411480" cy="411480"/>
          </a:xfrm>
          <a:prstGeom prst="ellipse">
            <a:avLst/>
          </a:prstGeom>
          <a:solidFill>
            <a:srgbClr val="CC0000"/>
          </a:solidFill>
          <a:ln/>
        </p:spPr>
      </p:sp>
      <p:sp>
        <p:nvSpPr>
          <p:cNvPr id="15" name="Text 13"/>
          <p:cNvSpPr/>
          <p:nvPr/>
        </p:nvSpPr>
        <p:spPr>
          <a:xfrm>
            <a:off x="932688" y="35661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1508760" y="34564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It answers  </a:t>
            </a:r>
            <a:pPr indent="0" marL="0">
              <a:buNone/>
            </a:pPr>
            <a:r>
              <a:rPr lang="en-US" sz="1300" dirty="0">
                <a:solidFill>
                  <a:srgbClr val="595959"/>
                </a:solidFill>
                <a:latin typeface="Calibri" pitchFamily="34" charset="0"/>
                <a:ea typeface="Calibri" pitchFamily="34" charset="-122"/>
                <a:cs typeface="Calibri" pitchFamily="34" charset="-120"/>
              </a:rPr>
              <a:t>a web page, some data, or a confirmation goes back.</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Two audiences, one server</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sp>
        <p:nvSpPr>
          <p:cNvPr id="7" name="Text 5"/>
          <p:cNvSpPr/>
          <p:nvPr/>
        </p:nvSpPr>
        <p:spPr>
          <a:xfrm>
            <a:off x="640080"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People</a:t>
            </a:r>
            <a:endParaRPr lang="en-US" sz="1600" dirty="0"/>
          </a:p>
        </p:txBody>
      </p:sp>
      <p:sp>
        <p:nvSpPr>
          <p:cNvPr id="8" name="Text 6"/>
          <p:cNvSpPr/>
          <p:nvPr/>
        </p:nvSpPr>
        <p:spPr>
          <a:xfrm>
            <a:off x="640080"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Use a web browser.</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Log in, with two-factor.</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See HTML pages: tasks, machines, inventory.</a:t>
            </a:r>
            <a:endParaRPr lang="en-US" sz="1350" dirty="0"/>
          </a:p>
        </p:txBody>
      </p:sp>
      <p:sp>
        <p:nvSpPr>
          <p:cNvPr id="9" name="Text 7"/>
          <p:cNvSpPr/>
          <p:nvPr/>
        </p:nvSpPr>
        <p:spPr>
          <a:xfrm>
            <a:off x="6323076"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Machines</a:t>
            </a:r>
            <a:endParaRPr lang="en-US" sz="1600" dirty="0"/>
          </a:p>
        </p:txBody>
      </p:sp>
      <p:sp>
        <p:nvSpPr>
          <p:cNvPr id="10" name="Text 8"/>
          <p:cNvSpPr/>
          <p:nvPr/>
        </p:nvSpPr>
        <p:spPr>
          <a:xfrm>
            <a:off x="6323076"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Sensors and desktop tools.</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No login — trusted by the network.</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Exchange raw data, not web pages.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How the decks and the written guide fit together</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10</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These 16 decks are the presentable summary — one per topic.</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Each deck's speaker notes are the spoken script / self-study text.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companion written guide covers the same topics in prose, with more depth.</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Separate developer documentation exists for whoever maintains the code.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Ground rules for the series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11</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No coding knowledge assumed — terms are defined the first time they appear.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Analogies over jargon; the goal is understanding, not precision for its own sake.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Each deck ends by pointing to the next topic.</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Questions are welcome at any point — this is meant to demystify, not impress.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Start Here — Series Overview</dc:title>
  <dc:subject>PptxGenJS Presentation</dc:subject>
  <dc:creator>Faith</dc:creator>
  <cp:lastModifiedBy>Faith</cp:lastModifiedBy>
  <cp:revision>1</cp:revision>
  <dcterms:created xsi:type="dcterms:W3CDTF">2026-05-21T18:52:03Z</dcterms:created>
  <dcterms:modified xsi:type="dcterms:W3CDTF">2026-05-21T18:52:03Z</dcterms:modified>
</cp:coreProperties>
</file>