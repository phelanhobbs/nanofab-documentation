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session is a reference tour. Rather than read every address aloud, we'll group them by feature so the audience sees the shape of the whole system and knows where to look things up. It doubles as a map back to all the earlier sessions. Keep it brisk — this is a 'where everything lives'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scale. The server answers roughly eighty-three distinct addresses, organized into seven feature areas, backed by five databases. These numbers aren't for memorizing — they convey that this is a substantial but comprehensible system. The rest of the session breaks the addresses down by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master map. The machines portal is the largest by count because every tool gets its own address. The sensor API is the machine-facing group with no login. The inventory is large and currently open. Note the 'Login?' column ties straight back to the security session: human features require login, device features rely on the network, and the inventory's openness is the flagged gap. Point people here when they ask 'where does X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example of one area's addresses, from the authentication session. Four addresses cover the whole login lifecycle. You don't need to read each aloud — show that the reference is this simple per area: an address and a one-line description. The written guide has this for all 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device-facing addresses from the sensor session, in reference form. These are the doorways the Raspberry Pis and the Parylene reader use. Most receive data; a couple hand files back. All are open on the private network. This is the group to consult when wiring up a new sensor or debugging why a reading didn't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written reference's format so people can use it independently. Every entry gives the address, the request method, whether it needs login, and a one-line description, grouped the same way as these sessions. It also documents the small built-in file-serving routes and flags a duplicate, inactive copy of the inventory code so a future maintainer doesn't waste time on dead code. It's the lookup table for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inventory's addresses since it's the biggest feature. These map directly onto the actions from Part 09: browse, add, move, remove, scan, report, audit. Note these are the addresses currently without a login requirement — the security gap from Part 14. Pointing that out here, against the concrete list, makes the recommendation 'gate the changing ones' very tangible.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out the tour with the people-facing addresses. Tasks and admin behave as their sessions described; each tool has its own data page; the download and graph addresses are the path-guarded file routes from Part 07; and the demo viewer stands alone. Again, the value isn't memorizing these — it's seeing that the whole system is a manageable list of clearly named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reference back to the security model one last time. The access rules aren't scattered — they follow the feature areas. Anything people use needs a login; admin actions need admin on top; the device API is intentionally open on the private network; and the inventory's openness is the one item flagged for fixing. The endpoint reference and the security model are two views of the same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out the count with the handful of plumbing routes that aren't a 'feature' but still answer requests: serving the page scripts, the stylesheets, and the tab icon. They're included in the reference for completeness so the ~83 total adds up and so a maintainer isn't surprised to find them. Nothing to configure; they just quietly serve static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orientation note for a successor. There's a leftover, near-duplicate copy of the inventory code sitting in the project that is not wired in and never runs. Without this warning, a new maintainer could waste time editing the dead copy and wonder why nothing changes. The endpoint reference documents which file is actually live. The general lesson: in a system that grew over time, lean on the documentation to tell active code from abandoned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whole series. Return to the core idea from Part 01 — request in, response out — and recap the big themes: two kinds of client, several datastores, and a consistent pipeline. Point listeners to the companion written guide for depth and to the separate developer documentation if they'll maintain the system. Thank everyone for following the series,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15</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Every Address, At a Glance</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guided tour of all ~83 addresses the server answers.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system by the numbers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640080" y="1371600"/>
            <a:ext cx="3392424"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8" name="Text 6"/>
          <p:cNvSpPr/>
          <p:nvPr/>
        </p:nvSpPr>
        <p:spPr>
          <a:xfrm>
            <a:off x="640080" y="1645920"/>
            <a:ext cx="3392424"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~83</a:t>
            </a:r>
            <a:endParaRPr lang="en-US" sz="4000" dirty="0"/>
          </a:p>
        </p:txBody>
      </p:sp>
      <p:sp>
        <p:nvSpPr>
          <p:cNvPr id="9" name="Text 7"/>
          <p:cNvSpPr/>
          <p:nvPr/>
        </p:nvSpPr>
        <p:spPr>
          <a:xfrm>
            <a:off x="777240" y="2697480"/>
            <a:ext cx="3118104"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total addresses the server answers</a:t>
            </a:r>
            <a:endParaRPr lang="en-US" sz="1300" dirty="0"/>
          </a:p>
        </p:txBody>
      </p:sp>
      <p:sp>
        <p:nvSpPr>
          <p:cNvPr id="10" name="Shape 8"/>
          <p:cNvSpPr/>
          <p:nvPr/>
        </p:nvSpPr>
        <p:spPr>
          <a:xfrm>
            <a:off x="4398264" y="1371600"/>
            <a:ext cx="3392424"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1" name="Text 9"/>
          <p:cNvSpPr/>
          <p:nvPr/>
        </p:nvSpPr>
        <p:spPr>
          <a:xfrm>
            <a:off x="4398264" y="1645920"/>
            <a:ext cx="3392424"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7</a:t>
            </a:r>
            <a:endParaRPr lang="en-US" sz="4000" dirty="0"/>
          </a:p>
        </p:txBody>
      </p:sp>
      <p:sp>
        <p:nvSpPr>
          <p:cNvPr id="12" name="Text 10"/>
          <p:cNvSpPr/>
          <p:nvPr/>
        </p:nvSpPr>
        <p:spPr>
          <a:xfrm>
            <a:off x="4535424" y="2697480"/>
            <a:ext cx="3118104"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feature areas (blueprints)</a:t>
            </a:r>
            <a:endParaRPr lang="en-US" sz="1300" dirty="0"/>
          </a:p>
        </p:txBody>
      </p:sp>
      <p:sp>
        <p:nvSpPr>
          <p:cNvPr id="13" name="Shape 11"/>
          <p:cNvSpPr/>
          <p:nvPr/>
        </p:nvSpPr>
        <p:spPr>
          <a:xfrm>
            <a:off x="8156448" y="1371600"/>
            <a:ext cx="3392424"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4" name="Text 12"/>
          <p:cNvSpPr/>
          <p:nvPr/>
        </p:nvSpPr>
        <p:spPr>
          <a:xfrm>
            <a:off x="8156448" y="1645920"/>
            <a:ext cx="3392424"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5</a:t>
            </a:r>
            <a:endParaRPr lang="en-US" sz="4000" dirty="0"/>
          </a:p>
        </p:txBody>
      </p:sp>
      <p:sp>
        <p:nvSpPr>
          <p:cNvPr id="15" name="Text 13"/>
          <p:cNvSpPr/>
          <p:nvPr/>
        </p:nvSpPr>
        <p:spPr>
          <a:xfrm>
            <a:off x="8293608" y="2697480"/>
            <a:ext cx="3118104"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databases behind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Addresses by feature area</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6400800"/>
                <a:gridCol w="1828800"/>
                <a:gridCol w="26517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Count</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Login?</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Authentication (login, signup, reset, logout)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Mostly public</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Admin only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Machines &amp; logs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Sensor / device API</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None (devices)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Chemical inventory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Currently open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 demo + static files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Authentication addresses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291840"/>
                <a:gridCol w="75895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Address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Does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Show form / verify credentials + 2FA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/signup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Create an account (Duo-approved)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/resetpassword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Reset via username + uNID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/logout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End the session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Sensor / device addresses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4206240"/>
                <a:gridCol w="66751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Address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Does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Receive or return particle readings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/env-data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Receive or return temp/humidity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/sensor-data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Receive combined readings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/sdsanalog (+finished)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Receive Parylene CSV batches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/denton18pump (+finished)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Receive Denton 18 pressure samples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/api/paralyne/analog/...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List and download Parylene files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to read the full reference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entry lists: the address, its method, whether login is needed, and what it does.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Grouped by feature area, matching this series' sessions.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Includes the small built-in routes (JavaScript, CSS, favicon).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Notes which old code is inactive, so you don't chase dead ends.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Chemical inventory addresses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4206240"/>
                <a:gridCol w="66751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Address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Does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/chem/inventory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Search and browse containers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/chem/add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Add containers, generate barcodes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/chem/move (+ move-bulk)</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Relocate one or many containers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/chem/remove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Soft-delete containers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/chem/upload-scans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Import an audit's scans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/chem/report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reports dashboard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/chem/transactions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full audit trail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Machines &amp; everyday addresses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4206240"/>
                <a:gridCol w="66751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Address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Does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/tasks, /createtasks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Task dashboard and creation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/adminpanel</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User management (admins only)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/ald, /pecvd, /drie, ...</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Per-tool data pages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/download/&lt;file&gt;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Download a log file (guarded)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/graph/&lt;file&gt;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Graph a log file's contents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/particle-demo</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standalone demo viewer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Reading the 'Login?' column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Access rules map cleanly onto the feature areas.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Human features (tasks, machines, admin): require login.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Admin actions: require login AND admin.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Device API: no login — trusted via the private network.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Inventory: currently open — the known gap to close first.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small built-in routes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291840"/>
                <a:gridCol w="758952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Address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Does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/js/&lt;file&gt;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Serve a JavaScript file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/css/&lt;file&gt;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Serve a stylesheet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/favicon.ico</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little browser-tab icon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note on dead code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second, near-duplicate copy of the inventory code exists in the project.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is NOT active — the server never loads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reference flags it so you don't edit the wrong file.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Lesson: trust the reference, not just file names, when navigating the code.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Series wrap-up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server takes a request and returns a response — everything else is detail.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Humans log in (with two-factor); machines push data on a trusted network.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Data lives in small databases, one big one, and CSV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written guide and developer docs go deeper when you need them.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Endpoint Reference</dc:title>
  <dc:subject>PptxGenJS Presentation</dc:subject>
  <dc:creator>Faith</dc:creator>
  <cp:lastModifiedBy>Faith</cp:lastModifiedBy>
  <cp:revision>1</cp:revision>
  <dcterms:created xsi:type="dcterms:W3CDTF">2026-05-21T18:52:05Z</dcterms:created>
  <dcterms:modified xsi:type="dcterms:W3CDTF">2026-05-21T18:52:05Z</dcterms:modified>
</cp:coreProperties>
</file>