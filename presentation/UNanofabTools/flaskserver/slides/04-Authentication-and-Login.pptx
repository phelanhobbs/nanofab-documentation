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 covers how logging in works: passwords, two-factor with Duo, sessions, signup, and password reset. The audience should leave understanding that passwords are never stored in plain text, that a second factor (your phone) is required in production, and roughly how the server remembers you're logged in. Keep it reassuring and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five steps. You submit your username and password over the encrypted connection. The server compares your password to a stored scrambled version — it never keeps the real password. In production a Duo push then goes to your phone and you approve it. Only then does the server create a 'session' (a record that you're logged in) and hand your browser a cookie that proves it. Finally you're redirected into the app. If any step fails, you bounce back to the login page with a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reassuring point for a general audience. We never store the password. We store a 'hash' — a scrambled fingerprint produced by a tool called bcrypt that can't be run backwards. One subtlety worth mentioning: the password is scrambled exactly as typed — unlike the username, it's never cleaned or HTML-escaped first, because a value that's only ever hashed gains nothing from escaping and would only be weakened by it. When you log in, the server scrambles what you typed and checks whether the two fingerprints match. bcrypt is deliberately slow, so an attacker can't rapidly guess millions of passwords. The upshot: if someone stole the user database, they'd get fingerprints, not passwords.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Two-factor means 'something you know' (password) plus 'something you have' (your phone). After the password is correct, the server asks Duo to send a push; you must actively approve it. A denial, a timeout, or any error means no entry. Note it's also required at signup, so you can't create an account for a university ID unless that ID's Duo device approves — a nice anti-impersonation check. The only time 2FA is skipped is local development mode, which is why that mode must never run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login, the server needs to remember you across page loads. It does this two ways: a 'cookie' stored in your browser that carries your user ID and is cryptographically signed so it can't be forged, and a matching record on the server. The app configures a two-hour permanent-session lifetime, but the current login flow does not mark sessions permanent, so this is not a forced two-hour logout. Logging out clears the cookie. For a general audience the key idea is just: the cookie proves you already logged in, and it's tamper-proof.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Signup collects a username, password, and the university ID (uNID), refuses duplicate usernames, and requires a Duo approval before creating the account. Password reset is simpler: you prove who you are by supplying the username and matching uNID, then set a new password. Be honest that the reset path leans on the uNID as the secret and doesn't add a Duo step — it's weaker than login, and it's on the improvement list (covered in the security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Briefly cover hygiene. Whatever you type is cleaned before the server uses it — trimmed of stray spaces, capped in length, and made safe so it can't sneak in as executable code on a page. Separately, all database lookups use 'parameterized' queries, which keep user input strictly as data, never as commands — that's the standard defense against injection attacks. The audience doesn't need the mechanics; the message is 'user input is treated as suspicious and handled carefully.'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hashing concrete. A password is run through a one-way scrambler that always produces the same fingerprint for the same input, but cannot be run backwards to recover the password. At login, the server scrambles what you typed and checks whether the fingerprints match. The real password is never stored or compared directly. The strange-looking stored value even embeds the scrambling settings, which is how the check knows how to reproduce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value of two-factor in plain terms. Passwords leak — through guessing, phishing, or reuse across sites. A second factor tied to a physical thing you carry (your phone) means a stolen password isn't enough; the attacker would also need your device to approve the push. That's a huge jump in protection for minimal user effort, which is why production never skips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worst-case scenario because it reassures non-technical stakeholders. If someone stole the user database, they'd get fingerprints, not passwords, and those fingerprints are deliberately expensive to crack. On top of that, two-factor means even a cracked password can't log in without the user's phone. This is 'defense in depth' — multiple independent layers so one failure isn't a total breach.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Demystify cookies, which sound vaguely sinister to many people. After login the server puts your user ID into a cookie and signs it cryptographically. Your browser automatically returns that cookie on every subsequent request, which is how the server knows it's still you without re-asking for your password. Because it's signed, anyone editing or forging the cookie gets rejected. The code has a two-hour lifetime setting, but it is not active for the current non-permanent login sessions. It's a tamper-proof 'I already logged in' wristband, nothing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trust story: real passwords are never kept, a phone-based second factor is required, and being 'logged in' is a tamper-proof cookie backed by a server record. The configured two-hour lifetime is not enforced until sessions are marked permanent. Flag the one soft spot — password reset — as something the security session revisits. Next up: the Admin Panel, which controls who has elevated permissions.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1480" cy="6858000"/>
          </a:xfrm>
          <a:prstGeom prst="rect">
            <a:avLst/>
          </a:prstGeom>
          <a:solidFill>
            <a:srgbClr val="CC0000"/>
          </a:solidFill>
          <a:ln/>
        </p:spPr>
      </p:sp>
      <p:sp>
        <p:nvSpPr>
          <p:cNvPr id="3" name="Text 1"/>
          <p:cNvSpPr/>
          <p:nvPr/>
        </p:nvSpPr>
        <p:spPr>
          <a:xfrm>
            <a:off x="914400" y="1371600"/>
            <a:ext cx="10360152" cy="457200"/>
          </a:xfrm>
          <a:prstGeom prst="rect">
            <a:avLst/>
          </a:prstGeom>
          <a:noFill/>
          <a:ln/>
        </p:spPr>
        <p:txBody>
          <a:bodyPr wrap="square" lIns="0" tIns="0" rIns="0" bIns="0" rtlCol="0" anchor="ctr"/>
          <a:lstStyle/>
          <a:p>
            <a:pPr algn="l" indent="0" marL="0">
              <a:buNone/>
            </a:pPr>
            <a:r>
              <a:rPr lang="en-US" sz="1400" b="1" spc="200" kern="0" dirty="0">
                <a:solidFill>
                  <a:srgbClr val="CC0000"/>
                </a:solidFill>
                <a:latin typeface="Calibri" pitchFamily="34" charset="0"/>
                <a:ea typeface="Calibri" pitchFamily="34" charset="-122"/>
                <a:cs typeface="Calibri" pitchFamily="34" charset="-120"/>
              </a:rPr>
              <a:t>PART 04</a:t>
            </a:r>
            <a:endParaRPr lang="en-US" sz="1400" dirty="0"/>
          </a:p>
        </p:txBody>
      </p:sp>
      <p:sp>
        <p:nvSpPr>
          <p:cNvPr id="4" name="Text 2"/>
          <p:cNvSpPr/>
          <p:nvPr/>
        </p:nvSpPr>
        <p:spPr>
          <a:xfrm>
            <a:off x="914400" y="1828800"/>
            <a:ext cx="10360152" cy="1554480"/>
          </a:xfrm>
          <a:prstGeom prst="rect">
            <a:avLst/>
          </a:prstGeom>
          <a:noFill/>
          <a:ln/>
        </p:spPr>
        <p:txBody>
          <a:bodyPr wrap="square" lIns="0" tIns="0" rIns="0" bIns="0" rtlCol="0" anchor="t"/>
          <a:lstStyle/>
          <a:p>
            <a:pPr algn="l" indent="0" marL="0">
              <a:buNone/>
            </a:pPr>
            <a:r>
              <a:rPr lang="en-US" sz="4000" b="1" dirty="0">
                <a:solidFill>
                  <a:srgbClr val="1A1A1A"/>
                </a:solidFill>
                <a:latin typeface="Georgia" pitchFamily="34" charset="0"/>
                <a:ea typeface="Georgia" pitchFamily="34" charset="-122"/>
                <a:cs typeface="Georgia" pitchFamily="34" charset="-120"/>
              </a:rPr>
              <a:t>Authentication &amp; Login</a:t>
            </a:r>
            <a:endParaRPr lang="en-US" sz="4000" dirty="0"/>
          </a:p>
        </p:txBody>
      </p:sp>
      <p:sp>
        <p:nvSpPr>
          <p:cNvPr id="5" name="Text 3"/>
          <p:cNvSpPr/>
          <p:nvPr/>
        </p:nvSpPr>
        <p:spPr>
          <a:xfrm>
            <a:off x="914400" y="3429000"/>
            <a:ext cx="10177272" cy="731520"/>
          </a:xfrm>
          <a:prstGeom prst="rect">
            <a:avLst/>
          </a:prstGeom>
          <a:noFill/>
          <a:ln/>
        </p:spPr>
        <p:txBody>
          <a:bodyPr wrap="square" lIns="0" tIns="0" rIns="0" bIns="0" rtlCol="0" anchor="t"/>
          <a:lstStyle/>
          <a:p>
            <a:pPr algn="l" indent="0" marL="0">
              <a:buNone/>
            </a:pPr>
            <a:r>
              <a:rPr lang="en-US" sz="1700" dirty="0">
                <a:solidFill>
                  <a:srgbClr val="595959"/>
                </a:solidFill>
                <a:latin typeface="Calibri" pitchFamily="34" charset="0"/>
                <a:ea typeface="Calibri" pitchFamily="34" charset="-122"/>
                <a:cs typeface="Calibri" pitchFamily="34" charset="-120"/>
              </a:rPr>
              <a:t>UNanofabTools Server — A Plain-English Guide</a:t>
            </a:r>
            <a:endParaRPr lang="en-US" sz="1700" dirty="0"/>
          </a:p>
          <a:p>
            <a:pPr algn="l" indent="0" marL="0">
              <a:buNone/>
            </a:pPr>
            <a:r>
              <a:rPr lang="en-US" sz="1700" dirty="0">
                <a:solidFill>
                  <a:srgbClr val="595959"/>
                </a:solidFill>
                <a:latin typeface="Calibri" pitchFamily="34" charset="0"/>
                <a:ea typeface="Calibri" pitchFamily="34" charset="-122"/>
                <a:cs typeface="Calibri" pitchFamily="34" charset="-120"/>
              </a:rPr>
              <a:t>How a stranger becomes a logged-in user — safely.</a:t>
            </a:r>
            <a:endParaRPr lang="en-US" sz="1700" dirty="0"/>
          </a:p>
        </p:txBody>
      </p:sp>
      <p:sp>
        <p:nvSpPr>
          <p:cNvPr id="6" name="Text 4"/>
          <p:cNvSpPr/>
          <p:nvPr/>
        </p:nvSpPr>
        <p:spPr>
          <a:xfrm>
            <a:off x="914400" y="5029200"/>
            <a:ext cx="10360152" cy="1280160"/>
          </a:xfrm>
          <a:prstGeom prst="rect">
            <a:avLst/>
          </a:prstGeom>
          <a:noFill/>
          <a:ln/>
        </p:spPr>
        <p:txBody>
          <a:bodyPr wrap="square" lIns="0" tIns="0" rIns="0" bIns="0" rtlCol="0" anchor="t"/>
          <a:lstStyle/>
          <a:p>
            <a:pPr algn="l" indent="0" marL="0">
              <a:lnSpc>
                <a:spcPct val="115000"/>
              </a:lnSpc>
              <a:buNone/>
            </a:pPr>
            <a:r>
              <a:rPr lang="en-US" sz="1400" b="1" dirty="0">
                <a:solidFill>
                  <a:srgbClr val="1A1A1A"/>
                </a:solidFill>
                <a:latin typeface="Calibri" pitchFamily="34" charset="0"/>
                <a:ea typeface="Calibri" pitchFamily="34" charset="-122"/>
                <a:cs typeface="Calibri" pitchFamily="34" charset="-120"/>
              </a:rPr>
              <a:t>Faith</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Server Developer &amp; Maintainer</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Utah Nanofab · University of Utah</a:t>
            </a:r>
            <a:endParaRPr lang="en-US" sz="1400" dirty="0"/>
          </a:p>
          <a:p>
            <a:pPr algn="l" indent="0" marL="0">
              <a:lnSpc>
                <a:spcPct val="115000"/>
              </a:lnSpc>
              <a:buNone/>
            </a:pPr>
            <a:r>
              <a:rPr lang="en-US" sz="1100" dirty="0">
                <a:solidFill>
                  <a:srgbClr val="8A8A8A"/>
                </a:solidFill>
                <a:latin typeface="Calibri" pitchFamily="34" charset="0"/>
                <a:ea typeface="Calibri" pitchFamily="34" charset="-122"/>
                <a:cs typeface="Calibri" pitchFamily="34" charset="-120"/>
              </a:rPr>
              <a:t>May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What happens when you log in</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a:t>
            </a:r>
            <a:endParaRPr lang="en-US" sz="900" dirty="0"/>
          </a:p>
        </p:txBody>
      </p:sp>
      <p:sp>
        <p:nvSpPr>
          <p:cNvPr id="7" name="Text 5"/>
          <p:cNvSpPr/>
          <p:nvPr/>
        </p:nvSpPr>
        <p:spPr>
          <a:xfrm>
            <a:off x="932688" y="1280160"/>
            <a:ext cx="10616184" cy="457200"/>
          </a:xfrm>
          <a:prstGeom prst="rect">
            <a:avLst/>
          </a:prstGeom>
          <a:noFill/>
          <a:ln/>
        </p:spPr>
        <p:txBody>
          <a:bodyPr wrap="square" lIns="0" tIns="0" rIns="0" bIns="0" rtlCol="0" anchor="t"/>
          <a:lstStyle/>
          <a:p>
            <a:pPr indent="0" marL="0">
              <a:buNone/>
            </a:pPr>
            <a:r>
              <a:rPr lang="en-US" sz="1500" i="1" dirty="0">
                <a:solidFill>
                  <a:srgbClr val="595959"/>
                </a:solidFill>
                <a:latin typeface="Calibri" pitchFamily="34" charset="0"/>
                <a:ea typeface="Calibri" pitchFamily="34" charset="-122"/>
                <a:cs typeface="Calibri" pitchFamily="34" charset="-120"/>
              </a:rPr>
              <a:t>The path from typing your password to landing on the tasks page.</a:t>
            </a:r>
            <a:endParaRPr lang="en-US" sz="1500" dirty="0"/>
          </a:p>
        </p:txBody>
      </p:sp>
      <p:sp>
        <p:nvSpPr>
          <p:cNvPr id="8" name="Shape 6"/>
          <p:cNvSpPr/>
          <p:nvPr/>
        </p:nvSpPr>
        <p:spPr>
          <a:xfrm>
            <a:off x="932688" y="1828800"/>
            <a:ext cx="411480" cy="411480"/>
          </a:xfrm>
          <a:prstGeom prst="ellipse">
            <a:avLst/>
          </a:prstGeom>
          <a:solidFill>
            <a:srgbClr val="CC0000"/>
          </a:solidFill>
          <a:ln/>
        </p:spPr>
      </p:sp>
      <p:sp>
        <p:nvSpPr>
          <p:cNvPr id="9" name="Text 7"/>
          <p:cNvSpPr/>
          <p:nvPr/>
        </p:nvSpPr>
        <p:spPr>
          <a:xfrm>
            <a:off x="932688" y="182880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8"/>
          <p:cNvSpPr/>
          <p:nvPr/>
        </p:nvSpPr>
        <p:spPr>
          <a:xfrm>
            <a:off x="1508760" y="171907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Submit username + password  </a:t>
            </a:r>
            <a:pPr indent="0" marL="0">
              <a:buNone/>
            </a:pPr>
            <a:r>
              <a:rPr lang="en-US" sz="1300" dirty="0">
                <a:solidFill>
                  <a:srgbClr val="595959"/>
                </a:solidFill>
                <a:latin typeface="Calibri" pitchFamily="34" charset="0"/>
                <a:ea typeface="Calibri" pitchFamily="34" charset="-122"/>
                <a:cs typeface="Calibri" pitchFamily="34" charset="-120"/>
              </a:rPr>
              <a:t>the browser sends them over the encrypted connection.</a:t>
            </a:r>
            <a:endParaRPr lang="en-US" sz="1400" dirty="0"/>
          </a:p>
        </p:txBody>
      </p:sp>
      <p:sp>
        <p:nvSpPr>
          <p:cNvPr id="11" name="Shape 9"/>
          <p:cNvSpPr/>
          <p:nvPr/>
        </p:nvSpPr>
        <p:spPr>
          <a:xfrm>
            <a:off x="932688" y="2697480"/>
            <a:ext cx="411480" cy="411480"/>
          </a:xfrm>
          <a:prstGeom prst="ellipse">
            <a:avLst/>
          </a:prstGeom>
          <a:solidFill>
            <a:srgbClr val="CC0000"/>
          </a:solidFill>
          <a:ln/>
        </p:spPr>
      </p:sp>
      <p:sp>
        <p:nvSpPr>
          <p:cNvPr id="12" name="Text 10"/>
          <p:cNvSpPr/>
          <p:nvPr/>
        </p:nvSpPr>
        <p:spPr>
          <a:xfrm>
            <a:off x="932688" y="269748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1508760" y="258775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Check the password  </a:t>
            </a:r>
            <a:pPr indent="0" marL="0">
              <a:buNone/>
            </a:pPr>
            <a:r>
              <a:rPr lang="en-US" sz="1300" dirty="0">
                <a:solidFill>
                  <a:srgbClr val="595959"/>
                </a:solidFill>
                <a:latin typeface="Calibri" pitchFamily="34" charset="0"/>
                <a:ea typeface="Calibri" pitchFamily="34" charset="-122"/>
                <a:cs typeface="Calibri" pitchFamily="34" charset="-120"/>
              </a:rPr>
              <a:t>compare against the stored scrambled version (never plain text).</a:t>
            </a:r>
            <a:endParaRPr lang="en-US" sz="1400" dirty="0"/>
          </a:p>
        </p:txBody>
      </p:sp>
      <p:sp>
        <p:nvSpPr>
          <p:cNvPr id="14" name="Shape 12"/>
          <p:cNvSpPr/>
          <p:nvPr/>
        </p:nvSpPr>
        <p:spPr>
          <a:xfrm>
            <a:off x="932688" y="3566160"/>
            <a:ext cx="411480" cy="411480"/>
          </a:xfrm>
          <a:prstGeom prst="ellipse">
            <a:avLst/>
          </a:prstGeom>
          <a:solidFill>
            <a:srgbClr val="CC0000"/>
          </a:solidFill>
          <a:ln/>
        </p:spPr>
      </p:sp>
      <p:sp>
        <p:nvSpPr>
          <p:cNvPr id="15" name="Text 13"/>
          <p:cNvSpPr/>
          <p:nvPr/>
        </p:nvSpPr>
        <p:spPr>
          <a:xfrm>
            <a:off x="932688" y="356616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4"/>
          <p:cNvSpPr/>
          <p:nvPr/>
        </p:nvSpPr>
        <p:spPr>
          <a:xfrm>
            <a:off x="1508760" y="345643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Two-factor (Duo)  </a:t>
            </a:r>
            <a:pPr indent="0" marL="0">
              <a:buNone/>
            </a:pPr>
            <a:r>
              <a:rPr lang="en-US" sz="1300" dirty="0">
                <a:solidFill>
                  <a:srgbClr val="595959"/>
                </a:solidFill>
                <a:latin typeface="Calibri" pitchFamily="34" charset="0"/>
                <a:ea typeface="Calibri" pitchFamily="34" charset="-122"/>
                <a:cs typeface="Calibri" pitchFamily="34" charset="-120"/>
              </a:rPr>
              <a:t>in production, a push goes to your phone; you tap approve.</a:t>
            </a:r>
            <a:endParaRPr lang="en-US" sz="1400" dirty="0"/>
          </a:p>
        </p:txBody>
      </p:sp>
      <p:sp>
        <p:nvSpPr>
          <p:cNvPr id="17" name="Shape 15"/>
          <p:cNvSpPr/>
          <p:nvPr/>
        </p:nvSpPr>
        <p:spPr>
          <a:xfrm>
            <a:off x="932688" y="4434840"/>
            <a:ext cx="411480" cy="411480"/>
          </a:xfrm>
          <a:prstGeom prst="ellipse">
            <a:avLst/>
          </a:prstGeom>
          <a:solidFill>
            <a:srgbClr val="CC0000"/>
          </a:solidFill>
          <a:ln/>
        </p:spPr>
      </p:sp>
      <p:sp>
        <p:nvSpPr>
          <p:cNvPr id="18" name="Text 16"/>
          <p:cNvSpPr/>
          <p:nvPr/>
        </p:nvSpPr>
        <p:spPr>
          <a:xfrm>
            <a:off x="932688" y="443484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9" name="Text 17"/>
          <p:cNvSpPr/>
          <p:nvPr/>
        </p:nvSpPr>
        <p:spPr>
          <a:xfrm>
            <a:off x="1508760" y="432511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Create a session  </a:t>
            </a:r>
            <a:pPr indent="0" marL="0">
              <a:buNone/>
            </a:pPr>
            <a:r>
              <a:rPr lang="en-US" sz="1300" dirty="0">
                <a:solidFill>
                  <a:srgbClr val="595959"/>
                </a:solidFill>
                <a:latin typeface="Calibri" pitchFamily="34" charset="0"/>
                <a:ea typeface="Calibri" pitchFamily="34" charset="-122"/>
                <a:cs typeface="Calibri" pitchFamily="34" charset="-120"/>
              </a:rPr>
              <a:t>the server records that you're logged in and sets a cookie.</a:t>
            </a:r>
            <a:endParaRPr lang="en-US" sz="1400" dirty="0"/>
          </a:p>
        </p:txBody>
      </p:sp>
      <p:sp>
        <p:nvSpPr>
          <p:cNvPr id="20" name="Shape 18"/>
          <p:cNvSpPr/>
          <p:nvPr/>
        </p:nvSpPr>
        <p:spPr>
          <a:xfrm>
            <a:off x="932688" y="5303520"/>
            <a:ext cx="411480" cy="411480"/>
          </a:xfrm>
          <a:prstGeom prst="ellipse">
            <a:avLst/>
          </a:prstGeom>
          <a:solidFill>
            <a:srgbClr val="CC0000"/>
          </a:solidFill>
          <a:ln/>
        </p:spPr>
      </p:sp>
      <p:sp>
        <p:nvSpPr>
          <p:cNvPr id="21" name="Text 19"/>
          <p:cNvSpPr/>
          <p:nvPr/>
        </p:nvSpPr>
        <p:spPr>
          <a:xfrm>
            <a:off x="932688" y="530352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2" name="Text 20"/>
          <p:cNvSpPr/>
          <p:nvPr/>
        </p:nvSpPr>
        <p:spPr>
          <a:xfrm>
            <a:off x="1508760" y="519379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Redirect to the app  </a:t>
            </a:r>
            <a:pPr indent="0" marL="0">
              <a:buNone/>
            </a:pPr>
            <a:r>
              <a:rPr lang="en-US" sz="1300" dirty="0">
                <a:solidFill>
                  <a:srgbClr val="595959"/>
                </a:solidFill>
                <a:latin typeface="Calibri" pitchFamily="34" charset="0"/>
                <a:ea typeface="Calibri" pitchFamily="34" charset="-122"/>
                <a:cs typeface="Calibri" pitchFamily="34" charset="-120"/>
              </a:rPr>
              <a:t>you land on the tasks page, now authenticated.</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Passwords are never stored</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3</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i="1" dirty="0">
                <a:solidFill>
                  <a:srgbClr val="595959"/>
                </a:solidFill>
                <a:latin typeface="Calibri" pitchFamily="34" charset="0"/>
                <a:ea typeface="Calibri" pitchFamily="34" charset="-122"/>
                <a:cs typeface="Calibri" pitchFamily="34" charset="-120"/>
              </a:rPr>
              <a:t>We store a scrambled fingerprint, not the password itself.</a:t>
            </a:r>
            <a:endParaRPr lang="en-US" sz="1500" dirty="0"/>
          </a:p>
        </p:txBody>
      </p:sp>
      <p:sp>
        <p:nvSpPr>
          <p:cNvPr id="8" name="Text 6"/>
          <p:cNvSpPr/>
          <p:nvPr/>
        </p:nvSpPr>
        <p:spPr>
          <a:xfrm>
            <a:off x="932688" y="1920240"/>
            <a:ext cx="10616184" cy="438912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Passwords are run through bcrypt, a one-way scrambler — you can't reverse it.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password is taken exactly as typed — never trimmed or escaped — then scrambled.</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Logging in re-scrambles what you typed and compares the fingerprints.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bcrypt is intentionally slow, which makes mass guessing impractical.</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Even if the database were stolen, the actual passwords aren't in it.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Two-factor authentication (Duo)</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4</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After the password checks out, the server asks Duo to push to your phone.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You approve on the phone; only an explicit “allow” lets you in.</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Used for both logging in and creating a new account.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Skipped only in development mode — never in production.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How the server remembers you</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5</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i="1" dirty="0">
                <a:solidFill>
                  <a:srgbClr val="595959"/>
                </a:solidFill>
                <a:latin typeface="Calibri" pitchFamily="34" charset="0"/>
                <a:ea typeface="Calibri" pitchFamily="34" charset="-122"/>
                <a:cs typeface="Calibri" pitchFamily="34" charset="-120"/>
              </a:rPr>
              <a:t>Two records keep you logged in.</a:t>
            </a:r>
            <a:endParaRPr lang="en-US" sz="1500" dirty="0"/>
          </a:p>
        </p:txBody>
      </p:sp>
      <p:sp>
        <p:nvSpPr>
          <p:cNvPr id="8" name="Text 6"/>
          <p:cNvSpPr/>
          <p:nvPr/>
        </p:nvSpPr>
        <p:spPr>
          <a:xfrm>
            <a:off x="932688" y="1920240"/>
            <a:ext cx="10616184" cy="438912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 signed cookie in your browser carries your user ID (tamper-proof).</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 matching session record is stored on the server side.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configured two-hour lifetime is not enforced unless sessions are marked permanent.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Logging out clears the cookie.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Signup and password reset</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6</a:t>
            </a:r>
            <a:endParaRPr lang="en-US" sz="900" dirty="0"/>
          </a:p>
        </p:txBody>
      </p:sp>
      <p:sp>
        <p:nvSpPr>
          <p:cNvPr id="7" name="Text 5"/>
          <p:cNvSpPr/>
          <p:nvPr/>
        </p:nvSpPr>
        <p:spPr>
          <a:xfrm>
            <a:off x="640080" y="1325880"/>
            <a:ext cx="5225796" cy="411480"/>
          </a:xfrm>
          <a:prstGeom prst="rect">
            <a:avLst/>
          </a:prstGeom>
          <a:noFill/>
          <a:ln/>
        </p:spPr>
        <p:txBody>
          <a:bodyPr wrap="square" lIns="0" tIns="0" rIns="0" bIns="0" rtlCol="0" anchor="ctr"/>
          <a:lstStyle/>
          <a:p>
            <a:pPr indent="0" marL="0">
              <a:buNone/>
            </a:pPr>
            <a:r>
              <a:rPr lang="en-US" sz="1600" b="1" dirty="0">
                <a:solidFill>
                  <a:srgbClr val="CC0000"/>
                </a:solidFill>
                <a:latin typeface="Georgia" pitchFamily="34" charset="0"/>
                <a:ea typeface="Georgia" pitchFamily="34" charset="-122"/>
                <a:cs typeface="Georgia" pitchFamily="34" charset="-120"/>
              </a:rPr>
              <a:t>Signup</a:t>
            </a:r>
            <a:endParaRPr lang="en-US" sz="1600" dirty="0"/>
          </a:p>
        </p:txBody>
      </p:sp>
      <p:sp>
        <p:nvSpPr>
          <p:cNvPr id="8" name="Text 6"/>
          <p:cNvSpPr/>
          <p:nvPr/>
        </p:nvSpPr>
        <p:spPr>
          <a:xfrm>
            <a:off x="640080" y="1783080"/>
            <a:ext cx="5225796" cy="452628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Provide username, password, and university ID (uNID).</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Rejected if the username already exists.</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Duo must approve before the account is created.</a:t>
            </a:r>
            <a:endParaRPr lang="en-US" sz="1350" dirty="0"/>
          </a:p>
        </p:txBody>
      </p:sp>
      <p:sp>
        <p:nvSpPr>
          <p:cNvPr id="9" name="Text 7"/>
          <p:cNvSpPr/>
          <p:nvPr/>
        </p:nvSpPr>
        <p:spPr>
          <a:xfrm>
            <a:off x="6323076" y="1325880"/>
            <a:ext cx="5225796" cy="411480"/>
          </a:xfrm>
          <a:prstGeom prst="rect">
            <a:avLst/>
          </a:prstGeom>
          <a:noFill/>
          <a:ln/>
        </p:spPr>
        <p:txBody>
          <a:bodyPr wrap="square" lIns="0" tIns="0" rIns="0" bIns="0" rtlCol="0" anchor="ctr"/>
          <a:lstStyle/>
          <a:p>
            <a:pPr indent="0" marL="0">
              <a:buNone/>
            </a:pPr>
            <a:r>
              <a:rPr lang="en-US" sz="1600" b="1" dirty="0">
                <a:solidFill>
                  <a:srgbClr val="CC0000"/>
                </a:solidFill>
                <a:latin typeface="Georgia" pitchFamily="34" charset="0"/>
                <a:ea typeface="Georgia" pitchFamily="34" charset="-122"/>
                <a:cs typeface="Georgia" pitchFamily="34" charset="-120"/>
              </a:rPr>
              <a:t>Password reset</a:t>
            </a:r>
            <a:endParaRPr lang="en-US" sz="1600" dirty="0"/>
          </a:p>
        </p:txBody>
      </p:sp>
      <p:sp>
        <p:nvSpPr>
          <p:cNvPr id="10" name="Text 8"/>
          <p:cNvSpPr/>
          <p:nvPr/>
        </p:nvSpPr>
        <p:spPr>
          <a:xfrm>
            <a:off x="6323076" y="1783080"/>
            <a:ext cx="5225796" cy="452628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Provide username + uNID to prove identity.</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If they match, set a new password.</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Note: reset relies on the uNID, with no Duo step.</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Input is cleaned before use</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7</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Submitted text is trimmed, length-limited, and made safe for display.</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This blunts a class of attacks where input tries to become code.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Database lookups use safe, parameterized queries (no string-splicing).</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Password fingerprints, illustrated</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8</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The same password always scrambles to the same fingerprint — but you can't go backwards:</a:t>
            </a:r>
            <a:endParaRPr lang="en-US" sz="1500" dirty="0"/>
          </a:p>
        </p:txBody>
      </p:sp>
      <p:sp>
        <p:nvSpPr>
          <p:cNvPr id="8" name="Shape 6"/>
          <p:cNvSpPr/>
          <p:nvPr/>
        </p:nvSpPr>
        <p:spPr>
          <a:xfrm>
            <a:off x="932688" y="1874520"/>
            <a:ext cx="10616184" cy="4069080"/>
          </a:xfrm>
          <a:prstGeom prst="roundRect">
            <a:avLst>
              <a:gd name="adj" fmla="val 1348"/>
            </a:avLst>
          </a:prstGeom>
          <a:solidFill>
            <a:srgbClr val="F2F2F2"/>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9" name="Text 7"/>
          <p:cNvSpPr/>
          <p:nvPr/>
        </p:nvSpPr>
        <p:spPr>
          <a:xfrm>
            <a:off x="1097280" y="1984248"/>
            <a:ext cx="10268712" cy="3849624"/>
          </a:xfrm>
          <a:prstGeom prst="rect">
            <a:avLst/>
          </a:prstGeom>
          <a:noFill/>
          <a:ln/>
        </p:spPr>
        <p:txBody>
          <a:bodyPr wrap="square" lIns="0" tIns="0" rIns="0" bIns="0" rtlCol="0" anchor="t"/>
          <a:lstStyle/>
          <a:p>
            <a:pPr algn="l" indent="0" marL="0">
              <a:buNone/>
            </a:pPr>
            <a:r>
              <a:rPr lang="en-US" sz="1250" dirty="0">
                <a:solidFill>
                  <a:srgbClr val="222222"/>
                </a:solidFill>
                <a:latin typeface="Consolas" pitchFamily="34" charset="0"/>
                <a:ea typeface="Consolas" pitchFamily="34" charset="-122"/>
                <a:cs typeface="Consolas" pitchFamily="34" charset="-120"/>
              </a:rPr>
              <a:t>  "correct horse"  ──scramble──►  $2b$12$Xk9...   (stored)</a:t>
            </a:r>
            <a:endParaRPr lang="en-US" sz="1250" dirty="0"/>
          </a:p>
          <a:p>
            <a:pPr algn="l" indent="0" marL="0">
              <a:buNone/>
            </a:pP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Login attempt:</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"correct horse"  ──scramble──►  $2b$12$Xk9...   ✓ match</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"wrong guess"    ──scramble──►  $2b$12$Qp3...   ✗ no match</a:t>
            </a:r>
            <a:endParaRPr lang="en-US" sz="1250" dirty="0"/>
          </a:p>
        </p:txBody>
      </p:sp>
      <p:sp>
        <p:nvSpPr>
          <p:cNvPr id="10" name="Text 8"/>
          <p:cNvSpPr/>
          <p:nvPr/>
        </p:nvSpPr>
        <p:spPr>
          <a:xfrm>
            <a:off x="932688" y="6035040"/>
            <a:ext cx="10616184" cy="457200"/>
          </a:xfrm>
          <a:prstGeom prst="rect">
            <a:avLst/>
          </a:prstGeom>
          <a:noFill/>
          <a:ln/>
        </p:spPr>
        <p:txBody>
          <a:bodyPr wrap="square" lIns="0" tIns="0" rIns="0" bIns="0" rtlCol="0" anchor="t"/>
          <a:lstStyle/>
          <a:p>
            <a:pPr indent="0" marL="0">
              <a:buNone/>
            </a:pPr>
            <a:r>
              <a:rPr lang="en-US" sz="1200" i="1" dirty="0">
                <a:solidFill>
                  <a:srgbClr val="595959"/>
                </a:solidFill>
                <a:latin typeface="Calibri" pitchFamily="34" charset="0"/>
                <a:ea typeface="Calibri" pitchFamily="34" charset="-122"/>
                <a:cs typeface="Calibri" pitchFamily="34" charset="-120"/>
              </a:rPr>
              <a:t>The server compares fingerprints, never the passwords themselves.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Why two factors beat one</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9</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i="1" dirty="0">
                <a:solidFill>
                  <a:srgbClr val="595959"/>
                </a:solidFill>
                <a:latin typeface="Calibri" pitchFamily="34" charset="0"/>
                <a:ea typeface="Calibri" pitchFamily="34" charset="-122"/>
                <a:cs typeface="Calibri" pitchFamily="34" charset="-120"/>
              </a:rPr>
              <a:t>Something you know, plus something you have.</a:t>
            </a:r>
            <a:endParaRPr lang="en-US" sz="1500" dirty="0"/>
          </a:p>
        </p:txBody>
      </p:sp>
      <p:sp>
        <p:nvSpPr>
          <p:cNvPr id="8" name="Text 6"/>
          <p:cNvSpPr/>
          <p:nvPr/>
        </p:nvSpPr>
        <p:spPr>
          <a:xfrm>
            <a:off x="932688" y="1920240"/>
            <a:ext cx="10616184" cy="438912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 password alone can be guessed, phished, or reused from another breach.</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Adding 'something you have' (your phone) blocks attackers who only have the password.</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Even a stolen password is useless without the physical device to approve.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This is why production refuses to skip the Duo step.</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If the database were ever stolen</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10</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i="1" dirty="0">
                <a:solidFill>
                  <a:srgbClr val="595959"/>
                </a:solidFill>
                <a:latin typeface="Calibri" pitchFamily="34" charset="0"/>
                <a:ea typeface="Calibri" pitchFamily="34" charset="-122"/>
                <a:cs typeface="Calibri" pitchFamily="34" charset="-120"/>
              </a:rPr>
              <a:t>A useful thought experiment.</a:t>
            </a:r>
            <a:endParaRPr lang="en-US" sz="1500" dirty="0"/>
          </a:p>
        </p:txBody>
      </p:sp>
      <p:sp>
        <p:nvSpPr>
          <p:cNvPr id="8" name="Text 6"/>
          <p:cNvSpPr/>
          <p:nvPr/>
        </p:nvSpPr>
        <p:spPr>
          <a:xfrm>
            <a:off x="932688" y="1920240"/>
            <a:ext cx="10616184" cy="438912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thief gets password fingerprints, not passwords.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Reversing bcrypt fingerprints is impractically slow and expensive.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Accounts are still protected by the second factor (the phone).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Lesson: layers — hashing AND two-factor — limit the damage.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The login cookie, step by step</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11</a:t>
            </a:r>
            <a:endParaRPr lang="en-US" sz="900" dirty="0"/>
          </a:p>
        </p:txBody>
      </p:sp>
      <p:sp>
        <p:nvSpPr>
          <p:cNvPr id="7" name="Shape 5"/>
          <p:cNvSpPr/>
          <p:nvPr/>
        </p:nvSpPr>
        <p:spPr>
          <a:xfrm>
            <a:off x="932688" y="1280160"/>
            <a:ext cx="411480" cy="411480"/>
          </a:xfrm>
          <a:prstGeom prst="ellipse">
            <a:avLst/>
          </a:prstGeom>
          <a:solidFill>
            <a:srgbClr val="CC0000"/>
          </a:solidFill>
          <a:ln/>
        </p:spPr>
      </p:sp>
      <p:sp>
        <p:nvSpPr>
          <p:cNvPr id="8" name="Text 6"/>
          <p:cNvSpPr/>
          <p:nvPr/>
        </p:nvSpPr>
        <p:spPr>
          <a:xfrm>
            <a:off x="932688" y="128016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508760" y="117043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Server signs your user ID  </a:t>
            </a:r>
            <a:pPr indent="0" marL="0">
              <a:buNone/>
            </a:pPr>
            <a:r>
              <a:rPr lang="en-US" sz="1300" dirty="0">
                <a:solidFill>
                  <a:srgbClr val="595959"/>
                </a:solidFill>
                <a:latin typeface="Calibri" pitchFamily="34" charset="0"/>
                <a:ea typeface="Calibri" pitchFamily="34" charset="-122"/>
                <a:cs typeface="Calibri" pitchFamily="34" charset="-120"/>
              </a:rPr>
              <a:t>and places it in a cookie in your browser.</a:t>
            </a:r>
            <a:endParaRPr lang="en-US" sz="1400" dirty="0"/>
          </a:p>
        </p:txBody>
      </p:sp>
      <p:sp>
        <p:nvSpPr>
          <p:cNvPr id="10" name="Shape 8"/>
          <p:cNvSpPr/>
          <p:nvPr/>
        </p:nvSpPr>
        <p:spPr>
          <a:xfrm>
            <a:off x="932688" y="2148840"/>
            <a:ext cx="411480" cy="411480"/>
          </a:xfrm>
          <a:prstGeom prst="ellipse">
            <a:avLst/>
          </a:prstGeom>
          <a:solidFill>
            <a:srgbClr val="CC0000"/>
          </a:solidFill>
          <a:ln/>
        </p:spPr>
      </p:sp>
      <p:sp>
        <p:nvSpPr>
          <p:cNvPr id="11" name="Text 9"/>
          <p:cNvSpPr/>
          <p:nvPr/>
        </p:nvSpPr>
        <p:spPr>
          <a:xfrm>
            <a:off x="932688" y="214884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508760" y="203911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Browser sends it back  </a:t>
            </a:r>
            <a:pPr indent="0" marL="0">
              <a:buNone/>
            </a:pPr>
            <a:r>
              <a:rPr lang="en-US" sz="1300" dirty="0">
                <a:solidFill>
                  <a:srgbClr val="595959"/>
                </a:solidFill>
                <a:latin typeface="Calibri" pitchFamily="34" charset="0"/>
                <a:ea typeface="Calibri" pitchFamily="34" charset="-122"/>
                <a:cs typeface="Calibri" pitchFamily="34" charset="-120"/>
              </a:rPr>
              <a:t>automatically, on every later request.</a:t>
            </a:r>
            <a:endParaRPr lang="en-US" sz="1400" dirty="0"/>
          </a:p>
        </p:txBody>
      </p:sp>
      <p:sp>
        <p:nvSpPr>
          <p:cNvPr id="13" name="Shape 11"/>
          <p:cNvSpPr/>
          <p:nvPr/>
        </p:nvSpPr>
        <p:spPr>
          <a:xfrm>
            <a:off x="932688" y="3017520"/>
            <a:ext cx="411480" cy="411480"/>
          </a:xfrm>
          <a:prstGeom prst="ellipse">
            <a:avLst/>
          </a:prstGeom>
          <a:solidFill>
            <a:srgbClr val="CC0000"/>
          </a:solidFill>
          <a:ln/>
        </p:spPr>
      </p:sp>
      <p:sp>
        <p:nvSpPr>
          <p:cNvPr id="14" name="Text 12"/>
          <p:cNvSpPr/>
          <p:nvPr/>
        </p:nvSpPr>
        <p:spPr>
          <a:xfrm>
            <a:off x="932688" y="301752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1508760" y="290779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Server verifies the signature  </a:t>
            </a:r>
            <a:pPr indent="0" marL="0">
              <a:buNone/>
            </a:pPr>
            <a:r>
              <a:rPr lang="en-US" sz="1300" dirty="0">
                <a:solidFill>
                  <a:srgbClr val="595959"/>
                </a:solidFill>
                <a:latin typeface="Calibri" pitchFamily="34" charset="0"/>
                <a:ea typeface="Calibri" pitchFamily="34" charset="-122"/>
                <a:cs typeface="Calibri" pitchFamily="34" charset="-120"/>
              </a:rPr>
              <a:t>so a tampered or forged cookie is rejected.</a:t>
            </a:r>
            <a:endParaRPr lang="en-US" sz="1400" dirty="0"/>
          </a:p>
        </p:txBody>
      </p:sp>
      <p:sp>
        <p:nvSpPr>
          <p:cNvPr id="16" name="Shape 14"/>
          <p:cNvSpPr/>
          <p:nvPr/>
        </p:nvSpPr>
        <p:spPr>
          <a:xfrm>
            <a:off x="932688" y="3886200"/>
            <a:ext cx="411480" cy="411480"/>
          </a:xfrm>
          <a:prstGeom prst="ellipse">
            <a:avLst/>
          </a:prstGeom>
          <a:solidFill>
            <a:srgbClr val="CC0000"/>
          </a:solidFill>
          <a:ln/>
        </p:spPr>
      </p:sp>
      <p:sp>
        <p:nvSpPr>
          <p:cNvPr id="17" name="Text 15"/>
          <p:cNvSpPr/>
          <p:nvPr/>
        </p:nvSpPr>
        <p:spPr>
          <a:xfrm>
            <a:off x="932688" y="388620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p:nvPr/>
        </p:nvSpPr>
        <p:spPr>
          <a:xfrm>
            <a:off x="1508760" y="377647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No forced two-hour cutoff  </a:t>
            </a:r>
            <a:pPr indent="0" marL="0">
              <a:buNone/>
            </a:pPr>
            <a:r>
              <a:rPr lang="en-US" sz="1300" dirty="0">
                <a:solidFill>
                  <a:srgbClr val="595959"/>
                </a:solidFill>
                <a:latin typeface="Calibri" pitchFamily="34" charset="0"/>
                <a:ea typeface="Calibri" pitchFamily="34" charset="-122"/>
                <a:cs typeface="Calibri" pitchFamily="34" charset="-120"/>
              </a:rPr>
              <a:t>the configured lifetime needs permanent sessions, which login does not set.</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Recap</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12</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Passwords are stored only as irreversible fingerprints (bcrypt).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Two-factor via Duo is mandatory in production.</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 signed cookie plus a server record keep you logged in; there is no enforced two-hour logout today.</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Signup needs Duo; reset relies on the uNID (a known weak spot).</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Authentication &amp; Login</dc:title>
  <dc:subject>PptxGenJS Presentation</dc:subject>
  <dc:creator>Faith</dc:creator>
  <cp:lastModifiedBy>Faith</cp:lastModifiedBy>
  <cp:revision>1</cp:revision>
  <dcterms:created xsi:type="dcterms:W3CDTF">2026-07-16T22:35:12Z</dcterms:created>
  <dcterms:modified xsi:type="dcterms:W3CDTF">2026-07-16T22:35:12Z</dcterms:modified>
</cp:coreProperties>
</file>