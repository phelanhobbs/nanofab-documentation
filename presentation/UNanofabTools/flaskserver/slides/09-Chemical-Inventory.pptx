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biggest feature in the system, so it's the longest session. It tracks every chemical container in the lab: what's in it, where it is, who owns it, when it expires, and a full history of every action. We'll cover the core idea (items vs. containers), the main pages, barcodes, scanning audits, reporting, and the audit trail. Managers and safety staff will care most about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scope. Every bottle gets a barcode and a record covering what it is, who made it, how big it is, exactly where it's stored, the relevant dates, who owns it, and whether it's still active. This is the kind of tracking that supports safety audits and expiry management. It's substantial because real chemical management is detailed.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concept. The system distinguishes the chemical product (the 'item') from the physical bottle (the 'container'). 'Acetone, ACS grade' is one item; the seventeen bottles of it on the shelves are seventeen containers. This avoids duplicating the chemical's details on every bottle and makes counts and reports clean. Each container also points to who supplied it and which room it's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map slowly. Items belong to a category and a vendor and contain many containers. Each container lives in a room. When someone does an inventory audit, they create a 'cycle' and scan barcodes; each successful scan becomes a record linking that bottle to that audit. So the structure mirrors reality: products contain bottles, bottles sit in rooms, and audits record which bottles were seen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everyday actions. You can search the whole inventory and export it. You can add new bottles, which automatically get unique barcodes. You can move bottles between locations individually or in bulk. You can remove bottles — but as a 'soft delete' that keeps the record for history. You can edit details — and editing is 'keep-or-update', so leaving a field blank keeps its current value rather than wiping it; that even protects the container's room, so fixing (say) an expiry date can't accidentally erase where the bottle lives. And you can run scanning audits and print labels. Small robustness touch: list views read their row-limit defensively, so a bad '?limit' value in the URL falls back to the default instead of erroring. That's a full lifecycle for a chemical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Barcodes are simple and robust. The database has a 'sequence' — an ever-incrementing counter starting at 100001 — and each new container takes the next number. Because the database hands out numbers atomically, two people adding bottles simultaneously can't collide. Labels print thirty to a page for a label printer, and a queue tracks which ones haven't been printed yet so nothing gets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audits. Periodically staff walk around scanning barcodes. They start a 'cycle' (the audit), then upload the list of scanned codes — pasted in or from a file. The server matches each code to a known container, links the matches to the audit, and updates each matched bottle's 'last seen' time. It records how many scans matched and how many didn't (an unknown or mistyped label). Later, a coverage report shows which active bottles were and weren't seen — i.e., what might be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safety folks love. First, the reports: how many containers, what's expiring in the next month, what's already expired, what's due for an NMR check, and breakdowns by room, vendor, system, and owner. Second, the audit trail: every single action — add, move, edit, remove, scan upload — is recorded with who did it and when, and there's a searchable page to review it. Accountability is built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this for compliance. 'Remove' doesn't delete the record — it flags the container as removed, with a reason and notes. It disappears from the everyday inventory view but remains in the data and the audit trail. For a lab that may need to prove what it had and when, never truly deleting is exactly the right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reliability notes. Complex actions — like adding a product, its bottles, and their history together — are wrapped in a 'transaction' so they either complete entirely or roll back entirely; you never get half-written data if something fails midway. And every query treats typed-in values strictly as data, never as commands, which prevents injection attacks. This module runs on PostgreSQL because it needs those stronger guarantees and more advanced features than the simple databases provide.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candid maintenance notes, kept off the main story but recorded for whoever maintains this. First, the type-ahead and auto-fill helpers are unfinished stubs that return nothing, so those niceties don't work yet. Second — more important — the chem pages used to require no login, including the pages that change or remove data — but that was resolved on 2026-06-25: they are now gated by a WordPress single-sign-on, so every /chem page requires a session granted via a signed staff-tools link (/chem/enter), covering reads and edits alike. The type-ahead/auto-fill stubs remain on the separate issues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the add flow because it shows several concepts together. You enter the chemical and location details and a quantity. The system reuses the chemical's 'item' record if it already exists (matching by name) or creates it. It then pulls a fresh barcode for each bottle and writes the containers plus their history entries — all wrapped so it either fully succeeds or fully undoes. You're then sent straight to the label-printing queue for the new barcodes.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search because it's what people use daily. A single box searches across roughly a dozen fields simultaneously — name, catalog number, vendor, barcode, lot, owner, system, storage location, room, and notes — case-insensitive and partial, so a fragment is enough. By default it hides removed bottles, with an option to include them. It's broad on purpose: you rarely remember which field your search term lives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Enumerate the reports because this is what makes the inventory valuable to safety and management. At a glance: overall counts, what's expiring within a month, what's already expired, what's due for an NMR check, breakdowns by room, vendor, system, and owner, and scan coverage showing what an audit did and didn't find. Each is a single click. This is the payoff of all the structured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relocation since bottles move constantly. You can move a single bottle by scanning it and choosing a destination, or paste a whole list of barcodes to move them together. A nice touch: only the location fields you actually fill in get changed; anything left blank keeps its current value, so a partial move doesn't wipe details. And like everything here, each move is recorded in the audit trail with both the old and new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biggest feature: a complete chemical-container lifecycle built on the item/container distinction, with barcodes, scanning audits, rich reports, and an unerasable audit trail. Next session zooms into the databases themselves — the tables behind this and the rest of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PART 09</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The Chemical Inventory</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UNanofabTools Server — A Plain-English Guide</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The largest feature: barcodes, containers, scans, and reports.</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it tracks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Every physical container (bottle) in the lab, by barcode.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What chemical it holds, the vendor, and the size.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Where it lives: room, storage location, sub-location, device.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Dates: received, manufactured, expiry, and NMR checks.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Owner, notes, and status (active or removed).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key idea: items vs. containers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Separate the chemical from the bottle.</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An item is a chemical product — e.g. 'Acetone, ACS grade.'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container is one physical bottle of that item.</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One item can have many containers (seventeen bottles of acetone = one item, 17 containers).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Containers also link to a vendor and a room.</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How the pieces relate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A simplified map of the data:</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categories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vendors ────┼─►  items  ──►  containers  ──►  rooms</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(one bottle)</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container_scans  ──►  inventory_cycles</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(was seen during)     (a scan / audit)</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Items hold many containers; each container lives in a room and appears in scans.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you can do with it</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Search and browse the inventory; export it to a spreadsheet.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Add containers (and auto-generate their barcodes).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Move containers to new locations — one at a time or in bulk.</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Remove containers (a soft delete that keeps the history).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Edit a container's details — blank fields keep the old value, so an edit can't erase a bottle's location.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Upload barcode scans from an audit; print barcode labels.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Barcodes from a counter</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New containers get the next number from a database counter (starts at 100001).</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counter guarantees uniqueness even if two people add bottles at once.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Labels print in sheets of thirty (5 across, 6 down).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queue tracks which barcodes still need printing.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Inventory scans (audits)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45720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How a walk-around inventory check is recorded.</a:t>
            </a:r>
            <a:endParaRPr lang="en-US" sz="1500" dirty="0"/>
          </a:p>
        </p:txBody>
      </p:sp>
      <p:sp>
        <p:nvSpPr>
          <p:cNvPr id="8" name="Shape 6"/>
          <p:cNvSpPr/>
          <p:nvPr/>
        </p:nvSpPr>
        <p:spPr>
          <a:xfrm>
            <a:off x="932688" y="1828800"/>
            <a:ext cx="411480" cy="411480"/>
          </a:xfrm>
          <a:prstGeom prst="ellipse">
            <a:avLst/>
          </a:prstGeom>
          <a:solidFill>
            <a:srgbClr val="CC0000"/>
          </a:solidFill>
          <a:ln/>
        </p:spPr>
      </p:sp>
      <p:sp>
        <p:nvSpPr>
          <p:cNvPr id="9" name="Text 7"/>
          <p:cNvSpPr/>
          <p:nvPr/>
        </p:nvSpPr>
        <p:spPr>
          <a:xfrm>
            <a:off x="932688" y="18288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508760" y="17190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Start a cycle  </a:t>
            </a:r>
            <a:pPr indent="0" marL="0">
              <a:buNone/>
            </a:pPr>
            <a:r>
              <a:rPr lang="en-US" sz="1300" dirty="0">
                <a:solidFill>
                  <a:srgbClr val="595959"/>
                </a:solidFill>
                <a:latin typeface="Calibri" pitchFamily="34" charset="0"/>
                <a:ea typeface="Calibri" pitchFamily="34" charset="-122"/>
                <a:cs typeface="Calibri" pitchFamily="34" charset="-120"/>
              </a:rPr>
              <a:t>an audit gets its own ID and metadata (who, where, when).</a:t>
            </a:r>
            <a:endParaRPr lang="en-US" sz="1400" dirty="0"/>
          </a:p>
        </p:txBody>
      </p:sp>
      <p:sp>
        <p:nvSpPr>
          <p:cNvPr id="11" name="Shape 9"/>
          <p:cNvSpPr/>
          <p:nvPr/>
        </p:nvSpPr>
        <p:spPr>
          <a:xfrm>
            <a:off x="932688" y="2697480"/>
            <a:ext cx="411480" cy="411480"/>
          </a:xfrm>
          <a:prstGeom prst="ellipse">
            <a:avLst/>
          </a:prstGeom>
          <a:solidFill>
            <a:srgbClr val="CC0000"/>
          </a:solidFill>
          <a:ln/>
        </p:spPr>
      </p:sp>
      <p:sp>
        <p:nvSpPr>
          <p:cNvPr id="12" name="Text 10"/>
          <p:cNvSpPr/>
          <p:nvPr/>
        </p:nvSpPr>
        <p:spPr>
          <a:xfrm>
            <a:off x="932688" y="26974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508760" y="258775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Upload the scanned barcodes  </a:t>
            </a:r>
            <a:pPr indent="0" marL="0">
              <a:buNone/>
            </a:pPr>
            <a:r>
              <a:rPr lang="en-US" sz="1300" dirty="0">
                <a:solidFill>
                  <a:srgbClr val="595959"/>
                </a:solidFill>
                <a:latin typeface="Calibri" pitchFamily="34" charset="0"/>
                <a:ea typeface="Calibri" pitchFamily="34" charset="-122"/>
                <a:cs typeface="Calibri" pitchFamily="34" charset="-120"/>
              </a:rPr>
              <a:t>paste them or upload a file from the scanner.</a:t>
            </a:r>
            <a:endParaRPr lang="en-US" sz="1400" dirty="0"/>
          </a:p>
        </p:txBody>
      </p:sp>
      <p:sp>
        <p:nvSpPr>
          <p:cNvPr id="14" name="Shape 12"/>
          <p:cNvSpPr/>
          <p:nvPr/>
        </p:nvSpPr>
        <p:spPr>
          <a:xfrm>
            <a:off x="932688" y="3566160"/>
            <a:ext cx="411480" cy="411480"/>
          </a:xfrm>
          <a:prstGeom prst="ellipse">
            <a:avLst/>
          </a:prstGeom>
          <a:solidFill>
            <a:srgbClr val="CC0000"/>
          </a:solidFill>
          <a:ln/>
        </p:spPr>
      </p:sp>
      <p:sp>
        <p:nvSpPr>
          <p:cNvPr id="15" name="Text 13"/>
          <p:cNvSpPr/>
          <p:nvPr/>
        </p:nvSpPr>
        <p:spPr>
          <a:xfrm>
            <a:off x="932688" y="3566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508760" y="3456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Match each barcode  </a:t>
            </a:r>
            <a:pPr indent="0" marL="0">
              <a:buNone/>
            </a:pPr>
            <a:r>
              <a:rPr lang="en-US" sz="1300" dirty="0">
                <a:solidFill>
                  <a:srgbClr val="595959"/>
                </a:solidFill>
                <a:latin typeface="Calibri" pitchFamily="34" charset="0"/>
                <a:ea typeface="Calibri" pitchFamily="34" charset="-122"/>
                <a:cs typeface="Calibri" pitchFamily="34" charset="-120"/>
              </a:rPr>
              <a:t>found ones are linked to the audit and stamped 'last seen now.'</a:t>
            </a:r>
            <a:endParaRPr lang="en-US" sz="1400" dirty="0"/>
          </a:p>
        </p:txBody>
      </p:sp>
      <p:sp>
        <p:nvSpPr>
          <p:cNvPr id="17" name="Shape 15"/>
          <p:cNvSpPr/>
          <p:nvPr/>
        </p:nvSpPr>
        <p:spPr>
          <a:xfrm>
            <a:off x="932688" y="4434840"/>
            <a:ext cx="411480" cy="411480"/>
          </a:xfrm>
          <a:prstGeom prst="ellipse">
            <a:avLst/>
          </a:prstGeom>
          <a:solidFill>
            <a:srgbClr val="CC0000"/>
          </a:solidFill>
          <a:ln/>
        </p:spPr>
      </p:sp>
      <p:sp>
        <p:nvSpPr>
          <p:cNvPr id="18" name="Text 16"/>
          <p:cNvSpPr/>
          <p:nvPr/>
        </p:nvSpPr>
        <p:spPr>
          <a:xfrm>
            <a:off x="932688" y="4434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508760" y="4325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Tally results  </a:t>
            </a:r>
            <a:pPr indent="0" marL="0">
              <a:buNone/>
            </a:pPr>
            <a:r>
              <a:rPr lang="en-US" sz="1300" dirty="0">
                <a:solidFill>
                  <a:srgbClr val="595959"/>
                </a:solidFill>
                <a:latin typeface="Calibri" pitchFamily="34" charset="0"/>
                <a:ea typeface="Calibri" pitchFamily="34" charset="-122"/>
                <a:cs typeface="Calibri" pitchFamily="34" charset="-120"/>
              </a:rPr>
              <a:t>the audit records how many matched and how many didn't.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Reports and the audit trail</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Reports: totals, expiring soon, already expired, NMR due, and counts by room/vendor/system/owner.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Scan coverage: which active containers were seen vs. unseen.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Every add, move, edit, remove, and scan is logged in a transactions record.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transactions page is a searchable history of who did what.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Soft delete: nothing really vanishes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Removing a container marks it 'REMOVED' instead of erasing it.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Removed items drop out of normal views but stay in the records.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removal reason and notes are kept.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This preserves history for audits and reports.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Built to be safe and consistent</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Multi-step actions are wrapped so they fully succeed or fully undo — no half-changes.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All database queries keep user input strictly as data (injection-safe).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 runs on PostgreSQL, a heavier database than the rest of the system uses.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Two honest notes for maintainers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Type-ahead is a stub</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The 'suggest' and 'auto-fill' helpers return nothing yet.</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So those convenience features are effectively off.</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On the to-fix list.</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Access: WordPress SSO gate</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All chem pages require a WordPress staff-tools sign-in (since 2026-06-25).</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Read and edit/remove are both behind the gate.</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Entry is via a signed /chem/enter link; no public access.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Adding bottles, step by step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Enter the details  </a:t>
            </a:r>
            <a:pPr indent="0" marL="0">
              <a:buNone/>
            </a:pPr>
            <a:r>
              <a:rPr lang="en-US" sz="1300" dirty="0">
                <a:solidFill>
                  <a:srgbClr val="595959"/>
                </a:solidFill>
                <a:latin typeface="Calibri" pitchFamily="34" charset="0"/>
                <a:ea typeface="Calibri" pitchFamily="34" charset="-122"/>
                <a:cs typeface="Calibri" pitchFamily="34" charset="-120"/>
              </a:rPr>
              <a:t>chemical, vendor, size, location, dates, owner, quantity.</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Reuse or create the chemical  </a:t>
            </a:r>
            <a:pPr indent="0" marL="0">
              <a:buNone/>
            </a:pPr>
            <a:r>
              <a:rPr lang="en-US" sz="1300" dirty="0">
                <a:solidFill>
                  <a:srgbClr val="595959"/>
                </a:solidFill>
                <a:latin typeface="Calibri" pitchFamily="34" charset="0"/>
                <a:ea typeface="Calibri" pitchFamily="34" charset="-122"/>
                <a:cs typeface="Calibri" pitchFamily="34" charset="-120"/>
              </a:rPr>
              <a:t>match an existing item by name, or add it.</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Generate barcodes  </a:t>
            </a:r>
            <a:pPr indent="0" marL="0">
              <a:buNone/>
            </a:pPr>
            <a:r>
              <a:rPr lang="en-US" sz="1300" dirty="0">
                <a:solidFill>
                  <a:srgbClr val="595959"/>
                </a:solidFill>
                <a:latin typeface="Calibri" pitchFamily="34" charset="0"/>
                <a:ea typeface="Calibri" pitchFamily="34" charset="-122"/>
                <a:cs typeface="Calibri" pitchFamily="34" charset="-120"/>
              </a:rPr>
              <a:t>one unique number per bottle from the counter.</a:t>
            </a:r>
            <a:endParaRPr lang="en-US" sz="1400" dirty="0"/>
          </a:p>
        </p:txBody>
      </p:sp>
      <p:sp>
        <p:nvSpPr>
          <p:cNvPr id="16" name="Shape 14"/>
          <p:cNvSpPr/>
          <p:nvPr/>
        </p:nvSpPr>
        <p:spPr>
          <a:xfrm>
            <a:off x="932688" y="3886200"/>
            <a:ext cx="411480" cy="411480"/>
          </a:xfrm>
          <a:prstGeom prst="ellipse">
            <a:avLst/>
          </a:prstGeom>
          <a:solidFill>
            <a:srgbClr val="CC0000"/>
          </a:solidFill>
          <a:ln/>
        </p:spPr>
      </p:sp>
      <p:sp>
        <p:nvSpPr>
          <p:cNvPr id="17" name="Text 15"/>
          <p:cNvSpPr/>
          <p:nvPr/>
        </p:nvSpPr>
        <p:spPr>
          <a:xfrm>
            <a:off x="932688"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7764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Record each bottle + its history  </a:t>
            </a:r>
            <a:pPr indent="0" marL="0">
              <a:buNone/>
            </a:pPr>
            <a:r>
              <a:rPr lang="en-US" sz="1300" dirty="0">
                <a:solidFill>
                  <a:srgbClr val="595959"/>
                </a:solidFill>
                <a:latin typeface="Calibri" pitchFamily="34" charset="0"/>
                <a:ea typeface="Calibri" pitchFamily="34" charset="-122"/>
                <a:cs typeface="Calibri" pitchFamily="34" charset="-120"/>
              </a:rPr>
              <a:t>all in one all-or-nothing save.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Search that actually finds things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13</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One search box matches across many fields at once.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Name, catalog number, vendor, barcode, lot, owner, system, location, room, notes.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Case-insensitive and partial — type a fragment, get matches.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Removed bottles are hidden unless you ask to include them.</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reports menu</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4206240"/>
                <a:gridCol w="667512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Report</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Answers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Totals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How many containers and distinct chemicals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Expiring soon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What expires within 30 days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Expired</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What's already past expiry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NMR due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What needs an NMR check soon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By room / vendor / system / owner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Counts grouped each way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Scan coverage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Which active bottles were seen vs. unseen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Moving bottles, one or many</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15</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Move one bottle: scan its barcode, pick the new location.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Bulk move: paste many barcodes, send them all to one destination.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Only the fields you fill in change; blanks leave the old value alone.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Every move is logged with from-and-to detail.</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16</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Separate items (chemicals) from containers (bottles).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Barcodes from a counter; labels print in sheets.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Audits link scanned bottles to a cycle and flag what's unseen.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Soft delete plus a full transactions log keep complete history.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Chemical Inventory</dc:title>
  <dc:subject>PptxGenJS Presentation</dc:subject>
  <dc:creator>Faith</dc:creator>
  <cp:lastModifiedBy>Faith</cp:lastModifiedBy>
  <cp:revision>1</cp:revision>
  <dcterms:created xsi:type="dcterms:W3CDTF">2026-07-16T22:35:13Z</dcterms:created>
  <dcterms:modified xsi:type="dcterms:W3CDTF">2026-07-16T22:35:13Z</dcterms:modified>
</cp:coreProperties>
</file>