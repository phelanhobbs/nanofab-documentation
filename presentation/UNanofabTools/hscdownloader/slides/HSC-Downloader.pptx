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session covers HSCDownloader — the program that regularly pulls each machine's run data from the university's records system and saves it as spreadsheets the website can display. It's the supply line behind every machine page. No coding background needed. We'll cover why it exists, how it works, where it fits, and a couple of things to watch.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why. Every tool use is recorded in a digital form stored in CORES, the university's equipment records system. Our website can't read CORES data directly, so HSCDownloader fetches it, reshapes it into clean spreadsheets, and saves them where the website can read them. Without it, the machine pages would have nothing to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flow. CORES holds the records. HSCDownloader downloads them, reshapes them with a data-handling library, and writes spreadsheets into the HSCDATA folder. The website's machine pages then read those spreadsheets. So the numbers you see on a machine page came through this pipeline. If a page looks stale, HSCDownloader is the first suspect.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cycle. For each machine it downloads the form data (proving it's allowed with a secret token), reshapes it into a table, and writes two spreadsheets — a full one and a trimmed 'small' one that the website actually reads. It repeats this for each active tool, automatically and unattended, and shuts down cleanly when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structure. Inside the program, each machine has its own 'recipe' function — saveALD, saveEbeam, and so on — that knows that tool's important columns and formatting. It covers essentially every active major tool: deposition, dry etch, and furnaces. Because each machine is its own function, changing one tool's output is a contained edit. (The flip side: there's a lot of near-duplicate code across them, which the developer notes suggest consolidating.)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connection concrete. The table and graphs on any machine page trace directly back to the spreadsheets this program writes. So if a page is stale or blank, the question is usually 'is HSCDownloader running and reaching CORES?' Reassure that it's read-only with respect to CORES — it never alters the source records, only copies and reformats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CORES so the source is clear. CORES is the university's equipment-records system; staff log each tool run there via a digital form. HSCDownloader pulls that data through a CORES web service (n8n). Worth noting it's the same system another tool — the Precious Metal Reader — talks to, just a different dataset, so people don't confuse the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breadth. HSCDownloader has a recipe for essentially every major active tool, grouped as deposition, dry etch, and furnaces. PECVD has code in the file but is currently disabled in the scheduled save loop. The point isn't the list; it's that one program keeps most machine-page data current. Each machine maps to a CORES ID number behind the scenes.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a practical diagnostic. If a machine page looks stale, work down this list: is the downloader process running at all; can it reach CORES (outage or an expired/rotated token); and did that machine's CORES ID change (which silently breaks just that tool). There's no automatic alert today, so staleness is usually noticed by eye — which is itself on the fix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watch-items honestly. The secret token has been moved out of the code into a protected setting (.env) and was rotated on 2026-06-29, so that earlier credential-in-source risk is resolved. The main remaining gap is alerting: there's no alert today, so a CORES outage or token change shows up only as stale machine pages — adding failure alerts is recommended. Each machine is tied to a CORES ID number; if CORES renumbers one, that machine silently stops updating. And a few machines are noted as having no data yet, which is expected. All of this is in the developer notes and issues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HSCDownloader is the quiet supply line keeping machine data current: download from CORES, reshape, save, repeat. It's essential but low-profile. The access token has been moved into a protected setting and rotated (2026-06-29); the main thing left to improve is adding alerts so silent staleness gets noticed. Questions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11480" cy="6858000"/>
          </a:xfrm>
          <a:prstGeom prst="rect">
            <a:avLst/>
          </a:prstGeom>
          <a:solidFill>
            <a:srgbClr val="CC0000"/>
          </a:solidFill>
          <a:ln/>
        </p:spPr>
      </p:sp>
      <p:sp>
        <p:nvSpPr>
          <p:cNvPr id="3" name="Text 1"/>
          <p:cNvSpPr/>
          <p:nvPr/>
        </p:nvSpPr>
        <p:spPr>
          <a:xfrm>
            <a:off x="914400" y="1371600"/>
            <a:ext cx="10360152" cy="457200"/>
          </a:xfrm>
          <a:prstGeom prst="rect">
            <a:avLst/>
          </a:prstGeom>
          <a:noFill/>
          <a:ln/>
        </p:spPr>
        <p:txBody>
          <a:bodyPr wrap="square" lIns="0" tIns="0" rIns="0" bIns="0" rtlCol="0" anchor="ctr"/>
          <a:lstStyle/>
          <a:p>
            <a:pPr algn="l" indent="0" marL="0">
              <a:buNone/>
            </a:pPr>
            <a:r>
              <a:rPr lang="en-US" sz="1400" b="1" spc="200" kern="0" dirty="0">
                <a:solidFill>
                  <a:srgbClr val="CC0000"/>
                </a:solidFill>
                <a:latin typeface="Calibri" pitchFamily="34" charset="0"/>
                <a:ea typeface="Calibri" pitchFamily="34" charset="-122"/>
                <a:cs typeface="Calibri" pitchFamily="34" charset="-120"/>
              </a:rPr>
              <a:t>UNANOFABTOOLS · TOOL</a:t>
            </a:r>
            <a:endParaRPr lang="en-US" sz="1400" dirty="0"/>
          </a:p>
        </p:txBody>
      </p:sp>
      <p:sp>
        <p:nvSpPr>
          <p:cNvPr id="4" name="Text 2"/>
          <p:cNvSpPr/>
          <p:nvPr/>
        </p:nvSpPr>
        <p:spPr>
          <a:xfrm>
            <a:off x="914400" y="1828800"/>
            <a:ext cx="10360152" cy="1554480"/>
          </a:xfrm>
          <a:prstGeom prst="rect">
            <a:avLst/>
          </a:prstGeom>
          <a:noFill/>
          <a:ln/>
        </p:spPr>
        <p:txBody>
          <a:bodyPr wrap="square" lIns="0" tIns="0" rIns="0" bIns="0" rtlCol="0" anchor="t"/>
          <a:lstStyle/>
          <a:p>
            <a:pPr algn="l" indent="0" marL="0">
              <a:buNone/>
            </a:pPr>
            <a:r>
              <a:rPr lang="en-US" sz="4000" b="1" dirty="0">
                <a:solidFill>
                  <a:srgbClr val="1A1A1A"/>
                </a:solidFill>
                <a:latin typeface="Georgia" pitchFamily="34" charset="0"/>
                <a:ea typeface="Georgia" pitchFamily="34" charset="-122"/>
                <a:cs typeface="Georgia" pitchFamily="34" charset="-120"/>
              </a:rPr>
              <a:t>HSC Downloader</a:t>
            </a:r>
            <a:endParaRPr lang="en-US" sz="4000" dirty="0"/>
          </a:p>
        </p:txBody>
      </p:sp>
      <p:sp>
        <p:nvSpPr>
          <p:cNvPr id="5" name="Text 3"/>
          <p:cNvSpPr/>
          <p:nvPr/>
        </p:nvSpPr>
        <p:spPr>
          <a:xfrm>
            <a:off x="914400" y="3429000"/>
            <a:ext cx="10177272" cy="731520"/>
          </a:xfrm>
          <a:prstGeom prst="rect">
            <a:avLst/>
          </a:prstGeom>
          <a:noFill/>
          <a:ln/>
        </p:spPr>
        <p:txBody>
          <a:bodyPr wrap="square" lIns="0" tIns="0" rIns="0" bIns="0" rtlCol="0" anchor="t"/>
          <a:lstStyle/>
          <a:p>
            <a:pPr algn="l" indent="0" marL="0">
              <a:buNone/>
            </a:pPr>
            <a:r>
              <a:rPr lang="en-US" sz="1700" dirty="0">
                <a:solidFill>
                  <a:srgbClr val="595959"/>
                </a:solidFill>
                <a:latin typeface="Calibri" pitchFamily="34" charset="0"/>
                <a:ea typeface="Calibri" pitchFamily="34" charset="-122"/>
                <a:cs typeface="Calibri" pitchFamily="34" charset="-120"/>
              </a:rPr>
              <a:t>The supply line that keeps the website's machine data current.</a:t>
            </a:r>
            <a:endParaRPr lang="en-US" sz="1700" dirty="0"/>
          </a:p>
          <a:p>
            <a:pPr algn="l" indent="0" marL="0">
              <a:buNone/>
            </a:pPr>
            <a:r>
              <a:rPr lang="en-US" sz="1700" dirty="0">
                <a:solidFill>
                  <a:srgbClr val="595959"/>
                </a:solidFill>
                <a:latin typeface="Calibri" pitchFamily="34" charset="0"/>
                <a:ea typeface="Calibri" pitchFamily="34" charset="-122"/>
                <a:cs typeface="Calibri" pitchFamily="34" charset="-120"/>
              </a:rPr>
              <a:t>A plain-English walkthrough.</a:t>
            </a:r>
            <a:endParaRPr lang="en-US" sz="1700" dirty="0"/>
          </a:p>
        </p:txBody>
      </p:sp>
      <p:sp>
        <p:nvSpPr>
          <p:cNvPr id="6" name="Text 4"/>
          <p:cNvSpPr/>
          <p:nvPr/>
        </p:nvSpPr>
        <p:spPr>
          <a:xfrm>
            <a:off x="914400" y="5029200"/>
            <a:ext cx="10360152" cy="1280160"/>
          </a:xfrm>
          <a:prstGeom prst="rect">
            <a:avLst/>
          </a:prstGeom>
          <a:noFill/>
          <a:ln/>
        </p:spPr>
        <p:txBody>
          <a:bodyPr wrap="square" lIns="0" tIns="0" rIns="0" bIns="0" rtlCol="0" anchor="t"/>
          <a:lstStyle/>
          <a:p>
            <a:pPr algn="l" indent="0" marL="0">
              <a:lnSpc>
                <a:spcPct val="115000"/>
              </a:lnSpc>
              <a:buNone/>
            </a:pPr>
            <a:r>
              <a:rPr lang="en-US" sz="1400" b="1" dirty="0">
                <a:solidFill>
                  <a:srgbClr val="1A1A1A"/>
                </a:solidFill>
                <a:latin typeface="Calibri" pitchFamily="34" charset="0"/>
                <a:ea typeface="Calibri" pitchFamily="34" charset="-122"/>
                <a:cs typeface="Calibri" pitchFamily="34" charset="-120"/>
              </a:rPr>
              <a:t>Faith</a:t>
            </a:r>
            <a:endParaRPr lang="en-US" sz="1400" dirty="0"/>
          </a:p>
          <a:p>
            <a:pPr algn="l" indent="0" marL="0">
              <a:lnSpc>
                <a:spcPct val="115000"/>
              </a:lnSpc>
              <a:buNone/>
            </a:pPr>
            <a:r>
              <a:rPr lang="en-US" sz="1200" dirty="0">
                <a:solidFill>
                  <a:srgbClr val="595959"/>
                </a:solidFill>
                <a:latin typeface="Calibri" pitchFamily="34" charset="0"/>
                <a:ea typeface="Calibri" pitchFamily="34" charset="-122"/>
                <a:cs typeface="Calibri" pitchFamily="34" charset="-120"/>
              </a:rPr>
              <a:t>Server Developer &amp; Maintainer</a:t>
            </a:r>
            <a:endParaRPr lang="en-US" sz="1400" dirty="0"/>
          </a:p>
          <a:p>
            <a:pPr algn="l" indent="0" marL="0">
              <a:lnSpc>
                <a:spcPct val="115000"/>
              </a:lnSpc>
              <a:buNone/>
            </a:pPr>
            <a:r>
              <a:rPr lang="en-US" sz="1200" dirty="0">
                <a:solidFill>
                  <a:srgbClr val="595959"/>
                </a:solidFill>
                <a:latin typeface="Calibri" pitchFamily="34" charset="0"/>
                <a:ea typeface="Calibri" pitchFamily="34" charset="-122"/>
                <a:cs typeface="Calibri" pitchFamily="34" charset="-120"/>
              </a:rPr>
              <a:t>Utah Nanofab · University of Utah</a:t>
            </a:r>
            <a:endParaRPr lang="en-US" sz="1400" dirty="0"/>
          </a:p>
          <a:p>
            <a:pPr algn="l" indent="0" marL="0">
              <a:lnSpc>
                <a:spcPct val="115000"/>
              </a:lnSpc>
              <a:buNone/>
            </a:pPr>
            <a:r>
              <a:rPr lang="en-US" sz="1100" dirty="0">
                <a:solidFill>
                  <a:srgbClr val="8A8A8A"/>
                </a:solidFill>
                <a:latin typeface="Calibri" pitchFamily="34" charset="0"/>
                <a:ea typeface="Calibri" pitchFamily="34" charset="-122"/>
                <a:cs typeface="Calibri" pitchFamily="34" charset="-120"/>
              </a:rPr>
              <a:t>May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Why it exists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HSC Downloader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When someone uses a tool, they fill out a digital run form.</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Those forms live in the university's CORES records system.</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That data isn't in a form our website can use directly.</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HSCDownloader bridges the gap — it fetches and reformats it.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Where it fits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HSC Downloader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The supply line, end to end:</a:t>
            </a:r>
            <a:endParaRPr lang="en-US" sz="1500" dirty="0"/>
          </a:p>
        </p:txBody>
      </p:sp>
      <p:sp>
        <p:nvSpPr>
          <p:cNvPr id="8" name="Shape 6"/>
          <p:cNvSpPr/>
          <p:nvPr/>
        </p:nvSpPr>
        <p:spPr>
          <a:xfrm>
            <a:off x="932688" y="1874520"/>
            <a:ext cx="10616184" cy="4069080"/>
          </a:xfrm>
          <a:prstGeom prst="roundRect">
            <a:avLst>
              <a:gd name="adj" fmla="val 1348"/>
            </a:avLst>
          </a:prstGeom>
          <a:solidFill>
            <a:srgbClr val="F2F2F2"/>
          </a:solidFill>
          <a:ln w="12700">
            <a:solidFill>
              <a:srgbClr val="DDDDDD"/>
            </a:solidFill>
            <a:prstDash val="solid"/>
          </a:ln>
          <a:effectLst>
            <a:outerShdw sx="100000" sy="100000" kx="0" ky="0" algn="bl" rotWithShape="0" blurRad="63500" dist="25400" dir="8100000">
              <a:srgbClr val="000000">
                <a:alpha val="12000"/>
              </a:srgbClr>
            </a:outerShdw>
          </a:effectLst>
        </p:spPr>
      </p:sp>
      <p:sp>
        <p:nvSpPr>
          <p:cNvPr id="9" name="Text 7"/>
          <p:cNvSpPr/>
          <p:nvPr/>
        </p:nvSpPr>
        <p:spPr>
          <a:xfrm>
            <a:off x="1097280" y="1984248"/>
            <a:ext cx="10268712" cy="3849624"/>
          </a:xfrm>
          <a:prstGeom prst="rect">
            <a:avLst/>
          </a:prstGeom>
          <a:noFill/>
          <a:ln/>
        </p:spPr>
        <p:txBody>
          <a:bodyPr wrap="square" lIns="0" tIns="0" rIns="0" bIns="0" rtlCol="0" anchor="t"/>
          <a:lstStyle/>
          <a:p>
            <a:pPr algn="l" indent="0" marL="0">
              <a:buNone/>
            </a:pPr>
            <a:r>
              <a:rPr lang="en-US" sz="1250" dirty="0">
                <a:solidFill>
                  <a:srgbClr val="222222"/>
                </a:solidFill>
                <a:latin typeface="Consolas" pitchFamily="34" charset="0"/>
                <a:ea typeface="Consolas" pitchFamily="34" charset="-122"/>
                <a:cs typeface="Consolas" pitchFamily="34" charset="-120"/>
              </a:rPr>
              <a:t>  CORES (the records)</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  download</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HSCDownloader  ──reshape──►  HSCDATA spreadsheets</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(small_&lt;Machine&gt;.csv)</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the website's machine pages</a:t>
            </a:r>
            <a:endParaRPr lang="en-US" sz="1250" dirty="0"/>
          </a:p>
        </p:txBody>
      </p:sp>
      <p:sp>
        <p:nvSpPr>
          <p:cNvPr id="10" name="Text 8"/>
          <p:cNvSpPr/>
          <p:nvPr/>
        </p:nvSpPr>
        <p:spPr>
          <a:xfrm>
            <a:off x="932688" y="6035040"/>
            <a:ext cx="10616184" cy="457200"/>
          </a:xfrm>
          <a:prstGeom prst="rect">
            <a:avLst/>
          </a:prstGeom>
          <a:noFill/>
          <a:ln/>
        </p:spPr>
        <p:txBody>
          <a:bodyPr wrap="square" lIns="0" tIns="0" rIns="0" bIns="0" rtlCol="0" anchor="t"/>
          <a:lstStyle/>
          <a:p>
            <a:pPr indent="0" marL="0">
              <a:buNone/>
            </a:pPr>
            <a:r>
              <a:rPr lang="en-US" sz="1200" i="1" dirty="0">
                <a:solidFill>
                  <a:srgbClr val="595959"/>
                </a:solidFill>
                <a:latin typeface="Calibri" pitchFamily="34" charset="0"/>
                <a:ea typeface="Calibri" pitchFamily="34" charset="-122"/>
                <a:cs typeface="Calibri" pitchFamily="34" charset="-120"/>
              </a:rPr>
              <a:t>CORES is the warehouse; HSCDownloader is the truck; the website is the shelf.</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What it does, on a schedule</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HSC Downloader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932688" y="1280160"/>
            <a:ext cx="411480" cy="411480"/>
          </a:xfrm>
          <a:prstGeom prst="ellipse">
            <a:avLst/>
          </a:prstGeom>
          <a:solidFill>
            <a:srgbClr val="CC0000"/>
          </a:solidFill>
          <a:ln/>
        </p:spPr>
      </p:sp>
      <p:sp>
        <p:nvSpPr>
          <p:cNvPr id="8" name="Text 6"/>
          <p:cNvSpPr/>
          <p:nvPr/>
        </p:nvSpPr>
        <p:spPr>
          <a:xfrm>
            <a:off x="932688" y="12801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p:nvPr/>
        </p:nvSpPr>
        <p:spPr>
          <a:xfrm>
            <a:off x="1508760" y="117043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Download  </a:t>
            </a:r>
            <a:pPr indent="0" marL="0">
              <a:buNone/>
            </a:pPr>
            <a:r>
              <a:rPr lang="en-US" sz="1300" dirty="0">
                <a:solidFill>
                  <a:srgbClr val="595959"/>
                </a:solidFill>
                <a:latin typeface="Calibri" pitchFamily="34" charset="0"/>
                <a:ea typeface="Calibri" pitchFamily="34" charset="-122"/>
                <a:cs typeface="Calibri" pitchFamily="34" charset="-120"/>
              </a:rPr>
              <a:t>ask CORES for a machine's form data, using a secret token.</a:t>
            </a:r>
            <a:endParaRPr lang="en-US" sz="1400" dirty="0"/>
          </a:p>
        </p:txBody>
      </p:sp>
      <p:sp>
        <p:nvSpPr>
          <p:cNvPr id="10" name="Shape 8"/>
          <p:cNvSpPr/>
          <p:nvPr/>
        </p:nvSpPr>
        <p:spPr>
          <a:xfrm>
            <a:off x="932688" y="2148840"/>
            <a:ext cx="411480" cy="411480"/>
          </a:xfrm>
          <a:prstGeom prst="ellipse">
            <a:avLst/>
          </a:prstGeom>
          <a:solidFill>
            <a:srgbClr val="CC0000"/>
          </a:solidFill>
          <a:ln/>
        </p:spPr>
      </p:sp>
      <p:sp>
        <p:nvSpPr>
          <p:cNvPr id="11" name="Text 9"/>
          <p:cNvSpPr/>
          <p:nvPr/>
        </p:nvSpPr>
        <p:spPr>
          <a:xfrm>
            <a:off x="932688" y="214884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508760" y="203911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Reshape  </a:t>
            </a:r>
            <a:pPr indent="0" marL="0">
              <a:buNone/>
            </a:pPr>
            <a:r>
              <a:rPr lang="en-US" sz="1300" dirty="0">
                <a:solidFill>
                  <a:srgbClr val="595959"/>
                </a:solidFill>
                <a:latin typeface="Calibri" pitchFamily="34" charset="0"/>
                <a:ea typeface="Calibri" pitchFamily="34" charset="-122"/>
                <a:cs typeface="Calibri" pitchFamily="34" charset="-120"/>
              </a:rPr>
              <a:t>turn the raw data into a neat table.</a:t>
            </a:r>
            <a:endParaRPr lang="en-US" sz="1400" dirty="0"/>
          </a:p>
        </p:txBody>
      </p:sp>
      <p:sp>
        <p:nvSpPr>
          <p:cNvPr id="13" name="Shape 11"/>
          <p:cNvSpPr/>
          <p:nvPr/>
        </p:nvSpPr>
        <p:spPr>
          <a:xfrm>
            <a:off x="932688" y="3017520"/>
            <a:ext cx="411480" cy="411480"/>
          </a:xfrm>
          <a:prstGeom prst="ellipse">
            <a:avLst/>
          </a:prstGeom>
          <a:solidFill>
            <a:srgbClr val="CC0000"/>
          </a:solidFill>
          <a:ln/>
        </p:spPr>
      </p:sp>
      <p:sp>
        <p:nvSpPr>
          <p:cNvPr id="14" name="Text 12"/>
          <p:cNvSpPr/>
          <p:nvPr/>
        </p:nvSpPr>
        <p:spPr>
          <a:xfrm>
            <a:off x="932688" y="30175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508760" y="290779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Save two versions  </a:t>
            </a:r>
            <a:pPr indent="0" marL="0">
              <a:buNone/>
            </a:pPr>
            <a:r>
              <a:rPr lang="en-US" sz="1300" dirty="0">
                <a:solidFill>
                  <a:srgbClr val="595959"/>
                </a:solidFill>
                <a:latin typeface="Calibri" pitchFamily="34" charset="0"/>
                <a:ea typeface="Calibri" pitchFamily="34" charset="-122"/>
                <a:cs typeface="Calibri" pitchFamily="34" charset="-120"/>
              </a:rPr>
              <a:t>a full spreadsheet and a trimmed 'small' one for the website.</a:t>
            </a:r>
            <a:endParaRPr lang="en-US" sz="1400" dirty="0"/>
          </a:p>
        </p:txBody>
      </p:sp>
      <p:sp>
        <p:nvSpPr>
          <p:cNvPr id="16" name="Shape 14"/>
          <p:cNvSpPr/>
          <p:nvPr/>
        </p:nvSpPr>
        <p:spPr>
          <a:xfrm>
            <a:off x="932688" y="3886200"/>
            <a:ext cx="411480" cy="411480"/>
          </a:xfrm>
          <a:prstGeom prst="ellipse">
            <a:avLst/>
          </a:prstGeom>
          <a:solidFill>
            <a:srgbClr val="CC0000"/>
          </a:solidFill>
          <a:ln/>
        </p:spPr>
      </p:sp>
      <p:sp>
        <p:nvSpPr>
          <p:cNvPr id="17" name="Text 15"/>
          <p:cNvSpPr/>
          <p:nvPr/>
        </p:nvSpPr>
        <p:spPr>
          <a:xfrm>
            <a:off x="932688" y="388620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p:nvPr/>
        </p:nvSpPr>
        <p:spPr>
          <a:xfrm>
            <a:off x="1508760" y="377647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Repeat  </a:t>
            </a:r>
            <a:pPr indent="0" marL="0">
              <a:buNone/>
            </a:pPr>
            <a:r>
              <a:rPr lang="en-US" sz="1300" dirty="0">
                <a:solidFill>
                  <a:srgbClr val="595959"/>
                </a:solidFill>
                <a:latin typeface="Calibri" pitchFamily="34" charset="0"/>
                <a:ea typeface="Calibri" pitchFamily="34" charset="-122"/>
                <a:cs typeface="Calibri" pitchFamily="34" charset="-120"/>
              </a:rPr>
              <a:t>do this for every machine, automatically, on a schedule.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One recipe per machine</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HSC Downloader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5</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Each tool has its own function: saveALD, saveEbeam, saveDenton635, ...</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Each knows which columns matter for that tool and how to format them.</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Covers deposition tools, dry-etch tools, and furnaces.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So adjusting one machine is a small, localized change.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What you see on a machine page came from here</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HSC Downloader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6</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Open a tool's page → the table of recent runs is from HSCDownloader.</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graphs are drawn from the same downloaded spreadsheets.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Stale or empty machine page? Check HSCDownloader first.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It only reads from CORES — it never changes the original records.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What CORES is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HSC Downloader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CORES = the university's Center for Research Equipment &amp; Services records system.</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It stores the digital run forms staff fill out for each tool.</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HSCDownloader reads from it through a web service called n8n.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It's the same system the Precious Metal Reader uses — a different part of it.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It covers nearly every tool</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HSC Downloader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8</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932688" y="1280160"/>
          <a:ext cx="10616184" cy="914400"/>
        </p:xfrm>
        <a:graphic>
          <a:graphicData uri="http://schemas.openxmlformats.org/drawingml/2006/table">
            <a:tbl>
              <a:tblPr/>
              <a:tblGrid>
                <a:gridCol w="2743200"/>
                <a:gridCol w="8138160"/>
              </a:tblGrid>
              <a:tr h="27432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Category</a:t>
                      </a:r>
                      <a:endParaRPr lang="en-US" sz="12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C0000"/>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Examples</a:t>
                      </a:r>
                      <a:endParaRPr lang="en-US" sz="12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C0000"/>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Deposition</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ALD, E-beam, MOCVD, Parylene, Denton 635/18</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Dry etch</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DRIE, Isotropic, PlasmaLab, PlasmaTherm, Technics</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Furnaces</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CleanOx, DopedOx, LTO, Nitride, Poly, Allwin</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When a machine page goes stale</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HSC Downloader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
        <p:nvSpPr>
          <p:cNvPr id="7" name="Text 5"/>
          <p:cNvSpPr/>
          <p:nvPr/>
        </p:nvSpPr>
        <p:spPr>
          <a:xfrm>
            <a:off x="932688" y="1280160"/>
            <a:ext cx="10616184" cy="457200"/>
          </a:xfrm>
          <a:prstGeom prst="rect">
            <a:avLst/>
          </a:prstGeom>
          <a:noFill/>
          <a:ln/>
        </p:spPr>
        <p:txBody>
          <a:bodyPr wrap="square" lIns="0" tIns="0" rIns="0" bIns="0" rtlCol="0" anchor="t"/>
          <a:lstStyle/>
          <a:p>
            <a:pPr indent="0" marL="0">
              <a:buNone/>
            </a:pPr>
            <a:r>
              <a:rPr lang="en-US" sz="1500" i="1" dirty="0">
                <a:solidFill>
                  <a:srgbClr val="595959"/>
                </a:solidFill>
                <a:latin typeface="Calibri" pitchFamily="34" charset="0"/>
                <a:ea typeface="Calibri" pitchFamily="34" charset="-122"/>
                <a:cs typeface="Calibri" pitchFamily="34" charset="-120"/>
              </a:rPr>
              <a:t>A quick troubleshooting path.</a:t>
            </a:r>
            <a:endParaRPr lang="en-US" sz="1500" dirty="0"/>
          </a:p>
        </p:txBody>
      </p:sp>
      <p:sp>
        <p:nvSpPr>
          <p:cNvPr id="8" name="Shape 6"/>
          <p:cNvSpPr/>
          <p:nvPr/>
        </p:nvSpPr>
        <p:spPr>
          <a:xfrm>
            <a:off x="932688" y="1828800"/>
            <a:ext cx="411480" cy="411480"/>
          </a:xfrm>
          <a:prstGeom prst="ellipse">
            <a:avLst/>
          </a:prstGeom>
          <a:solidFill>
            <a:srgbClr val="CC0000"/>
          </a:solidFill>
          <a:ln/>
        </p:spPr>
      </p:sp>
      <p:sp>
        <p:nvSpPr>
          <p:cNvPr id="9" name="Text 7"/>
          <p:cNvSpPr/>
          <p:nvPr/>
        </p:nvSpPr>
        <p:spPr>
          <a:xfrm>
            <a:off x="932688" y="182880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0" name="Text 8"/>
          <p:cNvSpPr/>
          <p:nvPr/>
        </p:nvSpPr>
        <p:spPr>
          <a:xfrm>
            <a:off x="1508760" y="171907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Is HSCDownloader running?  </a:t>
            </a:r>
            <a:pPr indent="0" marL="0">
              <a:buNone/>
            </a:pPr>
            <a:r>
              <a:rPr lang="en-US" sz="1300" dirty="0">
                <a:solidFill>
                  <a:srgbClr val="595959"/>
                </a:solidFill>
                <a:latin typeface="Calibri" pitchFamily="34" charset="0"/>
                <a:ea typeface="Calibri" pitchFamily="34" charset="-122"/>
                <a:cs typeface="Calibri" pitchFamily="34" charset="-120"/>
              </a:rPr>
              <a:t>if it stopped, no spreadsheets get updated.</a:t>
            </a:r>
            <a:endParaRPr lang="en-US" sz="1400" dirty="0"/>
          </a:p>
        </p:txBody>
      </p:sp>
      <p:sp>
        <p:nvSpPr>
          <p:cNvPr id="11" name="Shape 9"/>
          <p:cNvSpPr/>
          <p:nvPr/>
        </p:nvSpPr>
        <p:spPr>
          <a:xfrm>
            <a:off x="932688" y="2697480"/>
            <a:ext cx="411480" cy="411480"/>
          </a:xfrm>
          <a:prstGeom prst="ellipse">
            <a:avLst/>
          </a:prstGeom>
          <a:solidFill>
            <a:srgbClr val="CC0000"/>
          </a:solidFill>
          <a:ln/>
        </p:spPr>
      </p:sp>
      <p:sp>
        <p:nvSpPr>
          <p:cNvPr id="12" name="Text 10"/>
          <p:cNvSpPr/>
          <p:nvPr/>
        </p:nvSpPr>
        <p:spPr>
          <a:xfrm>
            <a:off x="932688" y="269748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1508760" y="258775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Can it reach CORES?  </a:t>
            </a:r>
            <a:pPr indent="0" marL="0">
              <a:buNone/>
            </a:pPr>
            <a:r>
              <a:rPr lang="en-US" sz="1300" dirty="0">
                <a:solidFill>
                  <a:srgbClr val="595959"/>
                </a:solidFill>
                <a:latin typeface="Calibri" pitchFamily="34" charset="0"/>
                <a:ea typeface="Calibri" pitchFamily="34" charset="-122"/>
                <a:cs typeface="Calibri" pitchFamily="34" charset="-120"/>
              </a:rPr>
              <a:t>an outage or a changed token blocks downloads.</a:t>
            </a:r>
            <a:endParaRPr lang="en-US" sz="1400" dirty="0"/>
          </a:p>
        </p:txBody>
      </p:sp>
      <p:sp>
        <p:nvSpPr>
          <p:cNvPr id="14" name="Shape 12"/>
          <p:cNvSpPr/>
          <p:nvPr/>
        </p:nvSpPr>
        <p:spPr>
          <a:xfrm>
            <a:off x="932688" y="3566160"/>
            <a:ext cx="411480" cy="411480"/>
          </a:xfrm>
          <a:prstGeom prst="ellipse">
            <a:avLst/>
          </a:prstGeom>
          <a:solidFill>
            <a:srgbClr val="CC0000"/>
          </a:solidFill>
          <a:ln/>
        </p:spPr>
      </p:sp>
      <p:sp>
        <p:nvSpPr>
          <p:cNvPr id="15" name="Text 13"/>
          <p:cNvSpPr/>
          <p:nvPr/>
        </p:nvSpPr>
        <p:spPr>
          <a:xfrm>
            <a:off x="932688" y="35661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p:nvPr/>
        </p:nvSpPr>
        <p:spPr>
          <a:xfrm>
            <a:off x="1508760" y="345643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Did the machine's ID change?  </a:t>
            </a:r>
            <a:pPr indent="0" marL="0">
              <a:buNone/>
            </a:pPr>
            <a:r>
              <a:rPr lang="en-US" sz="1300" dirty="0">
                <a:solidFill>
                  <a:srgbClr val="595959"/>
                </a:solidFill>
                <a:latin typeface="Calibri" pitchFamily="34" charset="0"/>
                <a:ea typeface="Calibri" pitchFamily="34" charset="-122"/>
                <a:cs typeface="Calibri" pitchFamily="34" charset="-120"/>
              </a:rPr>
              <a:t>a renumbered CORES ID silently breaks that one tool.</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Things to watch</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HSC Downloader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10</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Its CORES access token now lives in a protected setting (.env) and was rotated 2026-06-29 — no longer in the code.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If CORES is down or the token changes, pages quietly go stale (no alert today).</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Each machine maps to a CORES ID; if an ID changes, that machine stops updating.</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 couple of machines are marked 'no data yet' — expected, not bugs.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Recap</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HSC Downloader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11</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HSCDownloader pulls machine run data from CORES and writes spreadsheets.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Those spreadsheets are what the website's machine pages display.</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It runs on a schedule, one recipe per machine, read-only on CORES.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CORES token is now in a protected setting and rotated; the main remaining watch-item is failure alerts.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HSC Downloader</dc:title>
  <dc:subject>PptxGenJS Presentation</dc:subject>
  <dc:creator>Faith</dc:creator>
  <cp:lastModifiedBy>Faith</cp:lastModifiedBy>
  <cp:revision>1</cp:revision>
  <dcterms:created xsi:type="dcterms:W3CDTF">2026-07-13T21:45:41Z</dcterms:created>
  <dcterms:modified xsi:type="dcterms:W3CDTF">2026-07-13T21:45:41Z</dcterms:modified>
</cp:coreProperties>
</file>